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本日は、社内の配信プラットフォームを広げるという観点で、1 本のゲームを Steam で出したいという提案をさせてください。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社内のゲーム開発実績は Google Play だけです。そのため提案できる配信先が Android に偏っていて、PC 向けの話が来ても実績で応えられません。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そこで、いま作っているゲームを Steam で出して、社内で最初の Steam 配信実績をつくりたいと考えています。狙いは売上ではなく、配信チャネルを社内の能力として持つことです。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題材としてこの PJ が向いている理由が4つあります。すでに遊べる状態にあること、内製なので追加費用がほぼ要らないこと、外部素材ゼロで権利が綺麗なこと、そしてジャンルが Steam と合っていることです。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得たいのは Steam に出すまでの一連のノウハウと、実績そのものです。売上は副次的なので、仮に本数が出なくても、この投資の目的は達成されます。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期間は最長9か月です。9か月を上限に固定して、遅れたら期間ではなくスコープを削ります。今日お願いしたいのは全体の承認ではなく、最初の1か月の検証だけです。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お願いは3点です。とくに1番の権利帰属は、会社の事業にするのか個人でやるのかで進め方が変わるため、着手前に決めさせてください。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1295" y="4572000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0479" y="4572000"/>
            <a:ext cx="274320" cy="274320"/>
          </a:xfrm>
          <a:prstGeom prst="rect">
            <a:avLst/>
          </a:prstGeom>
          <a:solidFill>
            <a:srgbClr val="AE2F2F"/>
          </a:solidFill>
          <a:ln/>
        </p:spPr>
      </p:sp>
      <p:sp>
        <p:nvSpPr>
          <p:cNvPr id="4" name="Shape 2"/>
          <p:cNvSpPr/>
          <p:nvPr/>
        </p:nvSpPr>
        <p:spPr>
          <a:xfrm>
            <a:off x="9649663" y="4572000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78847" y="4572000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08031" y="4572000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37215" y="4572000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66399" y="4572000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95583" y="4572000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991295" y="4901184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20479" y="4901184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49663" y="4901184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978847" y="4901184"/>
            <a:ext cx="274320" cy="274320"/>
          </a:xfrm>
          <a:prstGeom prst="rect">
            <a:avLst/>
          </a:prstGeom>
          <a:solidFill>
            <a:srgbClr val="FFD47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8031" y="4901184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37215" y="4901184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966399" y="4901184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95583" y="4901184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991295" y="5230368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320479" y="5230368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649663" y="5230368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78847" y="5230368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308031" y="5230368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637215" y="5230368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966399" y="5230368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295583" y="5230368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991295" y="5559552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320479" y="5559552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649663" y="5559552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978847" y="5559552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308031" y="5559552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637215" y="5559552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66399" y="5559552"/>
            <a:ext cx="274320" cy="274320"/>
          </a:xfrm>
          <a:prstGeom prst="rect">
            <a:avLst/>
          </a:prstGeom>
          <a:solidFill>
            <a:srgbClr val="2F5FAE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95583" y="5559552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991295" y="5888736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320479" y="5888736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649663" y="5888736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978847" y="5888736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308031" y="5888736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637215" y="5888736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966399" y="5888736"/>
            <a:ext cx="274320" cy="274320"/>
          </a:xfrm>
          <a:prstGeom prst="rect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295583" y="5888736"/>
            <a:ext cx="274320" cy="274320"/>
          </a:xfrm>
          <a:prstGeom prst="rect">
            <a:avLst/>
          </a:prstGeom>
          <a:solidFill>
            <a:srgbClr val="2F5FAE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080" y="1051560"/>
            <a:ext cx="201168" cy="201168"/>
          </a:xfrm>
          <a:prstGeom prst="rect">
            <a:avLst/>
          </a:prstGeom>
          <a:solidFill>
            <a:srgbClr val="FFD479"/>
          </a:solidFill>
          <a:ln/>
        </p:spPr>
      </p:sp>
      <p:sp>
        <p:nvSpPr>
          <p:cNvPr id="43" name="Shape 41"/>
          <p:cNvSpPr/>
          <p:nvPr/>
        </p:nvSpPr>
        <p:spPr>
          <a:xfrm>
            <a:off x="914400" y="1051560"/>
            <a:ext cx="201168" cy="201168"/>
          </a:xfrm>
          <a:prstGeom prst="rect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88720" y="1051560"/>
            <a:ext cx="201168" cy="201168"/>
          </a:xfrm>
          <a:prstGeom prst="rect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463040" y="1051560"/>
            <a:ext cx="201168" cy="201168"/>
          </a:xfrm>
          <a:prstGeom prst="rect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737360" y="1051560"/>
            <a:ext cx="201168" cy="201168"/>
          </a:xfrm>
          <a:prstGeom prst="rect">
            <a:avLst/>
          </a:prstGeom>
          <a:solidFill>
            <a:srgbClr val="2F5FA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Steam 配信実績の獲得</a:t>
            </a:r>
            <a:endParaRPr lang="en-US" sz="42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2578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配信プラットフォームを広げるための提案</a:t>
            </a:r>
            <a:endParaRPr lang="en-US" sz="22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対象プロダクト: グリッドウォーズ(仮題) ─ ブラウザで遊べるターン制ウォーシミュレーション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0080" y="4023360"/>
            <a:ext cx="2926080" cy="0"/>
          </a:xfrm>
          <a:prstGeom prst="line">
            <a:avLst/>
          </a:prstGeom>
          <a:noFill/>
          <a:ln w="25400">
            <a:solidFill>
              <a:srgbClr val="FFD47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0080" y="4251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 年 9 月 10 日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実行計画の詳細は「商用化企画書」を参照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46304" cy="146304"/>
          </a:xfrm>
          <a:prstGeom prst="rect">
            <a:avLst/>
          </a:prstGeom>
          <a:solidFill>
            <a:srgbClr val="AE2F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AE2F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1188720"/>
          </a:xfrm>
          <a:prstGeom prst="roundRect">
            <a:avLst>
              <a:gd name="adj" fmla="val 4615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8308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4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社内のゲーム開発実績が Google Play のみに限られている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484778" cy="2286000"/>
          </a:xfrm>
          <a:prstGeom prst="roundRect">
            <a:avLst>
              <a:gd name="adj" fmla="val 32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12700" dir="5400000">
              <a:srgbClr val="9AA1B4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3401568"/>
            <a:ext cx="128016" cy="128016"/>
          </a:xfrm>
          <a:prstGeom prst="rect">
            <a:avLst/>
          </a:prstGeom>
          <a:solidFill>
            <a:srgbClr val="AE2F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0432" y="3291840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提案できる配信先が偏る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730752"/>
            <a:ext cx="289956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Play(Android)に偏っており、PC 向け配信を含む案件に実績で応えられない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3458" y="3063240"/>
            <a:ext cx="3484778" cy="2286000"/>
          </a:xfrm>
          <a:prstGeom prst="roundRect">
            <a:avLst>
              <a:gd name="adj" fmla="val 32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12700" dir="5400000">
              <a:srgbClr val="9AA1B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6066" y="3401568"/>
            <a:ext cx="128016" cy="128016"/>
          </a:xfrm>
          <a:prstGeom prst="rect">
            <a:avLst/>
          </a:prstGeom>
          <a:solidFill>
            <a:srgbClr val="AE2F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83810" y="3291840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ノウハウが社内にない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646066" y="3730752"/>
            <a:ext cx="289956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Steam の申請・審査・ストア運用・PC 向けビルドの実務経験が蓄積されていない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6837" y="3063240"/>
            <a:ext cx="3484778" cy="2286000"/>
          </a:xfrm>
          <a:prstGeom prst="roundRect">
            <a:avLst>
              <a:gd name="adj" fmla="val 32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12700" dir="5400000">
              <a:srgbClr val="9AA1B4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9445" y="3401568"/>
            <a:ext cx="128016" cy="128016"/>
          </a:xfrm>
          <a:prstGeom prst="rect">
            <a:avLst/>
          </a:prstGeom>
          <a:solidFill>
            <a:srgbClr val="AE2F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7189" y="3291840"/>
            <a:ext cx="2707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判断材料がない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359445" y="3730752"/>
            <a:ext cx="289956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 PC 配信の話が来ても、やれるかどうかを判断する足がかりがない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46304" cy="146304"/>
          </a:xfrm>
          <a:prstGeom prst="rect">
            <a:avLst/>
          </a:prstGeom>
          <a:solidFill>
            <a:srgbClr val="FFD4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4023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FFD4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PROPOSAL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FFD4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 PJ「グリッドウォーズ(仮題)」を Steam でリリースし、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FFD4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社内初の Steam 配信実績をつくる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97280" y="3063240"/>
            <a:ext cx="3749040" cy="1920240"/>
          </a:xfrm>
          <a:prstGeom prst="roundRect">
            <a:avLst>
              <a:gd name="adj" fmla="val 2857"/>
            </a:avLst>
          </a:prstGeom>
          <a:solidFill>
            <a:srgbClr val="2525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611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Play のみ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4160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提案できる案件が Android に限られる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3703320"/>
            <a:ext cx="1005840" cy="640080"/>
          </a:xfrm>
          <a:prstGeom prst="chevron">
            <a:avLst/>
          </a:prstGeom>
          <a:solidFill>
            <a:srgbClr val="FFD479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3063240"/>
            <a:ext cx="4846320" cy="1920240"/>
          </a:xfrm>
          <a:prstGeom prst="roundRect">
            <a:avLst>
              <a:gd name="adj" fmla="val 2857"/>
            </a:avLst>
          </a:prstGeom>
          <a:solidFill>
            <a:srgbClr val="2F5FA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03720" y="3291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 PJ 実施後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3611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Play + Steam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4160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 配信の実績とノウハウを持ち、後続案件で配信先を選べる・提案できる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D4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本 PJ の主目的はゲーム単体の売上ではなく、Steam という配信チャネルを社内の実績と能力として獲得すること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46304" cy="146304"/>
          </a:xfrm>
          <a:prstGeom prst="rect">
            <a:avLst/>
          </a:prstGeom>
          <a:solidFill>
            <a:srgbClr val="2F5FA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F5F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なぜこの PJ が適しているか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12700" dir="5400000">
              <a:srgbClr val="9AA1B4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9019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F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すでに動くものがある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10512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1 か月の開発でユニット 22 種・マップ 14 枚・CPU 指揮官 5 人を実装済み。一通り遊べる状態に到達しており、ゼロから作る必要がない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12700" dir="5400000">
              <a:srgbClr val="9AA1B4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F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追加費用がほぼかからない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971800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アート・サウンドを含め全工程を内製する方針のため、実費は数万円〜十数万円(Steam 登録料 100 USD ほか)にとどまる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50208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12700" dir="5400000">
              <a:srgbClr val="9AA1B4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" y="42245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6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151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権利がクリーン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4133088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画像・音源とも外部素材を一切使っていない(すべてコード生成・合成音)。依存ライブラリも MIT ライセンスの Phaser のみ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111496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12700" dir="5400000">
              <a:srgbClr val="9AA1B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0120" y="53858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F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3126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ジャンルとの相性が良い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5294376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 向けターン制ストラテジーは Steam と相性が良く、実績づくりの題材として現実的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46304" cy="146304"/>
          </a:xfrm>
          <a:prstGeom prst="rect">
            <a:avLst/>
          </a:prstGeom>
          <a:solidFill>
            <a:srgbClr val="9A6B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9A6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OUTCOME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得られるもの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6949440" cy="3246120"/>
          </a:xfrm>
          <a:prstGeom prst="roundRect">
            <a:avLst>
              <a:gd name="adj" fmla="val 1690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4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主目的 ─ 社内の能力と実績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395728"/>
            <a:ext cx="6217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2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Steam 配信の実務ノウハウ(申請・審査・ストアページ・レーティング取得・決済・アップデート運用)</a:t>
            </a:r>
            <a:endParaRPr lang="en-US" sz="1300" dirty="0"/>
          </a:p>
          <a:p>
            <a:pPr marL="342900" indent="-342900">
              <a:lnSpc>
                <a:spcPts val="3000"/>
              </a:lnSpc>
              <a:spcAft>
                <a:spcPts val="2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 向けビルド(デスクトップアプリ化)の技術的な知見</a:t>
            </a:r>
            <a:endParaRPr lang="en-US" sz="1300" dirty="0"/>
          </a:p>
          <a:p>
            <a:pPr marL="342900" indent="-342900">
              <a:lnSpc>
                <a:spcPts val="3000"/>
              </a:lnSpc>
              <a:spcAft>
                <a:spcPts val="2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「Steam 配信実績あり」という、後続案件で使える提案材料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16002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12700" dir="5400000">
              <a:srgbClr val="9AA1B4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75320" y="1828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7B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副次的なもの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2395728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spcAft>
                <a:spcPts val="2000"/>
              </a:spcAft>
              <a:buSzPct val="100000"/>
              <a:buChar char="▪"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製品の売上(1,200 円想定)</a:t>
            </a:r>
            <a:endParaRPr lang="en-US" sz="1250" dirty="0"/>
          </a:p>
          <a:p>
            <a:pPr marL="342900" indent="-342900">
              <a:lnSpc>
                <a:spcPts val="2800"/>
              </a:lnSpc>
              <a:spcAft>
                <a:spcPts val="2000"/>
              </a:spcAft>
              <a:buSzPct val="100000"/>
              <a:buChar char="▪"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 1 つで配れる自社プロダクト(ブラウザ体験版)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10911535" cy="1051560"/>
          </a:xfrm>
          <a:prstGeom prst="roundRect">
            <a:avLst>
              <a:gd name="adj" fmla="val 5217"/>
            </a:avLst>
          </a:prstGeom>
          <a:solidFill>
            <a:srgbClr val="FCF4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52578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売上は副次的な位置づけ。実績とノウハウの獲得が主目的のため、売上が伸びなくても投資の目的は達成される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46304" cy="146304"/>
          </a:xfrm>
          <a:prstGeom prst="rect">
            <a:avLst/>
          </a:prstGeom>
          <a:solidFill>
            <a:srgbClr val="2F5FA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F5F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12700" dir="5400000">
              <a:srgbClr val="9AA1B4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18379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7B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8196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最長 9 か月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801368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か月を上限として固定し、遅れた場合は期間を延ばさずスコープを削る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12700" dir="5400000">
              <a:srgbClr val="9AA1B4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05840" y="27980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7B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77977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現行の個人体制を継続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761488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アート・サウンドを含め外注は行わない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12700" dir="5400000">
              <a:srgbClr val="9AA1B4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05840" y="37581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7B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7398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F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実費 数万円〜十数万円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721608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実質のコストは開発者の時間(6〜8 人月)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12700" dir="5400000">
              <a:srgbClr val="9AA1B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05840" y="47183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7B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段取り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47000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つの Phase に分割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681728"/>
            <a:ext cx="5150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各段階で続行を判断する。一括承認は不要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911535" cy="96012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5650992"/>
            <a:ext cx="100885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4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 Phase 1(検証・1 か月・追加費用ほぼ無し)のみ承認いただきたい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46304" cy="146304"/>
          </a:xfrm>
          <a:prstGeom prst="rect">
            <a:avLst/>
          </a:prstGeom>
          <a:solidFill>
            <a:srgbClr val="FFD4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4023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FFD4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REQUEST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お願いしたいこと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11535" cy="1143000"/>
          </a:xfrm>
          <a:prstGeom prst="roundRect">
            <a:avLst>
              <a:gd name="adj" fmla="val 4800"/>
            </a:avLst>
          </a:prstGeom>
          <a:solidFill>
            <a:srgbClr val="2525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4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2938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IP(著作権)の権利帰属の整理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35000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会社の事業として進めるのか、個人の資産として扱うのか。着手前に確定が必要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911535" cy="1143000"/>
          </a:xfrm>
          <a:prstGeom prst="roundRect">
            <a:avLst>
              <a:gd name="adj" fmla="val 4800"/>
            </a:avLst>
          </a:prstGeom>
          <a:solidFill>
            <a:srgbClr val="2525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4128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4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2095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1(検証)の実施可否のご判断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63016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か月・追加費用はほぼ発生しない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10911535" cy="1143000"/>
          </a:xfrm>
          <a:prstGeom prst="roundRect">
            <a:avLst>
              <a:gd name="adj" fmla="val 4800"/>
            </a:avLst>
          </a:prstGeom>
          <a:solidFill>
            <a:srgbClr val="2525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4128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4897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法務支援の窓口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491032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商標調査・利用規約・プライバシーポリシーの整備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806440"/>
            <a:ext cx="2926080" cy="0"/>
          </a:xfrm>
          <a:prstGeom prst="line">
            <a:avLst/>
          </a:prstGeom>
          <a:noFill/>
          <a:ln w="25400">
            <a:solidFill>
              <a:srgbClr val="FFD4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989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実行計画の詳細は docs/CommercialProposal.md(商用化企画書)に記載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提案: Steam 配信実績の獲得</dc:title>
  <dc:subject>PptxGenJS Presentation</dc:subject>
  <dc:creator>グリッドウォーズ開発</dc:creator>
  <cp:lastModifiedBy>グリッドウォーズ開発</cp:lastModifiedBy>
  <cp:revision>1</cp:revision>
  <dcterms:created xsi:type="dcterms:W3CDTF">2026-09-10T04:45:22Z</dcterms:created>
  <dcterms:modified xsi:type="dcterms:W3CDTF">2026-09-10T04:45:22Z</dcterms:modified>
</cp:coreProperties>
</file>