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A1A2E"/>
                </a:solidFill>
                <a:latin typeface="Meiryo"/>
              </a:defRPr>
            </a:pPr>
            <a:r>
              <a:rPr sz="1300" b="0" i="0" u="none" strike="noStrike">
                <a:solidFill>
                  <a:srgbClr val="1A1A2E"/>
                </a:solidFill>
                <a:latin typeface="Meiryo"/>
              </a:rPr>
              <a:t>12 か月の粗利(万円)</a:t>
            </a:r>
          </a:p>
        </c:rich>
      </c:tx>
      <c:layout/>
      <c:overlay val="0"/>
    </c:title>
    <c:autoTitleDeleted val="0"/>
    <c:plotArea>
      <c:layout/>
      <c:barChart>
        <c:barDir val="col"/>
        <c:grouping val="clustered"/>
        <c:varyColors val="0"/>
        <c:ser>
          <c:idx val="0"/>
          <c:order val="0"/>
          <c:tx>
            <c:strRef>
              <c:f>Sheet1!$B$1</c:f>
              <c:strCache>
                <c:ptCount val="1"/>
                <c:pt idx="0">
                  <c:v>12 か月の粗利</c:v>
                </c:pt>
              </c:strCache>
            </c:strRef>
          </c:tx>
          <c:spPr>
            <a:solidFill>
              <a:srgbClr val="9AA1B4"/>
            </a:solidFill>
            <a:effectLst/>
          </c:spPr>
          <c:invertIfNegative val="0"/>
          <c:dLbls>
            <c:numFmt formatCode="#,##0&quot;万円&quot;" sourceLinked="0"/>
            <c:txPr>
              <a:bodyPr/>
              <a:lstStyle/>
              <a:p>
                <a:pPr>
                  <a:defRPr b="0" i="0" strike="noStrike" sz="1200" u="none">
                    <a:solidFill>
                      <a:srgbClr val="1A1A2E"/>
                    </a:solidFill>
                    <a:latin typeface="Meiryo"/>
                  </a:defRPr>
                </a:pPr>
              </a:p>
            </c:txPr>
            <c:showLegendKey val="0"/>
            <c:showVal val="1"/>
            <c:showCatName val="0"/>
            <c:showSerName val="0"/>
            <c:showPercent val="0"/>
            <c:showBubbleSize val="0"/>
            <c:showLeaderLines val="0"/>
          </c:dLbls>
          <c:dPt>
            <c:idx val="0"/>
            <c:invertIfNegative val="0"/>
            <c:bubble3D val="0"/>
            <c:spPr>
              <a:solidFill>
                <a:srgbClr val="9AA1B4"/>
              </a:solidFill>
              <a:effectLst/>
            </c:spPr>
          </c:dPt>
          <c:dPt>
            <c:idx val="1"/>
            <c:invertIfNegative val="0"/>
            <c:bubble3D val="0"/>
            <c:spPr>
              <a:solidFill>
                <a:srgbClr val="2F5FAE"/>
              </a:solidFill>
              <a:effectLst/>
            </c:spPr>
          </c:dPt>
          <c:dPt>
            <c:idx val="2"/>
            <c:invertIfNegative val="0"/>
            <c:bubble3D val="0"/>
            <c:spPr>
              <a:solidFill>
                <a:srgbClr val="B37F1E"/>
              </a:solidFill>
              <a:effectLst/>
            </c:spPr>
          </c:dPt>
          <c:cat>
            <c:multiLvlStrRef>
              <c:f>Sheet1!$A$2:$A$4</c:f>
              <c:multiLvlStrCache>
                <c:ptCount val="3"/>
                <c:lvl>
                  <c:pt idx="0">
                    <c:v>悲観 500 本</c:v>
                  </c:pt>
                  <c:pt idx="1">
                    <c:v>標準 3,000 本</c:v>
                  </c:pt>
                  <c:pt idx="2">
                    <c:v>楽観 10,000 本</c:v>
                  </c:pt>
                </c:lvl>
              </c:multiLvlStrCache>
            </c:multiLvlStrRef>
          </c:cat>
          <c:val>
            <c:numRef>
              <c:f>Sheet1!$B$2:$B$4</c:f>
              <c:numCache>
                <c:formatCode>General</c:formatCode>
                <c:ptCount val="3"/>
                <c:pt idx="0">
                  <c:v>33</c:v>
                </c:pt>
                <c:pt idx="1">
                  <c:v>198</c:v>
                </c:pt>
                <c:pt idx="2">
                  <c:v>660</c:v>
                </c:pt>
              </c:numCache>
            </c:numRef>
          </c:val>
        </c:ser>
        <c:dLbls>
          <c:numFmt formatCode="#,##0&quot;万円&quot;" sourceLinked="0"/>
          <c:txPr>
            <a:bodyPr/>
            <a:lstStyle/>
            <a:p>
              <a:pPr>
                <a:defRPr b="0" i="0" strike="noStrike" sz="1200" u="none">
                  <a:solidFill>
                    <a:srgbClr val="1A1A2E"/>
                  </a:solidFill>
                  <a:latin typeface="Meiryo"/>
                </a:defRPr>
              </a:pPr>
            </a:p>
          </c:txPr>
          <c:showLegendKey val="0"/>
          <c:showVal val="1"/>
          <c:showCatName val="0"/>
          <c:showSerName val="0"/>
          <c:showPercent val="0"/>
          <c:showBubbleSize val="0"/>
          <c:showLeaderLines val="0"/>
        </c:dLbls>
        <c:gapWidth val="11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C4257"/>
                </a:solidFill>
                <a:latin typeface="Meiryo"/>
              </a:defRPr>
            </a:pPr>
            <a:endParaRPr lang="en-US"/>
          </a:p>
        </c:txPr>
        <c:crossAx val="2094734552"/>
        <c:crosses val="autoZero"/>
        <c:auto val="1"/>
        <c:lblAlgn val="ctr"/>
        <c:noMultiLvlLbl val="1"/>
      </c:catAx>
      <c:valAx>
        <c:axId val="2094734552"/>
        <c:scaling>
          <c:orientation val="minMax"/>
          <c:max val="800"/>
        </c:scaling>
        <c:delete val="0"/>
        <c:axPos val="l"/>
        <c:majorGridlines>
          <c:spPr>
            <a:ln w="12700" cap="flat">
              <a:solidFill>
                <a:srgbClr val="DCE0E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67B91"/>
                </a:solidFill>
                <a:latin typeface="Meiryo"/>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本日は、非商用で作ってきたゲームを商品として販売するかどうかの検討をお願いしたく、資料を用意しました。現状・企画案・課題の3部構成です。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結論を先に申し上げます。ゲームとしての中身は出来ています。足りないのは見た目・音・入口の体験と、販売のための事務まわりです。外注はせず個人体制を継続するので、必要なのはお金より時間です。期間は9か月を上限に固定し、収まらないときはスコープを削って守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まず現状の棚卸しからご説明します。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数字はすべてリポジトリの実測値です。短期間でここまで来られたのは、ロジックを描画から切り離して自動テストで固めてきたからです。この構造は商用化でも効きます。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遊びの骨格は全部入っています。夜戦・海戦・列車砲まで含めて、ジャンルとして期待される要素はひと通り実装済みです。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商用化で一番揉めるのが素材の権利ですが、本作は外部素材をひとつも使っていないので、その心配がありません。ただし裏を返すと、絵も音も全部自前でゼロから作っているので、見た目の水準が課題に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足りないものは全部「追加」で埋まります。ゲーム本体を作り直す必要はありません。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好評という手応えはありますが、知人の感想であって数字ではありません。ここを飛ばして時間を投じるのは危険なので、まず検証から始めさせてください。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ここからが企画のご提案です。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コンセプトは非商用版から変えません。商用版で足すのは見た目・遊び続ける理由・入口の3点です。同一画面での対人戦がすでに動くのは、地味ですが差別化になります。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Steamを本命にします。今あるブラウザ版は捨てるのではなく、無料の体験版として販促に使います。URLひとつで今すぐ遊べる体験版は、インディーでは強い武器です。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売上の数字は仮置きで、約束できるものではありません。ただ外注しないので、先行投資はほぼゼロです。ですから判断軸は「回収できるか」ではなく「時間を投じる価値があるか」になります。それを測るのがPhase 1です。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Mustが7項目。このうち一番重いのがアートの内製差し替えです。ここが企画の成否を握ります。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合計で最長9か月です。一気に全部やる承認をお願いするのではなく、Phase 1だけ先にやらせてください。そこで数字が出なければ引き返せます。Phase 2でアートの試作を作り、商品に見えるかを外部の目で判定します。期間は延ばさず、遅れたらスコープを削って9か月を守ります。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アート・サウンドの外注はしません。開発体制も今のまま個人で続けます。ですので費用はほぼかからず、代わりに時間がかかります。6〜8人月を個人の稼働で消化して、暦では最長9か月に収めます。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最後に課題です。正直に申し上げます。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技術より先に片づけるべきなのが権利です。とくにIPの帰属は、会社の事業にするのか個人でやるのかで話がまったく変わるので、着手前に決めさせてください。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一番の障壁は見た目です。中身が良くても、ストアのスクリーンショットで選ばれなければ売れません。外注しないので、自分がどこまで作れるかがそのまま上限になります。Phase 2で試作を作って、外の目で判定してもらいます。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事業面では販促の担い手が決まっていないのが弱点です。体制面では、個人でやる以上どうしても長期戦になります。リスクとしては、内製アートが水準に届かないケースが一番大きく、Phase 2で早めに判定します。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お願いしたいのはこの6点です。とくに1番のIPの帰属と、2番のPhase 1の実施可否について、本日ご判断いただけると助かります。外注しないことと個人体制の継続は決定事項として整理しています。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8991295" y="4572000"/>
            <a:ext cx="274320" cy="274320"/>
          </a:xfrm>
          <a:prstGeom prst="rect">
            <a:avLst/>
          </a:prstGeom>
          <a:solidFill>
            <a:srgbClr val="CADCFC">
              <a:alpha val="12000"/>
            </a:srgbClr>
          </a:solidFill>
          <a:ln/>
        </p:spPr>
      </p:sp>
      <p:sp>
        <p:nvSpPr>
          <p:cNvPr id="3" name="Shape 1"/>
          <p:cNvSpPr/>
          <p:nvPr/>
        </p:nvSpPr>
        <p:spPr>
          <a:xfrm>
            <a:off x="9320479" y="4572000"/>
            <a:ext cx="274320" cy="274320"/>
          </a:xfrm>
          <a:prstGeom prst="rect">
            <a:avLst/>
          </a:prstGeom>
          <a:solidFill>
            <a:srgbClr val="AE2F2F"/>
          </a:solidFill>
          <a:ln/>
        </p:spPr>
      </p:sp>
      <p:sp>
        <p:nvSpPr>
          <p:cNvPr id="4" name="Shape 2"/>
          <p:cNvSpPr/>
          <p:nvPr/>
        </p:nvSpPr>
        <p:spPr>
          <a:xfrm>
            <a:off x="9649663" y="4572000"/>
            <a:ext cx="274320" cy="274320"/>
          </a:xfrm>
          <a:prstGeom prst="rect">
            <a:avLst/>
          </a:prstGeom>
          <a:solidFill>
            <a:srgbClr val="CADCFC">
              <a:alpha val="12000"/>
            </a:srgbClr>
          </a:solidFill>
          <a:ln/>
        </p:spPr>
      </p:sp>
      <p:sp>
        <p:nvSpPr>
          <p:cNvPr id="5" name="Shape 3"/>
          <p:cNvSpPr/>
          <p:nvPr/>
        </p:nvSpPr>
        <p:spPr>
          <a:xfrm>
            <a:off x="9978847" y="4572000"/>
            <a:ext cx="274320" cy="274320"/>
          </a:xfrm>
          <a:prstGeom prst="rect">
            <a:avLst/>
          </a:prstGeom>
          <a:solidFill>
            <a:srgbClr val="CADCFC">
              <a:alpha val="12000"/>
            </a:srgbClr>
          </a:solidFill>
          <a:ln/>
        </p:spPr>
      </p:sp>
      <p:sp>
        <p:nvSpPr>
          <p:cNvPr id="6" name="Shape 4"/>
          <p:cNvSpPr/>
          <p:nvPr/>
        </p:nvSpPr>
        <p:spPr>
          <a:xfrm>
            <a:off x="10308031" y="4572000"/>
            <a:ext cx="274320" cy="274320"/>
          </a:xfrm>
          <a:prstGeom prst="rect">
            <a:avLst/>
          </a:prstGeom>
          <a:solidFill>
            <a:srgbClr val="CADCFC">
              <a:alpha val="12000"/>
            </a:srgbClr>
          </a:solidFill>
          <a:ln/>
        </p:spPr>
      </p:sp>
      <p:sp>
        <p:nvSpPr>
          <p:cNvPr id="7" name="Shape 5"/>
          <p:cNvSpPr/>
          <p:nvPr/>
        </p:nvSpPr>
        <p:spPr>
          <a:xfrm>
            <a:off x="10637215" y="4572000"/>
            <a:ext cx="274320" cy="274320"/>
          </a:xfrm>
          <a:prstGeom prst="rect">
            <a:avLst/>
          </a:prstGeom>
          <a:solidFill>
            <a:srgbClr val="CADCFC">
              <a:alpha val="12000"/>
            </a:srgbClr>
          </a:solidFill>
          <a:ln/>
        </p:spPr>
      </p:sp>
      <p:sp>
        <p:nvSpPr>
          <p:cNvPr id="8" name="Shape 6"/>
          <p:cNvSpPr/>
          <p:nvPr/>
        </p:nvSpPr>
        <p:spPr>
          <a:xfrm>
            <a:off x="10966399" y="4572000"/>
            <a:ext cx="274320" cy="274320"/>
          </a:xfrm>
          <a:prstGeom prst="rect">
            <a:avLst/>
          </a:prstGeom>
          <a:solidFill>
            <a:srgbClr val="CADCFC">
              <a:alpha val="12000"/>
            </a:srgbClr>
          </a:solidFill>
          <a:ln/>
        </p:spPr>
      </p:sp>
      <p:sp>
        <p:nvSpPr>
          <p:cNvPr id="9" name="Shape 7"/>
          <p:cNvSpPr/>
          <p:nvPr/>
        </p:nvSpPr>
        <p:spPr>
          <a:xfrm>
            <a:off x="11295583" y="4572000"/>
            <a:ext cx="274320" cy="274320"/>
          </a:xfrm>
          <a:prstGeom prst="rect">
            <a:avLst/>
          </a:prstGeom>
          <a:solidFill>
            <a:srgbClr val="CADCFC">
              <a:alpha val="12000"/>
            </a:srgbClr>
          </a:solidFill>
          <a:ln/>
        </p:spPr>
      </p:sp>
      <p:sp>
        <p:nvSpPr>
          <p:cNvPr id="10" name="Shape 8"/>
          <p:cNvSpPr/>
          <p:nvPr/>
        </p:nvSpPr>
        <p:spPr>
          <a:xfrm>
            <a:off x="8991295" y="4901184"/>
            <a:ext cx="274320" cy="274320"/>
          </a:xfrm>
          <a:prstGeom prst="rect">
            <a:avLst/>
          </a:prstGeom>
          <a:solidFill>
            <a:srgbClr val="CADCFC">
              <a:alpha val="12000"/>
            </a:srgbClr>
          </a:solidFill>
          <a:ln/>
        </p:spPr>
      </p:sp>
      <p:sp>
        <p:nvSpPr>
          <p:cNvPr id="11" name="Shape 9"/>
          <p:cNvSpPr/>
          <p:nvPr/>
        </p:nvSpPr>
        <p:spPr>
          <a:xfrm>
            <a:off x="9320479" y="4901184"/>
            <a:ext cx="274320" cy="274320"/>
          </a:xfrm>
          <a:prstGeom prst="rect">
            <a:avLst/>
          </a:prstGeom>
          <a:solidFill>
            <a:srgbClr val="CADCFC">
              <a:alpha val="12000"/>
            </a:srgbClr>
          </a:solidFill>
          <a:ln/>
        </p:spPr>
      </p:sp>
      <p:sp>
        <p:nvSpPr>
          <p:cNvPr id="12" name="Shape 10"/>
          <p:cNvSpPr/>
          <p:nvPr/>
        </p:nvSpPr>
        <p:spPr>
          <a:xfrm>
            <a:off x="9649663" y="4901184"/>
            <a:ext cx="274320" cy="274320"/>
          </a:xfrm>
          <a:prstGeom prst="rect">
            <a:avLst/>
          </a:prstGeom>
          <a:solidFill>
            <a:srgbClr val="CADCFC">
              <a:alpha val="12000"/>
            </a:srgbClr>
          </a:solidFill>
          <a:ln/>
        </p:spPr>
      </p:sp>
      <p:sp>
        <p:nvSpPr>
          <p:cNvPr id="13" name="Shape 11"/>
          <p:cNvSpPr/>
          <p:nvPr/>
        </p:nvSpPr>
        <p:spPr>
          <a:xfrm>
            <a:off x="9978847" y="4901184"/>
            <a:ext cx="274320" cy="274320"/>
          </a:xfrm>
          <a:prstGeom prst="rect">
            <a:avLst/>
          </a:prstGeom>
          <a:solidFill>
            <a:srgbClr val="FFD479"/>
          </a:solidFill>
          <a:ln/>
        </p:spPr>
      </p:sp>
      <p:sp>
        <p:nvSpPr>
          <p:cNvPr id="14" name="Shape 12"/>
          <p:cNvSpPr/>
          <p:nvPr/>
        </p:nvSpPr>
        <p:spPr>
          <a:xfrm>
            <a:off x="10308031" y="4901184"/>
            <a:ext cx="274320" cy="274320"/>
          </a:xfrm>
          <a:prstGeom prst="rect">
            <a:avLst/>
          </a:prstGeom>
          <a:solidFill>
            <a:srgbClr val="CADCFC">
              <a:alpha val="12000"/>
            </a:srgbClr>
          </a:solidFill>
          <a:ln/>
        </p:spPr>
      </p:sp>
      <p:sp>
        <p:nvSpPr>
          <p:cNvPr id="15" name="Shape 13"/>
          <p:cNvSpPr/>
          <p:nvPr/>
        </p:nvSpPr>
        <p:spPr>
          <a:xfrm>
            <a:off x="10637215" y="4901184"/>
            <a:ext cx="274320" cy="274320"/>
          </a:xfrm>
          <a:prstGeom prst="rect">
            <a:avLst/>
          </a:prstGeom>
          <a:solidFill>
            <a:srgbClr val="CADCFC">
              <a:alpha val="12000"/>
            </a:srgbClr>
          </a:solidFill>
          <a:ln/>
        </p:spPr>
      </p:sp>
      <p:sp>
        <p:nvSpPr>
          <p:cNvPr id="16" name="Shape 14"/>
          <p:cNvSpPr/>
          <p:nvPr/>
        </p:nvSpPr>
        <p:spPr>
          <a:xfrm>
            <a:off x="10966399" y="4901184"/>
            <a:ext cx="274320" cy="274320"/>
          </a:xfrm>
          <a:prstGeom prst="rect">
            <a:avLst/>
          </a:prstGeom>
          <a:solidFill>
            <a:srgbClr val="CADCFC">
              <a:alpha val="12000"/>
            </a:srgbClr>
          </a:solidFill>
          <a:ln/>
        </p:spPr>
      </p:sp>
      <p:sp>
        <p:nvSpPr>
          <p:cNvPr id="17" name="Shape 15"/>
          <p:cNvSpPr/>
          <p:nvPr/>
        </p:nvSpPr>
        <p:spPr>
          <a:xfrm>
            <a:off x="11295583" y="4901184"/>
            <a:ext cx="274320" cy="274320"/>
          </a:xfrm>
          <a:prstGeom prst="rect">
            <a:avLst/>
          </a:prstGeom>
          <a:solidFill>
            <a:srgbClr val="CADCFC">
              <a:alpha val="12000"/>
            </a:srgbClr>
          </a:solidFill>
          <a:ln/>
        </p:spPr>
      </p:sp>
      <p:sp>
        <p:nvSpPr>
          <p:cNvPr id="18" name="Shape 16"/>
          <p:cNvSpPr/>
          <p:nvPr/>
        </p:nvSpPr>
        <p:spPr>
          <a:xfrm>
            <a:off x="8991295" y="5230368"/>
            <a:ext cx="274320" cy="274320"/>
          </a:xfrm>
          <a:prstGeom prst="rect">
            <a:avLst/>
          </a:prstGeom>
          <a:solidFill>
            <a:srgbClr val="CADCFC">
              <a:alpha val="12000"/>
            </a:srgbClr>
          </a:solidFill>
          <a:ln/>
        </p:spPr>
      </p:sp>
      <p:sp>
        <p:nvSpPr>
          <p:cNvPr id="19" name="Shape 17"/>
          <p:cNvSpPr/>
          <p:nvPr/>
        </p:nvSpPr>
        <p:spPr>
          <a:xfrm>
            <a:off x="9320479" y="5230368"/>
            <a:ext cx="274320" cy="274320"/>
          </a:xfrm>
          <a:prstGeom prst="rect">
            <a:avLst/>
          </a:prstGeom>
          <a:solidFill>
            <a:srgbClr val="CADCFC">
              <a:alpha val="12000"/>
            </a:srgbClr>
          </a:solidFill>
          <a:ln/>
        </p:spPr>
      </p:sp>
      <p:sp>
        <p:nvSpPr>
          <p:cNvPr id="20" name="Shape 18"/>
          <p:cNvSpPr/>
          <p:nvPr/>
        </p:nvSpPr>
        <p:spPr>
          <a:xfrm>
            <a:off x="9649663" y="5230368"/>
            <a:ext cx="274320" cy="274320"/>
          </a:xfrm>
          <a:prstGeom prst="rect">
            <a:avLst/>
          </a:prstGeom>
          <a:solidFill>
            <a:srgbClr val="CADCFC">
              <a:alpha val="12000"/>
            </a:srgbClr>
          </a:solidFill>
          <a:ln/>
        </p:spPr>
      </p:sp>
      <p:sp>
        <p:nvSpPr>
          <p:cNvPr id="21" name="Shape 19"/>
          <p:cNvSpPr/>
          <p:nvPr/>
        </p:nvSpPr>
        <p:spPr>
          <a:xfrm>
            <a:off x="9978847" y="5230368"/>
            <a:ext cx="274320" cy="274320"/>
          </a:xfrm>
          <a:prstGeom prst="rect">
            <a:avLst/>
          </a:prstGeom>
          <a:solidFill>
            <a:srgbClr val="CADCFC">
              <a:alpha val="12000"/>
            </a:srgbClr>
          </a:solidFill>
          <a:ln/>
        </p:spPr>
      </p:sp>
      <p:sp>
        <p:nvSpPr>
          <p:cNvPr id="22" name="Shape 20"/>
          <p:cNvSpPr/>
          <p:nvPr/>
        </p:nvSpPr>
        <p:spPr>
          <a:xfrm>
            <a:off x="10308031" y="5230368"/>
            <a:ext cx="274320" cy="274320"/>
          </a:xfrm>
          <a:prstGeom prst="rect">
            <a:avLst/>
          </a:prstGeom>
          <a:solidFill>
            <a:srgbClr val="CADCFC">
              <a:alpha val="12000"/>
            </a:srgbClr>
          </a:solidFill>
          <a:ln/>
        </p:spPr>
      </p:sp>
      <p:sp>
        <p:nvSpPr>
          <p:cNvPr id="23" name="Shape 21"/>
          <p:cNvSpPr/>
          <p:nvPr/>
        </p:nvSpPr>
        <p:spPr>
          <a:xfrm>
            <a:off x="10637215" y="5230368"/>
            <a:ext cx="274320" cy="274320"/>
          </a:xfrm>
          <a:prstGeom prst="rect">
            <a:avLst/>
          </a:prstGeom>
          <a:solidFill>
            <a:srgbClr val="CADCFC">
              <a:alpha val="12000"/>
            </a:srgbClr>
          </a:solidFill>
          <a:ln/>
        </p:spPr>
      </p:sp>
      <p:sp>
        <p:nvSpPr>
          <p:cNvPr id="24" name="Shape 22"/>
          <p:cNvSpPr/>
          <p:nvPr/>
        </p:nvSpPr>
        <p:spPr>
          <a:xfrm>
            <a:off x="10966399" y="5230368"/>
            <a:ext cx="274320" cy="274320"/>
          </a:xfrm>
          <a:prstGeom prst="rect">
            <a:avLst/>
          </a:prstGeom>
          <a:solidFill>
            <a:srgbClr val="CADCFC">
              <a:alpha val="12000"/>
            </a:srgbClr>
          </a:solidFill>
          <a:ln/>
        </p:spPr>
      </p:sp>
      <p:sp>
        <p:nvSpPr>
          <p:cNvPr id="25" name="Shape 23"/>
          <p:cNvSpPr/>
          <p:nvPr/>
        </p:nvSpPr>
        <p:spPr>
          <a:xfrm>
            <a:off x="11295583" y="5230368"/>
            <a:ext cx="274320" cy="274320"/>
          </a:xfrm>
          <a:prstGeom prst="rect">
            <a:avLst/>
          </a:prstGeom>
          <a:solidFill>
            <a:srgbClr val="CADCFC">
              <a:alpha val="12000"/>
            </a:srgbClr>
          </a:solidFill>
          <a:ln/>
        </p:spPr>
      </p:sp>
      <p:sp>
        <p:nvSpPr>
          <p:cNvPr id="26" name="Shape 24"/>
          <p:cNvSpPr/>
          <p:nvPr/>
        </p:nvSpPr>
        <p:spPr>
          <a:xfrm>
            <a:off x="8991295" y="5559552"/>
            <a:ext cx="274320" cy="274320"/>
          </a:xfrm>
          <a:prstGeom prst="rect">
            <a:avLst/>
          </a:prstGeom>
          <a:solidFill>
            <a:srgbClr val="CADCFC">
              <a:alpha val="12000"/>
            </a:srgbClr>
          </a:solidFill>
          <a:ln/>
        </p:spPr>
      </p:sp>
      <p:sp>
        <p:nvSpPr>
          <p:cNvPr id="27" name="Shape 25"/>
          <p:cNvSpPr/>
          <p:nvPr/>
        </p:nvSpPr>
        <p:spPr>
          <a:xfrm>
            <a:off x="9320479" y="5559552"/>
            <a:ext cx="274320" cy="274320"/>
          </a:xfrm>
          <a:prstGeom prst="rect">
            <a:avLst/>
          </a:prstGeom>
          <a:solidFill>
            <a:srgbClr val="CADCFC">
              <a:alpha val="12000"/>
            </a:srgbClr>
          </a:solidFill>
          <a:ln/>
        </p:spPr>
      </p:sp>
      <p:sp>
        <p:nvSpPr>
          <p:cNvPr id="28" name="Shape 26"/>
          <p:cNvSpPr/>
          <p:nvPr/>
        </p:nvSpPr>
        <p:spPr>
          <a:xfrm>
            <a:off x="9649663" y="5559552"/>
            <a:ext cx="274320" cy="274320"/>
          </a:xfrm>
          <a:prstGeom prst="rect">
            <a:avLst/>
          </a:prstGeom>
          <a:solidFill>
            <a:srgbClr val="CADCFC">
              <a:alpha val="12000"/>
            </a:srgbClr>
          </a:solidFill>
          <a:ln/>
        </p:spPr>
      </p:sp>
      <p:sp>
        <p:nvSpPr>
          <p:cNvPr id="29" name="Shape 27"/>
          <p:cNvSpPr/>
          <p:nvPr/>
        </p:nvSpPr>
        <p:spPr>
          <a:xfrm>
            <a:off x="9978847" y="5559552"/>
            <a:ext cx="274320" cy="274320"/>
          </a:xfrm>
          <a:prstGeom prst="rect">
            <a:avLst/>
          </a:prstGeom>
          <a:solidFill>
            <a:srgbClr val="CADCFC">
              <a:alpha val="12000"/>
            </a:srgbClr>
          </a:solidFill>
          <a:ln/>
        </p:spPr>
      </p:sp>
      <p:sp>
        <p:nvSpPr>
          <p:cNvPr id="30" name="Shape 28"/>
          <p:cNvSpPr/>
          <p:nvPr/>
        </p:nvSpPr>
        <p:spPr>
          <a:xfrm>
            <a:off x="10308031" y="5559552"/>
            <a:ext cx="274320" cy="274320"/>
          </a:xfrm>
          <a:prstGeom prst="rect">
            <a:avLst/>
          </a:prstGeom>
          <a:solidFill>
            <a:srgbClr val="CADCFC">
              <a:alpha val="12000"/>
            </a:srgbClr>
          </a:solidFill>
          <a:ln/>
        </p:spPr>
      </p:sp>
      <p:sp>
        <p:nvSpPr>
          <p:cNvPr id="31" name="Shape 29"/>
          <p:cNvSpPr/>
          <p:nvPr/>
        </p:nvSpPr>
        <p:spPr>
          <a:xfrm>
            <a:off x="10637215" y="5559552"/>
            <a:ext cx="274320" cy="274320"/>
          </a:xfrm>
          <a:prstGeom prst="rect">
            <a:avLst/>
          </a:prstGeom>
          <a:solidFill>
            <a:srgbClr val="CADCFC">
              <a:alpha val="12000"/>
            </a:srgbClr>
          </a:solidFill>
          <a:ln/>
        </p:spPr>
      </p:sp>
      <p:sp>
        <p:nvSpPr>
          <p:cNvPr id="32" name="Shape 30"/>
          <p:cNvSpPr/>
          <p:nvPr/>
        </p:nvSpPr>
        <p:spPr>
          <a:xfrm>
            <a:off x="10966399" y="5559552"/>
            <a:ext cx="274320" cy="274320"/>
          </a:xfrm>
          <a:prstGeom prst="rect">
            <a:avLst/>
          </a:prstGeom>
          <a:solidFill>
            <a:srgbClr val="2F5FAE"/>
          </a:solidFill>
          <a:ln/>
        </p:spPr>
      </p:sp>
      <p:sp>
        <p:nvSpPr>
          <p:cNvPr id="33" name="Shape 31"/>
          <p:cNvSpPr/>
          <p:nvPr/>
        </p:nvSpPr>
        <p:spPr>
          <a:xfrm>
            <a:off x="11295583" y="5559552"/>
            <a:ext cx="274320" cy="274320"/>
          </a:xfrm>
          <a:prstGeom prst="rect">
            <a:avLst/>
          </a:prstGeom>
          <a:solidFill>
            <a:srgbClr val="CADCFC">
              <a:alpha val="12000"/>
            </a:srgbClr>
          </a:solidFill>
          <a:ln/>
        </p:spPr>
      </p:sp>
      <p:sp>
        <p:nvSpPr>
          <p:cNvPr id="34" name="Shape 32"/>
          <p:cNvSpPr/>
          <p:nvPr/>
        </p:nvSpPr>
        <p:spPr>
          <a:xfrm>
            <a:off x="8991295" y="5888736"/>
            <a:ext cx="274320" cy="274320"/>
          </a:xfrm>
          <a:prstGeom prst="rect">
            <a:avLst/>
          </a:prstGeom>
          <a:solidFill>
            <a:srgbClr val="CADCFC">
              <a:alpha val="12000"/>
            </a:srgbClr>
          </a:solidFill>
          <a:ln/>
        </p:spPr>
      </p:sp>
      <p:sp>
        <p:nvSpPr>
          <p:cNvPr id="35" name="Shape 33"/>
          <p:cNvSpPr/>
          <p:nvPr/>
        </p:nvSpPr>
        <p:spPr>
          <a:xfrm>
            <a:off x="9320479" y="5888736"/>
            <a:ext cx="274320" cy="274320"/>
          </a:xfrm>
          <a:prstGeom prst="rect">
            <a:avLst/>
          </a:prstGeom>
          <a:solidFill>
            <a:srgbClr val="CADCFC">
              <a:alpha val="12000"/>
            </a:srgbClr>
          </a:solidFill>
          <a:ln/>
        </p:spPr>
      </p:sp>
      <p:sp>
        <p:nvSpPr>
          <p:cNvPr id="36" name="Shape 34"/>
          <p:cNvSpPr/>
          <p:nvPr/>
        </p:nvSpPr>
        <p:spPr>
          <a:xfrm>
            <a:off x="9649663" y="5888736"/>
            <a:ext cx="274320" cy="274320"/>
          </a:xfrm>
          <a:prstGeom prst="rect">
            <a:avLst/>
          </a:prstGeom>
          <a:solidFill>
            <a:srgbClr val="CADCFC">
              <a:alpha val="12000"/>
            </a:srgbClr>
          </a:solidFill>
          <a:ln/>
        </p:spPr>
      </p:sp>
      <p:sp>
        <p:nvSpPr>
          <p:cNvPr id="37" name="Shape 35"/>
          <p:cNvSpPr/>
          <p:nvPr/>
        </p:nvSpPr>
        <p:spPr>
          <a:xfrm>
            <a:off x="9978847" y="5888736"/>
            <a:ext cx="274320" cy="274320"/>
          </a:xfrm>
          <a:prstGeom prst="rect">
            <a:avLst/>
          </a:prstGeom>
          <a:solidFill>
            <a:srgbClr val="CADCFC">
              <a:alpha val="12000"/>
            </a:srgbClr>
          </a:solidFill>
          <a:ln/>
        </p:spPr>
      </p:sp>
      <p:sp>
        <p:nvSpPr>
          <p:cNvPr id="38" name="Shape 36"/>
          <p:cNvSpPr/>
          <p:nvPr/>
        </p:nvSpPr>
        <p:spPr>
          <a:xfrm>
            <a:off x="10308031" y="5888736"/>
            <a:ext cx="274320" cy="274320"/>
          </a:xfrm>
          <a:prstGeom prst="rect">
            <a:avLst/>
          </a:prstGeom>
          <a:solidFill>
            <a:srgbClr val="CADCFC">
              <a:alpha val="12000"/>
            </a:srgbClr>
          </a:solidFill>
          <a:ln/>
        </p:spPr>
      </p:sp>
      <p:sp>
        <p:nvSpPr>
          <p:cNvPr id="39" name="Shape 37"/>
          <p:cNvSpPr/>
          <p:nvPr/>
        </p:nvSpPr>
        <p:spPr>
          <a:xfrm>
            <a:off x="10637215" y="5888736"/>
            <a:ext cx="274320" cy="274320"/>
          </a:xfrm>
          <a:prstGeom prst="rect">
            <a:avLst/>
          </a:prstGeom>
          <a:solidFill>
            <a:srgbClr val="CADCFC">
              <a:alpha val="12000"/>
            </a:srgbClr>
          </a:solidFill>
          <a:ln/>
        </p:spPr>
      </p:sp>
      <p:sp>
        <p:nvSpPr>
          <p:cNvPr id="40" name="Shape 38"/>
          <p:cNvSpPr/>
          <p:nvPr/>
        </p:nvSpPr>
        <p:spPr>
          <a:xfrm>
            <a:off x="10966399" y="5888736"/>
            <a:ext cx="274320" cy="274320"/>
          </a:xfrm>
          <a:prstGeom prst="rect">
            <a:avLst/>
          </a:prstGeom>
          <a:solidFill>
            <a:srgbClr val="CADCFC">
              <a:alpha val="12000"/>
            </a:srgbClr>
          </a:solidFill>
          <a:ln/>
        </p:spPr>
      </p:sp>
      <p:sp>
        <p:nvSpPr>
          <p:cNvPr id="41" name="Shape 39"/>
          <p:cNvSpPr/>
          <p:nvPr/>
        </p:nvSpPr>
        <p:spPr>
          <a:xfrm>
            <a:off x="11295583" y="5888736"/>
            <a:ext cx="274320" cy="274320"/>
          </a:xfrm>
          <a:prstGeom prst="rect">
            <a:avLst/>
          </a:prstGeom>
          <a:solidFill>
            <a:srgbClr val="2F5FAE"/>
          </a:solidFill>
          <a:ln/>
        </p:spPr>
      </p:sp>
      <p:sp>
        <p:nvSpPr>
          <p:cNvPr id="42" name="Shape 40"/>
          <p:cNvSpPr/>
          <p:nvPr/>
        </p:nvSpPr>
        <p:spPr>
          <a:xfrm>
            <a:off x="640080" y="1051560"/>
            <a:ext cx="201168" cy="201168"/>
          </a:xfrm>
          <a:prstGeom prst="rect">
            <a:avLst/>
          </a:prstGeom>
          <a:solidFill>
            <a:srgbClr val="FFD479"/>
          </a:solidFill>
          <a:ln/>
        </p:spPr>
      </p:sp>
      <p:sp>
        <p:nvSpPr>
          <p:cNvPr id="43" name="Shape 41"/>
          <p:cNvSpPr/>
          <p:nvPr/>
        </p:nvSpPr>
        <p:spPr>
          <a:xfrm>
            <a:off x="914400" y="1051560"/>
            <a:ext cx="201168" cy="201168"/>
          </a:xfrm>
          <a:prstGeom prst="rect">
            <a:avLst/>
          </a:prstGeom>
          <a:solidFill>
            <a:srgbClr val="CADCFC">
              <a:alpha val="30000"/>
            </a:srgbClr>
          </a:solidFill>
          <a:ln/>
        </p:spPr>
      </p:sp>
      <p:sp>
        <p:nvSpPr>
          <p:cNvPr id="44" name="Shape 42"/>
          <p:cNvSpPr/>
          <p:nvPr/>
        </p:nvSpPr>
        <p:spPr>
          <a:xfrm>
            <a:off x="1188720" y="1051560"/>
            <a:ext cx="201168" cy="201168"/>
          </a:xfrm>
          <a:prstGeom prst="rect">
            <a:avLst/>
          </a:prstGeom>
          <a:solidFill>
            <a:srgbClr val="CADCFC">
              <a:alpha val="30000"/>
            </a:srgbClr>
          </a:solidFill>
          <a:ln/>
        </p:spPr>
      </p:sp>
      <p:sp>
        <p:nvSpPr>
          <p:cNvPr id="45" name="Shape 43"/>
          <p:cNvSpPr/>
          <p:nvPr/>
        </p:nvSpPr>
        <p:spPr>
          <a:xfrm>
            <a:off x="1463040" y="1051560"/>
            <a:ext cx="201168" cy="201168"/>
          </a:xfrm>
          <a:prstGeom prst="rect">
            <a:avLst/>
          </a:prstGeom>
          <a:solidFill>
            <a:srgbClr val="CADCFC">
              <a:alpha val="30000"/>
            </a:srgbClr>
          </a:solidFill>
          <a:ln/>
        </p:spPr>
      </p:sp>
      <p:sp>
        <p:nvSpPr>
          <p:cNvPr id="46" name="Shape 44"/>
          <p:cNvSpPr/>
          <p:nvPr/>
        </p:nvSpPr>
        <p:spPr>
          <a:xfrm>
            <a:off x="1737360" y="1051560"/>
            <a:ext cx="201168" cy="201168"/>
          </a:xfrm>
          <a:prstGeom prst="rect">
            <a:avLst/>
          </a:prstGeom>
          <a:solidFill>
            <a:srgbClr val="2F5FAE"/>
          </a:solidFill>
          <a:ln/>
        </p:spPr>
      </p:sp>
      <p:sp>
        <p:nvSpPr>
          <p:cNvPr id="47" name="Text 45"/>
          <p:cNvSpPr txBox="1"/>
          <p:nvPr/>
        </p:nvSpPr>
        <p:spPr>
          <a:xfrm>
            <a:off x="640080" y="1600200"/>
            <a:ext cx="10058400" cy="914400"/>
          </a:xfrm>
          <a:prstGeom prst="rect">
            <a:avLst/>
          </a:prstGeom>
          <a:noFill/>
          <a:ln/>
        </p:spPr>
        <p:txBody>
          <a:bodyPr wrap="square" lIns="0" tIns="0" rIns="0" bIns="0" rtlCol="0" anchor="ctr"/>
          <a:lstStyle/>
          <a:p>
            <a:pPr indent="0" marL="0">
              <a:buNone/>
            </a:pPr>
            <a:r>
              <a:rPr lang="en-US" sz="4600" b="1" dirty="0">
                <a:solidFill>
                  <a:srgbClr val="FFFFFF"/>
                </a:solidFill>
                <a:latin typeface="Meiryo" pitchFamily="34" charset="0"/>
                <a:ea typeface="Meiryo" pitchFamily="34" charset="-122"/>
                <a:cs typeface="Meiryo" pitchFamily="34" charset="-120"/>
              </a:rPr>
              <a:t>商用化企画書</a:t>
            </a:r>
            <a:endParaRPr lang="en-US" sz="4600" dirty="0"/>
          </a:p>
        </p:txBody>
      </p:sp>
      <p:sp>
        <p:nvSpPr>
          <p:cNvPr id="48" name="Text 46"/>
          <p:cNvSpPr txBox="1"/>
          <p:nvPr/>
        </p:nvSpPr>
        <p:spPr>
          <a:xfrm>
            <a:off x="640080" y="2542032"/>
            <a:ext cx="10058400" cy="548640"/>
          </a:xfrm>
          <a:prstGeom prst="rect">
            <a:avLst/>
          </a:prstGeom>
          <a:noFill/>
          <a:ln/>
        </p:spPr>
        <p:txBody>
          <a:bodyPr wrap="square" lIns="0" tIns="0" rIns="0" bIns="0" rtlCol="0" anchor="ctr"/>
          <a:lstStyle/>
          <a:p>
            <a:pPr indent="0" marL="0">
              <a:buNone/>
            </a:pPr>
            <a:r>
              <a:rPr lang="en-US" sz="2400" dirty="0">
                <a:solidFill>
                  <a:srgbClr val="CADCFC"/>
                </a:solidFill>
                <a:latin typeface="Meiryo" pitchFamily="34" charset="0"/>
                <a:ea typeface="Meiryo" pitchFamily="34" charset="-122"/>
                <a:cs typeface="Meiryo" pitchFamily="34" charset="-120"/>
              </a:rPr>
              <a:t>グリッドウォーズ(仮題)</a:t>
            </a:r>
            <a:endParaRPr lang="en-US" sz="2400" dirty="0"/>
          </a:p>
        </p:txBody>
      </p:sp>
      <p:sp>
        <p:nvSpPr>
          <p:cNvPr id="49" name="Text 47"/>
          <p:cNvSpPr txBox="1"/>
          <p:nvPr/>
        </p:nvSpPr>
        <p:spPr>
          <a:xfrm>
            <a:off x="640080" y="3246120"/>
            <a:ext cx="9601200" cy="457200"/>
          </a:xfrm>
          <a:prstGeom prst="rect">
            <a:avLst/>
          </a:prstGeom>
          <a:noFill/>
          <a:ln/>
        </p:spPr>
        <p:txBody>
          <a:bodyPr wrap="square" lIns="0" tIns="0" rIns="0" bIns="0" rtlCol="0" anchor="ctr"/>
          <a:lstStyle/>
          <a:p>
            <a:pPr indent="0" marL="0">
              <a:buNone/>
            </a:pPr>
            <a:r>
              <a:rPr lang="en-US" sz="1400" dirty="0">
                <a:solidFill>
                  <a:srgbClr val="CADCFC"/>
                </a:solidFill>
                <a:latin typeface="Meiryo" pitchFamily="34" charset="0"/>
                <a:ea typeface="Meiryo" pitchFamily="34" charset="-122"/>
                <a:cs typeface="Meiryo" pitchFamily="34" charset="-120"/>
              </a:rPr>
              <a:t>ブラウザで遊べるターン制ウォーシミュレーションを、商品として販売するかの検討</a:t>
            </a:r>
            <a:endParaRPr lang="en-US" sz="1400" dirty="0"/>
          </a:p>
        </p:txBody>
      </p:sp>
      <p:sp>
        <p:nvSpPr>
          <p:cNvPr id="50" name="Shape 48"/>
          <p:cNvSpPr/>
          <p:nvPr/>
        </p:nvSpPr>
        <p:spPr>
          <a:xfrm>
            <a:off x="640080" y="3977640"/>
            <a:ext cx="2926080" cy="0"/>
          </a:xfrm>
          <a:prstGeom prst="line">
            <a:avLst/>
          </a:prstGeom>
          <a:noFill/>
          <a:ln w="25400">
            <a:solidFill>
              <a:srgbClr val="FFD479"/>
            </a:solidFill>
            <a:prstDash val="solid"/>
          </a:ln>
        </p:spPr>
      </p:sp>
      <p:sp>
        <p:nvSpPr>
          <p:cNvPr id="51" name="Text 49"/>
          <p:cNvSpPr txBox="1"/>
          <p:nvPr/>
        </p:nvSpPr>
        <p:spPr>
          <a:xfrm>
            <a:off x="640080" y="4206240"/>
            <a:ext cx="5486400" cy="731520"/>
          </a:xfrm>
          <a:prstGeom prst="rect">
            <a:avLst/>
          </a:prstGeom>
          <a:noFill/>
          <a:ln/>
        </p:spPr>
        <p:txBody>
          <a:bodyPr wrap="square" lIns="0" tIns="0" rIns="0" bIns="0" rtlCol="0" anchor="ctr"/>
          <a:lstStyle/>
          <a:p>
            <a:pPr indent="0" marL="0">
              <a:lnSpc>
                <a:spcPts val="2000"/>
              </a:lnSpc>
              <a:buNone/>
            </a:pPr>
            <a:r>
              <a:rPr lang="en-US" sz="1300" dirty="0">
                <a:solidFill>
                  <a:srgbClr val="CADCFC"/>
                </a:solidFill>
                <a:latin typeface="Meiryo" pitchFamily="34" charset="0"/>
                <a:ea typeface="Meiryo" pitchFamily="34" charset="-122"/>
                <a:cs typeface="Meiryo" pitchFamily="34" charset="-120"/>
              </a:rPr>
              <a:t>2026 年 9 月 10 日</a:t>
            </a:r>
            <a:endParaRPr lang="en-US" sz="1300" dirty="0"/>
          </a:p>
          <a:p>
            <a:pPr indent="0" marL="0">
              <a:lnSpc>
                <a:spcPts val="2000"/>
              </a:lnSpc>
              <a:buNone/>
            </a:pPr>
            <a:r>
              <a:rPr lang="en-US" sz="1300" dirty="0">
                <a:solidFill>
                  <a:srgbClr val="CADCFC"/>
                </a:solidFill>
                <a:latin typeface="Meiryo" pitchFamily="34" charset="0"/>
                <a:ea typeface="Meiryo" pitchFamily="34" charset="-122"/>
                <a:cs typeface="Meiryo" pitchFamily="34" charset="-120"/>
              </a:rPr>
              <a:t>個人開発 / 社内提案</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640080" y="475488"/>
            <a:ext cx="146304" cy="146304"/>
          </a:xfrm>
          <a:prstGeom prst="rect">
            <a:avLst/>
          </a:prstGeom>
          <a:solidFill>
            <a:srgbClr val="FFD479"/>
          </a:solidFill>
          <a:ln/>
        </p:spPr>
      </p:sp>
      <p:sp>
        <p:nvSpPr>
          <p:cNvPr id="3" name="Text 1"/>
          <p:cNvSpPr txBox="1"/>
          <p:nvPr/>
        </p:nvSpPr>
        <p:spPr>
          <a:xfrm>
            <a:off x="896112" y="402336"/>
            <a:ext cx="5486400" cy="292608"/>
          </a:xfrm>
          <a:prstGeom prst="rect">
            <a:avLst/>
          </a:prstGeom>
          <a:noFill/>
          <a:ln/>
        </p:spPr>
        <p:txBody>
          <a:bodyPr wrap="square" lIns="0" tIns="0" rIns="0" bIns="0" rtlCol="0" anchor="ctr"/>
          <a:lstStyle/>
          <a:p>
            <a:pPr indent="0" marL="0">
              <a:buNone/>
            </a:pPr>
            <a:r>
              <a:rPr lang="en-US" sz="1200" b="1" spc="140" kern="0" dirty="0">
                <a:solidFill>
                  <a:srgbClr val="FFD479"/>
                </a:solidFill>
                <a:latin typeface="Meiryo" pitchFamily="34" charset="0"/>
                <a:ea typeface="Meiryo" pitchFamily="34" charset="-122"/>
                <a:cs typeface="Meiryo" pitchFamily="34" charset="-120"/>
              </a:rPr>
              <a:t>SUMMARY</a:t>
            </a:r>
            <a:endParaRPr lang="en-US" sz="1200" dirty="0"/>
          </a:p>
        </p:txBody>
      </p:sp>
      <p:sp>
        <p:nvSpPr>
          <p:cNvPr id="4" name="Text 2"/>
          <p:cNvSpPr txBox="1"/>
          <p:nvPr/>
        </p:nvSpPr>
        <p:spPr>
          <a:xfrm>
            <a:off x="640080" y="749808"/>
            <a:ext cx="7315200" cy="603504"/>
          </a:xfrm>
          <a:prstGeom prst="rect">
            <a:avLst/>
          </a:prstGeom>
          <a:noFill/>
          <a:ln/>
        </p:spPr>
        <p:txBody>
          <a:bodyPr wrap="square" lIns="0" tIns="0" rIns="0" bIns="0" rtlCol="0" anchor="ctr"/>
          <a:lstStyle/>
          <a:p>
            <a:pPr indent="0" marL="0">
              <a:buNone/>
            </a:pPr>
            <a:r>
              <a:rPr lang="en-US" sz="3000" b="1" dirty="0">
                <a:solidFill>
                  <a:srgbClr val="FFFFFF"/>
                </a:solidFill>
                <a:latin typeface="Meiryo" pitchFamily="34" charset="0"/>
                <a:ea typeface="Meiryo" pitchFamily="34" charset="-122"/>
                <a:cs typeface="Meiryo" pitchFamily="34" charset="-120"/>
              </a:rPr>
              <a:t>結論</a:t>
            </a:r>
            <a:endParaRPr lang="en-US" sz="3000" dirty="0"/>
          </a:p>
        </p:txBody>
      </p:sp>
      <p:sp>
        <p:nvSpPr>
          <p:cNvPr id="5" name="Shape 3"/>
          <p:cNvSpPr/>
          <p:nvPr/>
        </p:nvSpPr>
        <p:spPr>
          <a:xfrm>
            <a:off x="640080" y="1691640"/>
            <a:ext cx="10911535" cy="960120"/>
          </a:xfrm>
          <a:prstGeom prst="roundRect">
            <a:avLst>
              <a:gd name="adj" fmla="val 5714"/>
            </a:avLst>
          </a:prstGeom>
          <a:solidFill>
            <a:srgbClr val="25253F"/>
          </a:solidFill>
          <a:ln/>
        </p:spPr>
      </p:sp>
      <p:sp>
        <p:nvSpPr>
          <p:cNvPr id="6" name="Shape 4"/>
          <p:cNvSpPr/>
          <p:nvPr/>
        </p:nvSpPr>
        <p:spPr>
          <a:xfrm>
            <a:off x="960120" y="2075688"/>
            <a:ext cx="128016" cy="128016"/>
          </a:xfrm>
          <a:prstGeom prst="rect">
            <a:avLst/>
          </a:prstGeom>
          <a:solidFill>
            <a:srgbClr val="CADCFC"/>
          </a:solidFill>
          <a:ln/>
        </p:spPr>
      </p:sp>
      <p:sp>
        <p:nvSpPr>
          <p:cNvPr id="7" name="Text 5"/>
          <p:cNvSpPr txBox="1"/>
          <p:nvPr/>
        </p:nvSpPr>
        <p:spPr>
          <a:xfrm>
            <a:off x="1207008" y="1965960"/>
            <a:ext cx="1371600" cy="365760"/>
          </a:xfrm>
          <a:prstGeom prst="rect">
            <a:avLst/>
          </a:prstGeom>
          <a:noFill/>
          <a:ln/>
        </p:spPr>
        <p:txBody>
          <a:bodyPr wrap="square" lIns="0" tIns="0" rIns="0" bIns="0" rtlCol="0" anchor="ctr"/>
          <a:lstStyle/>
          <a:p>
            <a:pPr indent="0" marL="0">
              <a:buNone/>
            </a:pPr>
            <a:r>
              <a:rPr lang="en-US" sz="1500" b="1" dirty="0">
                <a:solidFill>
                  <a:srgbClr val="CADCFC"/>
                </a:solidFill>
                <a:latin typeface="Meiryo" pitchFamily="34" charset="0"/>
                <a:ea typeface="Meiryo" pitchFamily="34" charset="-122"/>
                <a:cs typeface="Meiryo" pitchFamily="34" charset="-120"/>
              </a:rPr>
              <a:t>現状</a:t>
            </a:r>
            <a:endParaRPr lang="en-US" sz="1500" dirty="0"/>
          </a:p>
        </p:txBody>
      </p:sp>
      <p:sp>
        <p:nvSpPr>
          <p:cNvPr id="8" name="Text 6"/>
          <p:cNvSpPr txBox="1"/>
          <p:nvPr/>
        </p:nvSpPr>
        <p:spPr>
          <a:xfrm>
            <a:off x="2651760" y="1892808"/>
            <a:ext cx="8534095" cy="594360"/>
          </a:xfrm>
          <a:prstGeom prst="rect">
            <a:avLst/>
          </a:prstGeom>
          <a:noFill/>
          <a:ln/>
        </p:spPr>
        <p:txBody>
          <a:bodyPr wrap="square" lIns="0" tIns="0" rIns="0" bIns="0" rtlCol="0" anchor="ctr"/>
          <a:lstStyle/>
          <a:p>
            <a:pPr indent="0" marL="0">
              <a:lnSpc>
                <a:spcPts val="2000"/>
              </a:lnSpc>
              <a:buNone/>
            </a:pPr>
            <a:r>
              <a:rPr lang="en-US" sz="1350" dirty="0">
                <a:solidFill>
                  <a:srgbClr val="FFFFFF"/>
                </a:solidFill>
                <a:latin typeface="Meiryo" pitchFamily="34" charset="0"/>
                <a:ea typeface="Meiryo" pitchFamily="34" charset="-122"/>
                <a:cs typeface="Meiryo" pitchFamily="34" charset="-120"/>
              </a:rPr>
              <a:t>約 1 か月・117 コミットで「一通り遊べる」状態に到達。ゲームロジックは 1,076 件の自動テストで担保している</a:t>
            </a:r>
            <a:endParaRPr lang="en-US" sz="1350" dirty="0"/>
          </a:p>
        </p:txBody>
      </p:sp>
      <p:sp>
        <p:nvSpPr>
          <p:cNvPr id="9" name="Shape 7"/>
          <p:cNvSpPr/>
          <p:nvPr/>
        </p:nvSpPr>
        <p:spPr>
          <a:xfrm>
            <a:off x="640080" y="2788920"/>
            <a:ext cx="10911535" cy="960120"/>
          </a:xfrm>
          <a:prstGeom prst="roundRect">
            <a:avLst>
              <a:gd name="adj" fmla="val 5714"/>
            </a:avLst>
          </a:prstGeom>
          <a:solidFill>
            <a:srgbClr val="25253F"/>
          </a:solidFill>
          <a:ln/>
        </p:spPr>
      </p:sp>
      <p:sp>
        <p:nvSpPr>
          <p:cNvPr id="10" name="Shape 8"/>
          <p:cNvSpPr/>
          <p:nvPr/>
        </p:nvSpPr>
        <p:spPr>
          <a:xfrm>
            <a:off x="960120" y="3172968"/>
            <a:ext cx="128016" cy="128016"/>
          </a:xfrm>
          <a:prstGeom prst="rect">
            <a:avLst/>
          </a:prstGeom>
          <a:solidFill>
            <a:srgbClr val="CADCFC"/>
          </a:solidFill>
          <a:ln/>
        </p:spPr>
      </p:sp>
      <p:sp>
        <p:nvSpPr>
          <p:cNvPr id="11" name="Text 9"/>
          <p:cNvSpPr txBox="1"/>
          <p:nvPr/>
        </p:nvSpPr>
        <p:spPr>
          <a:xfrm>
            <a:off x="1207008" y="3063240"/>
            <a:ext cx="1371600" cy="365760"/>
          </a:xfrm>
          <a:prstGeom prst="rect">
            <a:avLst/>
          </a:prstGeom>
          <a:noFill/>
          <a:ln/>
        </p:spPr>
        <p:txBody>
          <a:bodyPr wrap="square" lIns="0" tIns="0" rIns="0" bIns="0" rtlCol="0" anchor="ctr"/>
          <a:lstStyle/>
          <a:p>
            <a:pPr indent="0" marL="0">
              <a:buNone/>
            </a:pPr>
            <a:r>
              <a:rPr lang="en-US" sz="1500" b="1" dirty="0">
                <a:solidFill>
                  <a:srgbClr val="CADCFC"/>
                </a:solidFill>
                <a:latin typeface="Meiryo" pitchFamily="34" charset="0"/>
                <a:ea typeface="Meiryo" pitchFamily="34" charset="-122"/>
                <a:cs typeface="Meiryo" pitchFamily="34" charset="-120"/>
              </a:rPr>
              <a:t>評価</a:t>
            </a:r>
            <a:endParaRPr lang="en-US" sz="1500" dirty="0"/>
          </a:p>
        </p:txBody>
      </p:sp>
      <p:sp>
        <p:nvSpPr>
          <p:cNvPr id="12" name="Text 10"/>
          <p:cNvSpPr txBox="1"/>
          <p:nvPr/>
        </p:nvSpPr>
        <p:spPr>
          <a:xfrm>
            <a:off x="2651760" y="2990088"/>
            <a:ext cx="8534095" cy="594360"/>
          </a:xfrm>
          <a:prstGeom prst="rect">
            <a:avLst/>
          </a:prstGeom>
          <a:noFill/>
          <a:ln/>
        </p:spPr>
        <p:txBody>
          <a:bodyPr wrap="square" lIns="0" tIns="0" rIns="0" bIns="0" rtlCol="0" anchor="ctr"/>
          <a:lstStyle/>
          <a:p>
            <a:pPr indent="0" marL="0">
              <a:lnSpc>
                <a:spcPts val="2000"/>
              </a:lnSpc>
              <a:buNone/>
            </a:pPr>
            <a:r>
              <a:rPr lang="en-US" sz="1350" dirty="0">
                <a:solidFill>
                  <a:srgbClr val="FFFFFF"/>
                </a:solidFill>
                <a:latin typeface="Meiryo" pitchFamily="34" charset="0"/>
                <a:ea typeface="Meiryo" pitchFamily="34" charset="-122"/>
                <a:cs typeface="Meiryo" pitchFamily="34" charset="-120"/>
              </a:rPr>
              <a:t>中身(ゲーム性)はほぼ完成。未整備なのは外側 ─ 見た目・音・入口の体験・事業の器</a:t>
            </a:r>
            <a:endParaRPr lang="en-US" sz="1350" dirty="0"/>
          </a:p>
        </p:txBody>
      </p:sp>
      <p:sp>
        <p:nvSpPr>
          <p:cNvPr id="13" name="Shape 11"/>
          <p:cNvSpPr/>
          <p:nvPr/>
        </p:nvSpPr>
        <p:spPr>
          <a:xfrm>
            <a:off x="640080" y="3886200"/>
            <a:ext cx="10911535" cy="960120"/>
          </a:xfrm>
          <a:prstGeom prst="roundRect">
            <a:avLst>
              <a:gd name="adj" fmla="val 5714"/>
            </a:avLst>
          </a:prstGeom>
          <a:solidFill>
            <a:srgbClr val="25253F"/>
          </a:solidFill>
          <a:ln/>
        </p:spPr>
      </p:sp>
      <p:sp>
        <p:nvSpPr>
          <p:cNvPr id="14" name="Shape 12"/>
          <p:cNvSpPr/>
          <p:nvPr/>
        </p:nvSpPr>
        <p:spPr>
          <a:xfrm>
            <a:off x="960120" y="4270248"/>
            <a:ext cx="128016" cy="128016"/>
          </a:xfrm>
          <a:prstGeom prst="rect">
            <a:avLst/>
          </a:prstGeom>
          <a:solidFill>
            <a:srgbClr val="FFD479"/>
          </a:solidFill>
          <a:ln/>
        </p:spPr>
      </p:sp>
      <p:sp>
        <p:nvSpPr>
          <p:cNvPr id="15" name="Text 13"/>
          <p:cNvSpPr txBox="1"/>
          <p:nvPr/>
        </p:nvSpPr>
        <p:spPr>
          <a:xfrm>
            <a:off x="1207008" y="4160520"/>
            <a:ext cx="1371600" cy="365760"/>
          </a:xfrm>
          <a:prstGeom prst="rect">
            <a:avLst/>
          </a:prstGeom>
          <a:noFill/>
          <a:ln/>
        </p:spPr>
        <p:txBody>
          <a:bodyPr wrap="square" lIns="0" tIns="0" rIns="0" bIns="0" rtlCol="0" anchor="ctr"/>
          <a:lstStyle/>
          <a:p>
            <a:pPr indent="0" marL="0">
              <a:buNone/>
            </a:pPr>
            <a:r>
              <a:rPr lang="en-US" sz="1500" b="1" dirty="0">
                <a:solidFill>
                  <a:srgbClr val="FFD479"/>
                </a:solidFill>
                <a:latin typeface="Meiryo" pitchFamily="34" charset="0"/>
                <a:ea typeface="Meiryo" pitchFamily="34" charset="-122"/>
                <a:cs typeface="Meiryo" pitchFamily="34" charset="-120"/>
              </a:rPr>
              <a:t>提案</a:t>
            </a:r>
            <a:endParaRPr lang="en-US" sz="1500" dirty="0"/>
          </a:p>
        </p:txBody>
      </p:sp>
      <p:sp>
        <p:nvSpPr>
          <p:cNvPr id="16" name="Text 14"/>
          <p:cNvSpPr txBox="1"/>
          <p:nvPr/>
        </p:nvSpPr>
        <p:spPr>
          <a:xfrm>
            <a:off x="2651760" y="4087368"/>
            <a:ext cx="8534095" cy="594360"/>
          </a:xfrm>
          <a:prstGeom prst="rect">
            <a:avLst/>
          </a:prstGeom>
          <a:noFill/>
          <a:ln/>
        </p:spPr>
        <p:txBody>
          <a:bodyPr wrap="square" lIns="0" tIns="0" rIns="0" bIns="0" rtlCol="0" anchor="ctr"/>
          <a:lstStyle/>
          <a:p>
            <a:pPr indent="0" marL="0">
              <a:lnSpc>
                <a:spcPts val="2000"/>
              </a:lnSpc>
              <a:buNone/>
            </a:pPr>
            <a:r>
              <a:rPr lang="en-US" sz="1350" dirty="0">
                <a:solidFill>
                  <a:srgbClr val="FFFFFF"/>
                </a:solidFill>
                <a:latin typeface="Meiryo" pitchFamily="34" charset="0"/>
                <a:ea typeface="Meiryo" pitchFamily="34" charset="-122"/>
                <a:cs typeface="Meiryo" pitchFamily="34" charset="-120"/>
              </a:rPr>
              <a:t>追加 最長 9 か月で Steam 買い切り + ブラウザ体験版。アート/サウンドを含め全工程を内製し、個人体制を継続する</a:t>
            </a:r>
            <a:endParaRPr lang="en-US" sz="1350" dirty="0"/>
          </a:p>
        </p:txBody>
      </p:sp>
      <p:sp>
        <p:nvSpPr>
          <p:cNvPr id="17" name="Shape 15"/>
          <p:cNvSpPr/>
          <p:nvPr/>
        </p:nvSpPr>
        <p:spPr>
          <a:xfrm>
            <a:off x="640080" y="4983480"/>
            <a:ext cx="10911535" cy="960120"/>
          </a:xfrm>
          <a:prstGeom prst="roundRect">
            <a:avLst>
              <a:gd name="adj" fmla="val 5714"/>
            </a:avLst>
          </a:prstGeom>
          <a:solidFill>
            <a:srgbClr val="25253F"/>
          </a:solidFill>
          <a:ln/>
        </p:spPr>
      </p:sp>
      <p:sp>
        <p:nvSpPr>
          <p:cNvPr id="18" name="Shape 16"/>
          <p:cNvSpPr/>
          <p:nvPr/>
        </p:nvSpPr>
        <p:spPr>
          <a:xfrm>
            <a:off x="960120" y="5367528"/>
            <a:ext cx="128016" cy="128016"/>
          </a:xfrm>
          <a:prstGeom prst="rect">
            <a:avLst/>
          </a:prstGeom>
          <a:solidFill>
            <a:srgbClr val="FFD479"/>
          </a:solidFill>
          <a:ln/>
        </p:spPr>
      </p:sp>
      <p:sp>
        <p:nvSpPr>
          <p:cNvPr id="19" name="Text 17"/>
          <p:cNvSpPr txBox="1"/>
          <p:nvPr/>
        </p:nvSpPr>
        <p:spPr>
          <a:xfrm>
            <a:off x="1207008" y="5257800"/>
            <a:ext cx="1371600" cy="365760"/>
          </a:xfrm>
          <a:prstGeom prst="rect">
            <a:avLst/>
          </a:prstGeom>
          <a:noFill/>
          <a:ln/>
        </p:spPr>
        <p:txBody>
          <a:bodyPr wrap="square" lIns="0" tIns="0" rIns="0" bIns="0" rtlCol="0" anchor="ctr"/>
          <a:lstStyle/>
          <a:p>
            <a:pPr indent="0" marL="0">
              <a:buNone/>
            </a:pPr>
            <a:r>
              <a:rPr lang="en-US" sz="1500" b="1" dirty="0">
                <a:solidFill>
                  <a:srgbClr val="FFD479"/>
                </a:solidFill>
                <a:latin typeface="Meiryo" pitchFamily="34" charset="0"/>
                <a:ea typeface="Meiryo" pitchFamily="34" charset="-122"/>
                <a:cs typeface="Meiryo" pitchFamily="34" charset="-120"/>
              </a:rPr>
              <a:t>お願い</a:t>
            </a:r>
            <a:endParaRPr lang="en-US" sz="1500" dirty="0"/>
          </a:p>
        </p:txBody>
      </p:sp>
      <p:sp>
        <p:nvSpPr>
          <p:cNvPr id="20" name="Text 18"/>
          <p:cNvSpPr txBox="1"/>
          <p:nvPr/>
        </p:nvSpPr>
        <p:spPr>
          <a:xfrm>
            <a:off x="2651760" y="5184648"/>
            <a:ext cx="8534095" cy="594360"/>
          </a:xfrm>
          <a:prstGeom prst="rect">
            <a:avLst/>
          </a:prstGeom>
          <a:noFill/>
          <a:ln/>
        </p:spPr>
        <p:txBody>
          <a:bodyPr wrap="square" lIns="0" tIns="0" rIns="0" bIns="0" rtlCol="0" anchor="ctr"/>
          <a:lstStyle/>
          <a:p>
            <a:pPr indent="0" marL="0">
              <a:lnSpc>
                <a:spcPts val="2000"/>
              </a:lnSpc>
              <a:buNone/>
            </a:pPr>
            <a:r>
              <a:rPr lang="en-US" sz="1350" dirty="0">
                <a:solidFill>
                  <a:srgbClr val="FFFFFF"/>
                </a:solidFill>
                <a:latin typeface="Meiryo" pitchFamily="34" charset="0"/>
                <a:ea typeface="Meiryo" pitchFamily="34" charset="-122"/>
                <a:cs typeface="Meiryo" pitchFamily="34" charset="-120"/>
              </a:rPr>
              <a:t>予算の承認ではなく、権利関係の整理・法務支援・時間の確保をお願いしたい</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8991295" y="4572000"/>
            <a:ext cx="274320" cy="274320"/>
          </a:xfrm>
          <a:prstGeom prst="rect">
            <a:avLst/>
          </a:prstGeom>
          <a:solidFill>
            <a:srgbClr val="CADCFC">
              <a:alpha val="12000"/>
            </a:srgbClr>
          </a:solidFill>
          <a:ln/>
        </p:spPr>
      </p:sp>
      <p:sp>
        <p:nvSpPr>
          <p:cNvPr id="3" name="Shape 1"/>
          <p:cNvSpPr/>
          <p:nvPr/>
        </p:nvSpPr>
        <p:spPr>
          <a:xfrm>
            <a:off x="9320479" y="4572000"/>
            <a:ext cx="274320" cy="274320"/>
          </a:xfrm>
          <a:prstGeom prst="rect">
            <a:avLst/>
          </a:prstGeom>
          <a:solidFill>
            <a:srgbClr val="AE2F2F"/>
          </a:solidFill>
          <a:ln/>
        </p:spPr>
      </p:sp>
      <p:sp>
        <p:nvSpPr>
          <p:cNvPr id="4" name="Shape 2"/>
          <p:cNvSpPr/>
          <p:nvPr/>
        </p:nvSpPr>
        <p:spPr>
          <a:xfrm>
            <a:off x="9649663" y="4572000"/>
            <a:ext cx="274320" cy="274320"/>
          </a:xfrm>
          <a:prstGeom prst="rect">
            <a:avLst/>
          </a:prstGeom>
          <a:solidFill>
            <a:srgbClr val="CADCFC">
              <a:alpha val="12000"/>
            </a:srgbClr>
          </a:solidFill>
          <a:ln/>
        </p:spPr>
      </p:sp>
      <p:sp>
        <p:nvSpPr>
          <p:cNvPr id="5" name="Shape 3"/>
          <p:cNvSpPr/>
          <p:nvPr/>
        </p:nvSpPr>
        <p:spPr>
          <a:xfrm>
            <a:off x="9978847" y="4572000"/>
            <a:ext cx="274320" cy="274320"/>
          </a:xfrm>
          <a:prstGeom prst="rect">
            <a:avLst/>
          </a:prstGeom>
          <a:solidFill>
            <a:srgbClr val="CADCFC">
              <a:alpha val="12000"/>
            </a:srgbClr>
          </a:solidFill>
          <a:ln/>
        </p:spPr>
      </p:sp>
      <p:sp>
        <p:nvSpPr>
          <p:cNvPr id="6" name="Shape 4"/>
          <p:cNvSpPr/>
          <p:nvPr/>
        </p:nvSpPr>
        <p:spPr>
          <a:xfrm>
            <a:off x="10308031" y="4572000"/>
            <a:ext cx="274320" cy="274320"/>
          </a:xfrm>
          <a:prstGeom prst="rect">
            <a:avLst/>
          </a:prstGeom>
          <a:solidFill>
            <a:srgbClr val="CADCFC">
              <a:alpha val="12000"/>
            </a:srgbClr>
          </a:solidFill>
          <a:ln/>
        </p:spPr>
      </p:sp>
      <p:sp>
        <p:nvSpPr>
          <p:cNvPr id="7" name="Shape 5"/>
          <p:cNvSpPr/>
          <p:nvPr/>
        </p:nvSpPr>
        <p:spPr>
          <a:xfrm>
            <a:off x="10637215" y="4572000"/>
            <a:ext cx="274320" cy="274320"/>
          </a:xfrm>
          <a:prstGeom prst="rect">
            <a:avLst/>
          </a:prstGeom>
          <a:solidFill>
            <a:srgbClr val="CADCFC">
              <a:alpha val="12000"/>
            </a:srgbClr>
          </a:solidFill>
          <a:ln/>
        </p:spPr>
      </p:sp>
      <p:sp>
        <p:nvSpPr>
          <p:cNvPr id="8" name="Shape 6"/>
          <p:cNvSpPr/>
          <p:nvPr/>
        </p:nvSpPr>
        <p:spPr>
          <a:xfrm>
            <a:off x="10966399" y="4572000"/>
            <a:ext cx="274320" cy="274320"/>
          </a:xfrm>
          <a:prstGeom prst="rect">
            <a:avLst/>
          </a:prstGeom>
          <a:solidFill>
            <a:srgbClr val="CADCFC">
              <a:alpha val="12000"/>
            </a:srgbClr>
          </a:solidFill>
          <a:ln/>
        </p:spPr>
      </p:sp>
      <p:sp>
        <p:nvSpPr>
          <p:cNvPr id="9" name="Shape 7"/>
          <p:cNvSpPr/>
          <p:nvPr/>
        </p:nvSpPr>
        <p:spPr>
          <a:xfrm>
            <a:off x="11295583" y="4572000"/>
            <a:ext cx="274320" cy="274320"/>
          </a:xfrm>
          <a:prstGeom prst="rect">
            <a:avLst/>
          </a:prstGeom>
          <a:solidFill>
            <a:srgbClr val="CADCFC">
              <a:alpha val="12000"/>
            </a:srgbClr>
          </a:solidFill>
          <a:ln/>
        </p:spPr>
      </p:sp>
      <p:sp>
        <p:nvSpPr>
          <p:cNvPr id="10" name="Shape 8"/>
          <p:cNvSpPr/>
          <p:nvPr/>
        </p:nvSpPr>
        <p:spPr>
          <a:xfrm>
            <a:off x="8991295" y="4901184"/>
            <a:ext cx="274320" cy="274320"/>
          </a:xfrm>
          <a:prstGeom prst="rect">
            <a:avLst/>
          </a:prstGeom>
          <a:solidFill>
            <a:srgbClr val="CADCFC">
              <a:alpha val="12000"/>
            </a:srgbClr>
          </a:solidFill>
          <a:ln/>
        </p:spPr>
      </p:sp>
      <p:sp>
        <p:nvSpPr>
          <p:cNvPr id="11" name="Shape 9"/>
          <p:cNvSpPr/>
          <p:nvPr/>
        </p:nvSpPr>
        <p:spPr>
          <a:xfrm>
            <a:off x="9320479" y="4901184"/>
            <a:ext cx="274320" cy="274320"/>
          </a:xfrm>
          <a:prstGeom prst="rect">
            <a:avLst/>
          </a:prstGeom>
          <a:solidFill>
            <a:srgbClr val="CADCFC">
              <a:alpha val="12000"/>
            </a:srgbClr>
          </a:solidFill>
          <a:ln/>
        </p:spPr>
      </p:sp>
      <p:sp>
        <p:nvSpPr>
          <p:cNvPr id="12" name="Shape 10"/>
          <p:cNvSpPr/>
          <p:nvPr/>
        </p:nvSpPr>
        <p:spPr>
          <a:xfrm>
            <a:off x="9649663" y="4901184"/>
            <a:ext cx="274320" cy="274320"/>
          </a:xfrm>
          <a:prstGeom prst="rect">
            <a:avLst/>
          </a:prstGeom>
          <a:solidFill>
            <a:srgbClr val="CADCFC">
              <a:alpha val="12000"/>
            </a:srgbClr>
          </a:solidFill>
          <a:ln/>
        </p:spPr>
      </p:sp>
      <p:sp>
        <p:nvSpPr>
          <p:cNvPr id="13" name="Shape 11"/>
          <p:cNvSpPr/>
          <p:nvPr/>
        </p:nvSpPr>
        <p:spPr>
          <a:xfrm>
            <a:off x="9978847" y="4901184"/>
            <a:ext cx="274320" cy="274320"/>
          </a:xfrm>
          <a:prstGeom prst="rect">
            <a:avLst/>
          </a:prstGeom>
          <a:solidFill>
            <a:srgbClr val="FFD479"/>
          </a:solidFill>
          <a:ln/>
        </p:spPr>
      </p:sp>
      <p:sp>
        <p:nvSpPr>
          <p:cNvPr id="14" name="Shape 12"/>
          <p:cNvSpPr/>
          <p:nvPr/>
        </p:nvSpPr>
        <p:spPr>
          <a:xfrm>
            <a:off x="10308031" y="4901184"/>
            <a:ext cx="274320" cy="274320"/>
          </a:xfrm>
          <a:prstGeom prst="rect">
            <a:avLst/>
          </a:prstGeom>
          <a:solidFill>
            <a:srgbClr val="CADCFC">
              <a:alpha val="12000"/>
            </a:srgbClr>
          </a:solidFill>
          <a:ln/>
        </p:spPr>
      </p:sp>
      <p:sp>
        <p:nvSpPr>
          <p:cNvPr id="15" name="Shape 13"/>
          <p:cNvSpPr/>
          <p:nvPr/>
        </p:nvSpPr>
        <p:spPr>
          <a:xfrm>
            <a:off x="10637215" y="4901184"/>
            <a:ext cx="274320" cy="274320"/>
          </a:xfrm>
          <a:prstGeom prst="rect">
            <a:avLst/>
          </a:prstGeom>
          <a:solidFill>
            <a:srgbClr val="CADCFC">
              <a:alpha val="12000"/>
            </a:srgbClr>
          </a:solidFill>
          <a:ln/>
        </p:spPr>
      </p:sp>
      <p:sp>
        <p:nvSpPr>
          <p:cNvPr id="16" name="Shape 14"/>
          <p:cNvSpPr/>
          <p:nvPr/>
        </p:nvSpPr>
        <p:spPr>
          <a:xfrm>
            <a:off x="10966399" y="4901184"/>
            <a:ext cx="274320" cy="274320"/>
          </a:xfrm>
          <a:prstGeom prst="rect">
            <a:avLst/>
          </a:prstGeom>
          <a:solidFill>
            <a:srgbClr val="CADCFC">
              <a:alpha val="12000"/>
            </a:srgbClr>
          </a:solidFill>
          <a:ln/>
        </p:spPr>
      </p:sp>
      <p:sp>
        <p:nvSpPr>
          <p:cNvPr id="17" name="Shape 15"/>
          <p:cNvSpPr/>
          <p:nvPr/>
        </p:nvSpPr>
        <p:spPr>
          <a:xfrm>
            <a:off x="11295583" y="4901184"/>
            <a:ext cx="274320" cy="274320"/>
          </a:xfrm>
          <a:prstGeom prst="rect">
            <a:avLst/>
          </a:prstGeom>
          <a:solidFill>
            <a:srgbClr val="CADCFC">
              <a:alpha val="12000"/>
            </a:srgbClr>
          </a:solidFill>
          <a:ln/>
        </p:spPr>
      </p:sp>
      <p:sp>
        <p:nvSpPr>
          <p:cNvPr id="18" name="Shape 16"/>
          <p:cNvSpPr/>
          <p:nvPr/>
        </p:nvSpPr>
        <p:spPr>
          <a:xfrm>
            <a:off x="8991295" y="5230368"/>
            <a:ext cx="274320" cy="274320"/>
          </a:xfrm>
          <a:prstGeom prst="rect">
            <a:avLst/>
          </a:prstGeom>
          <a:solidFill>
            <a:srgbClr val="CADCFC">
              <a:alpha val="12000"/>
            </a:srgbClr>
          </a:solidFill>
          <a:ln/>
        </p:spPr>
      </p:sp>
      <p:sp>
        <p:nvSpPr>
          <p:cNvPr id="19" name="Shape 17"/>
          <p:cNvSpPr/>
          <p:nvPr/>
        </p:nvSpPr>
        <p:spPr>
          <a:xfrm>
            <a:off x="9320479" y="5230368"/>
            <a:ext cx="274320" cy="274320"/>
          </a:xfrm>
          <a:prstGeom prst="rect">
            <a:avLst/>
          </a:prstGeom>
          <a:solidFill>
            <a:srgbClr val="CADCFC">
              <a:alpha val="12000"/>
            </a:srgbClr>
          </a:solidFill>
          <a:ln/>
        </p:spPr>
      </p:sp>
      <p:sp>
        <p:nvSpPr>
          <p:cNvPr id="20" name="Shape 18"/>
          <p:cNvSpPr/>
          <p:nvPr/>
        </p:nvSpPr>
        <p:spPr>
          <a:xfrm>
            <a:off x="9649663" y="5230368"/>
            <a:ext cx="274320" cy="274320"/>
          </a:xfrm>
          <a:prstGeom prst="rect">
            <a:avLst/>
          </a:prstGeom>
          <a:solidFill>
            <a:srgbClr val="CADCFC">
              <a:alpha val="12000"/>
            </a:srgbClr>
          </a:solidFill>
          <a:ln/>
        </p:spPr>
      </p:sp>
      <p:sp>
        <p:nvSpPr>
          <p:cNvPr id="21" name="Shape 19"/>
          <p:cNvSpPr/>
          <p:nvPr/>
        </p:nvSpPr>
        <p:spPr>
          <a:xfrm>
            <a:off x="9978847" y="5230368"/>
            <a:ext cx="274320" cy="274320"/>
          </a:xfrm>
          <a:prstGeom prst="rect">
            <a:avLst/>
          </a:prstGeom>
          <a:solidFill>
            <a:srgbClr val="CADCFC">
              <a:alpha val="12000"/>
            </a:srgbClr>
          </a:solidFill>
          <a:ln/>
        </p:spPr>
      </p:sp>
      <p:sp>
        <p:nvSpPr>
          <p:cNvPr id="22" name="Shape 20"/>
          <p:cNvSpPr/>
          <p:nvPr/>
        </p:nvSpPr>
        <p:spPr>
          <a:xfrm>
            <a:off x="10308031" y="5230368"/>
            <a:ext cx="274320" cy="274320"/>
          </a:xfrm>
          <a:prstGeom prst="rect">
            <a:avLst/>
          </a:prstGeom>
          <a:solidFill>
            <a:srgbClr val="CADCFC">
              <a:alpha val="12000"/>
            </a:srgbClr>
          </a:solidFill>
          <a:ln/>
        </p:spPr>
      </p:sp>
      <p:sp>
        <p:nvSpPr>
          <p:cNvPr id="23" name="Shape 21"/>
          <p:cNvSpPr/>
          <p:nvPr/>
        </p:nvSpPr>
        <p:spPr>
          <a:xfrm>
            <a:off x="10637215" y="5230368"/>
            <a:ext cx="274320" cy="274320"/>
          </a:xfrm>
          <a:prstGeom prst="rect">
            <a:avLst/>
          </a:prstGeom>
          <a:solidFill>
            <a:srgbClr val="CADCFC">
              <a:alpha val="12000"/>
            </a:srgbClr>
          </a:solidFill>
          <a:ln/>
        </p:spPr>
      </p:sp>
      <p:sp>
        <p:nvSpPr>
          <p:cNvPr id="24" name="Shape 22"/>
          <p:cNvSpPr/>
          <p:nvPr/>
        </p:nvSpPr>
        <p:spPr>
          <a:xfrm>
            <a:off x="10966399" y="5230368"/>
            <a:ext cx="274320" cy="274320"/>
          </a:xfrm>
          <a:prstGeom prst="rect">
            <a:avLst/>
          </a:prstGeom>
          <a:solidFill>
            <a:srgbClr val="CADCFC">
              <a:alpha val="12000"/>
            </a:srgbClr>
          </a:solidFill>
          <a:ln/>
        </p:spPr>
      </p:sp>
      <p:sp>
        <p:nvSpPr>
          <p:cNvPr id="25" name="Shape 23"/>
          <p:cNvSpPr/>
          <p:nvPr/>
        </p:nvSpPr>
        <p:spPr>
          <a:xfrm>
            <a:off x="11295583" y="5230368"/>
            <a:ext cx="274320" cy="274320"/>
          </a:xfrm>
          <a:prstGeom prst="rect">
            <a:avLst/>
          </a:prstGeom>
          <a:solidFill>
            <a:srgbClr val="CADCFC">
              <a:alpha val="12000"/>
            </a:srgbClr>
          </a:solidFill>
          <a:ln/>
        </p:spPr>
      </p:sp>
      <p:sp>
        <p:nvSpPr>
          <p:cNvPr id="26" name="Shape 24"/>
          <p:cNvSpPr/>
          <p:nvPr/>
        </p:nvSpPr>
        <p:spPr>
          <a:xfrm>
            <a:off x="8991295" y="5559552"/>
            <a:ext cx="274320" cy="274320"/>
          </a:xfrm>
          <a:prstGeom prst="rect">
            <a:avLst/>
          </a:prstGeom>
          <a:solidFill>
            <a:srgbClr val="CADCFC">
              <a:alpha val="12000"/>
            </a:srgbClr>
          </a:solidFill>
          <a:ln/>
        </p:spPr>
      </p:sp>
      <p:sp>
        <p:nvSpPr>
          <p:cNvPr id="27" name="Shape 25"/>
          <p:cNvSpPr/>
          <p:nvPr/>
        </p:nvSpPr>
        <p:spPr>
          <a:xfrm>
            <a:off x="9320479" y="5559552"/>
            <a:ext cx="274320" cy="274320"/>
          </a:xfrm>
          <a:prstGeom prst="rect">
            <a:avLst/>
          </a:prstGeom>
          <a:solidFill>
            <a:srgbClr val="CADCFC">
              <a:alpha val="12000"/>
            </a:srgbClr>
          </a:solidFill>
          <a:ln/>
        </p:spPr>
      </p:sp>
      <p:sp>
        <p:nvSpPr>
          <p:cNvPr id="28" name="Shape 26"/>
          <p:cNvSpPr/>
          <p:nvPr/>
        </p:nvSpPr>
        <p:spPr>
          <a:xfrm>
            <a:off x="9649663" y="5559552"/>
            <a:ext cx="274320" cy="274320"/>
          </a:xfrm>
          <a:prstGeom prst="rect">
            <a:avLst/>
          </a:prstGeom>
          <a:solidFill>
            <a:srgbClr val="CADCFC">
              <a:alpha val="12000"/>
            </a:srgbClr>
          </a:solidFill>
          <a:ln/>
        </p:spPr>
      </p:sp>
      <p:sp>
        <p:nvSpPr>
          <p:cNvPr id="29" name="Shape 27"/>
          <p:cNvSpPr/>
          <p:nvPr/>
        </p:nvSpPr>
        <p:spPr>
          <a:xfrm>
            <a:off x="9978847" y="5559552"/>
            <a:ext cx="274320" cy="274320"/>
          </a:xfrm>
          <a:prstGeom prst="rect">
            <a:avLst/>
          </a:prstGeom>
          <a:solidFill>
            <a:srgbClr val="CADCFC">
              <a:alpha val="12000"/>
            </a:srgbClr>
          </a:solidFill>
          <a:ln/>
        </p:spPr>
      </p:sp>
      <p:sp>
        <p:nvSpPr>
          <p:cNvPr id="30" name="Shape 28"/>
          <p:cNvSpPr/>
          <p:nvPr/>
        </p:nvSpPr>
        <p:spPr>
          <a:xfrm>
            <a:off x="10308031" y="5559552"/>
            <a:ext cx="274320" cy="274320"/>
          </a:xfrm>
          <a:prstGeom prst="rect">
            <a:avLst/>
          </a:prstGeom>
          <a:solidFill>
            <a:srgbClr val="CADCFC">
              <a:alpha val="12000"/>
            </a:srgbClr>
          </a:solidFill>
          <a:ln/>
        </p:spPr>
      </p:sp>
      <p:sp>
        <p:nvSpPr>
          <p:cNvPr id="31" name="Shape 29"/>
          <p:cNvSpPr/>
          <p:nvPr/>
        </p:nvSpPr>
        <p:spPr>
          <a:xfrm>
            <a:off x="10637215" y="5559552"/>
            <a:ext cx="274320" cy="274320"/>
          </a:xfrm>
          <a:prstGeom prst="rect">
            <a:avLst/>
          </a:prstGeom>
          <a:solidFill>
            <a:srgbClr val="CADCFC">
              <a:alpha val="12000"/>
            </a:srgbClr>
          </a:solidFill>
          <a:ln/>
        </p:spPr>
      </p:sp>
      <p:sp>
        <p:nvSpPr>
          <p:cNvPr id="32" name="Shape 30"/>
          <p:cNvSpPr/>
          <p:nvPr/>
        </p:nvSpPr>
        <p:spPr>
          <a:xfrm>
            <a:off x="10966399" y="5559552"/>
            <a:ext cx="274320" cy="274320"/>
          </a:xfrm>
          <a:prstGeom prst="rect">
            <a:avLst/>
          </a:prstGeom>
          <a:solidFill>
            <a:srgbClr val="2F5FAE"/>
          </a:solidFill>
          <a:ln/>
        </p:spPr>
      </p:sp>
      <p:sp>
        <p:nvSpPr>
          <p:cNvPr id="33" name="Shape 31"/>
          <p:cNvSpPr/>
          <p:nvPr/>
        </p:nvSpPr>
        <p:spPr>
          <a:xfrm>
            <a:off x="11295583" y="5559552"/>
            <a:ext cx="274320" cy="274320"/>
          </a:xfrm>
          <a:prstGeom prst="rect">
            <a:avLst/>
          </a:prstGeom>
          <a:solidFill>
            <a:srgbClr val="CADCFC">
              <a:alpha val="12000"/>
            </a:srgbClr>
          </a:solidFill>
          <a:ln/>
        </p:spPr>
      </p:sp>
      <p:sp>
        <p:nvSpPr>
          <p:cNvPr id="34" name="Shape 32"/>
          <p:cNvSpPr/>
          <p:nvPr/>
        </p:nvSpPr>
        <p:spPr>
          <a:xfrm>
            <a:off x="8991295" y="5888736"/>
            <a:ext cx="274320" cy="274320"/>
          </a:xfrm>
          <a:prstGeom prst="rect">
            <a:avLst/>
          </a:prstGeom>
          <a:solidFill>
            <a:srgbClr val="CADCFC">
              <a:alpha val="12000"/>
            </a:srgbClr>
          </a:solidFill>
          <a:ln/>
        </p:spPr>
      </p:sp>
      <p:sp>
        <p:nvSpPr>
          <p:cNvPr id="35" name="Shape 33"/>
          <p:cNvSpPr/>
          <p:nvPr/>
        </p:nvSpPr>
        <p:spPr>
          <a:xfrm>
            <a:off x="9320479" y="5888736"/>
            <a:ext cx="274320" cy="274320"/>
          </a:xfrm>
          <a:prstGeom prst="rect">
            <a:avLst/>
          </a:prstGeom>
          <a:solidFill>
            <a:srgbClr val="CADCFC">
              <a:alpha val="12000"/>
            </a:srgbClr>
          </a:solidFill>
          <a:ln/>
        </p:spPr>
      </p:sp>
      <p:sp>
        <p:nvSpPr>
          <p:cNvPr id="36" name="Shape 34"/>
          <p:cNvSpPr/>
          <p:nvPr/>
        </p:nvSpPr>
        <p:spPr>
          <a:xfrm>
            <a:off x="9649663" y="5888736"/>
            <a:ext cx="274320" cy="274320"/>
          </a:xfrm>
          <a:prstGeom prst="rect">
            <a:avLst/>
          </a:prstGeom>
          <a:solidFill>
            <a:srgbClr val="CADCFC">
              <a:alpha val="12000"/>
            </a:srgbClr>
          </a:solidFill>
          <a:ln/>
        </p:spPr>
      </p:sp>
      <p:sp>
        <p:nvSpPr>
          <p:cNvPr id="37" name="Shape 35"/>
          <p:cNvSpPr/>
          <p:nvPr/>
        </p:nvSpPr>
        <p:spPr>
          <a:xfrm>
            <a:off x="9978847" y="5888736"/>
            <a:ext cx="274320" cy="274320"/>
          </a:xfrm>
          <a:prstGeom prst="rect">
            <a:avLst/>
          </a:prstGeom>
          <a:solidFill>
            <a:srgbClr val="CADCFC">
              <a:alpha val="12000"/>
            </a:srgbClr>
          </a:solidFill>
          <a:ln/>
        </p:spPr>
      </p:sp>
      <p:sp>
        <p:nvSpPr>
          <p:cNvPr id="38" name="Shape 36"/>
          <p:cNvSpPr/>
          <p:nvPr/>
        </p:nvSpPr>
        <p:spPr>
          <a:xfrm>
            <a:off x="10308031" y="5888736"/>
            <a:ext cx="274320" cy="274320"/>
          </a:xfrm>
          <a:prstGeom prst="rect">
            <a:avLst/>
          </a:prstGeom>
          <a:solidFill>
            <a:srgbClr val="CADCFC">
              <a:alpha val="12000"/>
            </a:srgbClr>
          </a:solidFill>
          <a:ln/>
        </p:spPr>
      </p:sp>
      <p:sp>
        <p:nvSpPr>
          <p:cNvPr id="39" name="Shape 37"/>
          <p:cNvSpPr/>
          <p:nvPr/>
        </p:nvSpPr>
        <p:spPr>
          <a:xfrm>
            <a:off x="10637215" y="5888736"/>
            <a:ext cx="274320" cy="274320"/>
          </a:xfrm>
          <a:prstGeom prst="rect">
            <a:avLst/>
          </a:prstGeom>
          <a:solidFill>
            <a:srgbClr val="CADCFC">
              <a:alpha val="12000"/>
            </a:srgbClr>
          </a:solidFill>
          <a:ln/>
        </p:spPr>
      </p:sp>
      <p:sp>
        <p:nvSpPr>
          <p:cNvPr id="40" name="Shape 38"/>
          <p:cNvSpPr/>
          <p:nvPr/>
        </p:nvSpPr>
        <p:spPr>
          <a:xfrm>
            <a:off x="10966399" y="5888736"/>
            <a:ext cx="274320" cy="274320"/>
          </a:xfrm>
          <a:prstGeom prst="rect">
            <a:avLst/>
          </a:prstGeom>
          <a:solidFill>
            <a:srgbClr val="CADCFC">
              <a:alpha val="12000"/>
            </a:srgbClr>
          </a:solidFill>
          <a:ln/>
        </p:spPr>
      </p:sp>
      <p:sp>
        <p:nvSpPr>
          <p:cNvPr id="41" name="Shape 39"/>
          <p:cNvSpPr/>
          <p:nvPr/>
        </p:nvSpPr>
        <p:spPr>
          <a:xfrm>
            <a:off x="11295583" y="5888736"/>
            <a:ext cx="274320" cy="274320"/>
          </a:xfrm>
          <a:prstGeom prst="rect">
            <a:avLst/>
          </a:prstGeom>
          <a:solidFill>
            <a:srgbClr val="2F5FAE"/>
          </a:solidFill>
          <a:ln/>
        </p:spPr>
      </p:sp>
      <p:sp>
        <p:nvSpPr>
          <p:cNvPr id="42" name="Text 40"/>
          <p:cNvSpPr txBox="1"/>
          <p:nvPr/>
        </p:nvSpPr>
        <p:spPr>
          <a:xfrm>
            <a:off x="640080" y="1874520"/>
            <a:ext cx="1828800" cy="1280160"/>
          </a:xfrm>
          <a:prstGeom prst="rect">
            <a:avLst/>
          </a:prstGeom>
          <a:noFill/>
          <a:ln/>
        </p:spPr>
        <p:txBody>
          <a:bodyPr wrap="square" lIns="0" tIns="0" rIns="0" bIns="0" rtlCol="0" anchor="ctr"/>
          <a:lstStyle/>
          <a:p>
            <a:pPr indent="0" marL="0">
              <a:buNone/>
            </a:pPr>
            <a:r>
              <a:rPr lang="en-US" sz="6400" b="1" dirty="0">
                <a:solidFill>
                  <a:srgbClr val="FFD479"/>
                </a:solidFill>
                <a:latin typeface="Meiryo" pitchFamily="34" charset="0"/>
                <a:ea typeface="Meiryo" pitchFamily="34" charset="-122"/>
                <a:cs typeface="Meiryo" pitchFamily="34" charset="-120"/>
              </a:rPr>
              <a:t>1</a:t>
            </a:r>
            <a:endParaRPr lang="en-US" sz="6400" dirty="0"/>
          </a:p>
        </p:txBody>
      </p:sp>
      <p:sp>
        <p:nvSpPr>
          <p:cNvPr id="43" name="Text 41"/>
          <p:cNvSpPr txBox="1"/>
          <p:nvPr/>
        </p:nvSpPr>
        <p:spPr>
          <a:xfrm>
            <a:off x="2011680" y="2084832"/>
            <a:ext cx="5486400" cy="365760"/>
          </a:xfrm>
          <a:prstGeom prst="rect">
            <a:avLst/>
          </a:prstGeom>
          <a:noFill/>
          <a:ln/>
        </p:spPr>
        <p:txBody>
          <a:bodyPr wrap="square" lIns="0" tIns="0" rIns="0" bIns="0" rtlCol="0" anchor="ctr"/>
          <a:lstStyle/>
          <a:p>
            <a:pPr indent="0" marL="0">
              <a:buNone/>
            </a:pPr>
            <a:r>
              <a:rPr lang="en-US" sz="1200" b="1" spc="160" kern="0" dirty="0">
                <a:solidFill>
                  <a:srgbClr val="CADCFC"/>
                </a:solidFill>
                <a:latin typeface="Meiryo" pitchFamily="34" charset="0"/>
                <a:ea typeface="Meiryo" pitchFamily="34" charset="-122"/>
                <a:cs typeface="Meiryo" pitchFamily="34" charset="-120"/>
              </a:rPr>
              <a:t>CURRENT STATE</a:t>
            </a:r>
            <a:endParaRPr lang="en-US" sz="1200" dirty="0"/>
          </a:p>
        </p:txBody>
      </p:sp>
      <p:sp>
        <p:nvSpPr>
          <p:cNvPr id="44" name="Text 42"/>
          <p:cNvSpPr txBox="1"/>
          <p:nvPr/>
        </p:nvSpPr>
        <p:spPr>
          <a:xfrm>
            <a:off x="1965960" y="2395728"/>
            <a:ext cx="7315200" cy="731520"/>
          </a:xfrm>
          <a:prstGeom prst="rect">
            <a:avLst/>
          </a:prstGeom>
          <a:noFill/>
          <a:ln/>
        </p:spPr>
        <p:txBody>
          <a:bodyPr wrap="square" lIns="0" tIns="0" rIns="0" bIns="0" rtlCol="0" anchor="ctr"/>
          <a:lstStyle/>
          <a:p>
            <a:pPr indent="0" marL="0">
              <a:buNone/>
            </a:pPr>
            <a:r>
              <a:rPr lang="en-US" sz="3400" b="1" dirty="0">
                <a:solidFill>
                  <a:srgbClr val="FFFFFF"/>
                </a:solidFill>
                <a:latin typeface="Meiryo" pitchFamily="34" charset="0"/>
                <a:ea typeface="Meiryo" pitchFamily="34" charset="-122"/>
                <a:cs typeface="Meiryo" pitchFamily="34" charset="-120"/>
              </a:rPr>
              <a:t>現状</a:t>
            </a:r>
            <a:endParaRPr lang="en-US" sz="3400" dirty="0"/>
          </a:p>
        </p:txBody>
      </p:sp>
      <p:sp>
        <p:nvSpPr>
          <p:cNvPr id="45" name="Text 43"/>
          <p:cNvSpPr txBox="1"/>
          <p:nvPr/>
        </p:nvSpPr>
        <p:spPr>
          <a:xfrm>
            <a:off x="2011680" y="3246120"/>
            <a:ext cx="7680960" cy="548640"/>
          </a:xfrm>
          <a:prstGeom prst="rect">
            <a:avLst/>
          </a:prstGeom>
          <a:noFill/>
          <a:ln/>
        </p:spPr>
        <p:txBody>
          <a:bodyPr wrap="square" lIns="0" tIns="0" rIns="0" bIns="0" rtlCol="0" anchor="ctr"/>
          <a:lstStyle/>
          <a:p>
            <a:pPr indent="0" marL="0">
              <a:lnSpc>
                <a:spcPts val="2000"/>
              </a:lnSpc>
              <a:buNone/>
            </a:pPr>
            <a:r>
              <a:rPr lang="en-US" sz="1300" dirty="0">
                <a:solidFill>
                  <a:srgbClr val="CADCFC"/>
                </a:solidFill>
                <a:latin typeface="Meiryo" pitchFamily="34" charset="0"/>
                <a:ea typeface="Meiryo" pitchFamily="34" charset="-122"/>
                <a:cs typeface="Meiryo" pitchFamily="34" charset="-120"/>
              </a:rPr>
              <a:t>何がどこまで出来ていて、何が足りていないのか</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146304" cy="146304"/>
          </a:xfrm>
          <a:prstGeom prst="rect">
            <a:avLst/>
          </a:prstGeom>
          <a:solidFill>
            <a:srgbClr val="2F5FAE"/>
          </a:solidFill>
          <a:ln/>
        </p:spPr>
      </p:sp>
      <p:sp>
        <p:nvSpPr>
          <p:cNvPr id="3" name="Text 1"/>
          <p:cNvSpPr txBox="1"/>
          <p:nvPr/>
        </p:nvSpPr>
        <p:spPr>
          <a:xfrm>
            <a:off x="896112" y="402336"/>
            <a:ext cx="8229600" cy="292608"/>
          </a:xfrm>
          <a:prstGeom prst="rect">
            <a:avLst/>
          </a:prstGeom>
          <a:noFill/>
          <a:ln/>
        </p:spPr>
        <p:txBody>
          <a:bodyPr wrap="square" lIns="0" tIns="0" rIns="0" bIns="0" rtlCol="0" anchor="ctr"/>
          <a:lstStyle/>
          <a:p>
            <a:pPr indent="0" marL="0">
              <a:buNone/>
            </a:pPr>
            <a:r>
              <a:rPr lang="en-US" sz="1200" b="1" spc="140" kern="0" dirty="0">
                <a:solidFill>
                  <a:srgbClr val="2F5FAE"/>
                </a:solidFill>
                <a:latin typeface="Meiryo" pitchFamily="34" charset="0"/>
                <a:ea typeface="Meiryo" pitchFamily="34" charset="-122"/>
                <a:cs typeface="Meiryo" pitchFamily="34" charset="-120"/>
              </a:rPr>
              <a:t>1-1  現状</a:t>
            </a:r>
            <a:endParaRPr lang="en-US" sz="1200" dirty="0"/>
          </a:p>
        </p:txBody>
      </p:sp>
      <p:sp>
        <p:nvSpPr>
          <p:cNvPr id="4" name="Text 2"/>
          <p:cNvSpPr txBox="1"/>
          <p:nvPr/>
        </p:nvSpPr>
        <p:spPr>
          <a:xfrm>
            <a:off x="640080" y="749808"/>
            <a:ext cx="10911535" cy="658368"/>
          </a:xfrm>
          <a:prstGeom prst="rect">
            <a:avLst/>
          </a:prstGeom>
          <a:noFill/>
          <a:ln/>
        </p:spPr>
        <p:txBody>
          <a:bodyPr wrap="square" lIns="0" tIns="0" rIns="0" bIns="0" rtlCol="0" anchor="ctr"/>
          <a:lstStyle/>
          <a:p>
            <a:pPr indent="0" marL="0">
              <a:buNone/>
            </a:pPr>
            <a:r>
              <a:rPr lang="en-US" sz="3000" b="1" dirty="0">
                <a:solidFill>
                  <a:srgbClr val="1A1A2E"/>
                </a:solidFill>
                <a:latin typeface="Meiryo" pitchFamily="34" charset="0"/>
                <a:ea typeface="Meiryo" pitchFamily="34" charset="-122"/>
                <a:cs typeface="Meiryo" pitchFamily="34" charset="-120"/>
              </a:rPr>
              <a:t>開発実績 ─ 1 か月でここまで出来ている</a:t>
            </a:r>
            <a:endParaRPr lang="en-US" sz="3000" dirty="0"/>
          </a:p>
        </p:txBody>
      </p:sp>
      <p:sp>
        <p:nvSpPr>
          <p:cNvPr id="5" name="Shape 3"/>
          <p:cNvSpPr/>
          <p:nvPr/>
        </p:nvSpPr>
        <p:spPr>
          <a:xfrm>
            <a:off x="640080" y="1627632"/>
            <a:ext cx="3515258" cy="1325880"/>
          </a:xfrm>
          <a:prstGeom prst="roundRect">
            <a:avLst>
              <a:gd name="adj" fmla="val 5517"/>
            </a:avLst>
          </a:prstGeom>
          <a:solidFill>
            <a:srgbClr val="F2F4F8"/>
          </a:solidFill>
          <a:ln/>
          <a:effectLst>
            <a:outerShdw sx="100000" sy="100000" kx="0" ky="0" algn="bl" rotWithShape="0" blurRad="101600" dist="12700" dir="5400000">
              <a:srgbClr val="9AA1B4">
                <a:alpha val="18000"/>
              </a:srgbClr>
            </a:outerShdw>
          </a:effectLst>
        </p:spPr>
      </p:sp>
      <p:sp>
        <p:nvSpPr>
          <p:cNvPr id="6" name="Text 4"/>
          <p:cNvSpPr txBox="1"/>
          <p:nvPr/>
        </p:nvSpPr>
        <p:spPr>
          <a:xfrm>
            <a:off x="896112" y="1865376"/>
            <a:ext cx="3058058" cy="566928"/>
          </a:xfrm>
          <a:prstGeom prst="rect">
            <a:avLst/>
          </a:prstGeom>
          <a:noFill/>
          <a:ln/>
        </p:spPr>
        <p:txBody>
          <a:bodyPr wrap="square" lIns="0" tIns="0" rIns="0" bIns="0" rtlCol="0" anchor="ctr"/>
          <a:lstStyle/>
          <a:p>
            <a:pPr indent="0" marL="0">
              <a:buNone/>
            </a:pPr>
            <a:r>
              <a:rPr lang="en-US" sz="3000" b="1" dirty="0">
                <a:solidFill>
                  <a:srgbClr val="2F5FAE"/>
                </a:solidFill>
                <a:latin typeface="Meiryo" pitchFamily="34" charset="0"/>
                <a:ea typeface="Meiryo" pitchFamily="34" charset="-122"/>
                <a:cs typeface="Meiryo" pitchFamily="34" charset="-120"/>
              </a:rPr>
              <a:t>約 1 か月</a:t>
            </a:r>
            <a:endParaRPr lang="en-US" sz="3000" dirty="0"/>
          </a:p>
        </p:txBody>
      </p:sp>
      <p:sp>
        <p:nvSpPr>
          <p:cNvPr id="7" name="Text 5"/>
          <p:cNvSpPr txBox="1"/>
          <p:nvPr/>
        </p:nvSpPr>
        <p:spPr>
          <a:xfrm>
            <a:off x="896112" y="2487168"/>
            <a:ext cx="3058058" cy="329184"/>
          </a:xfrm>
          <a:prstGeom prst="rect">
            <a:avLst/>
          </a:prstGeom>
          <a:noFill/>
          <a:ln/>
        </p:spPr>
        <p:txBody>
          <a:bodyPr wrap="square" lIns="0" tIns="0" rIns="0" bIns="0" rtlCol="0" anchor="ctr"/>
          <a:lstStyle/>
          <a:p>
            <a:pPr indent="0" marL="0">
              <a:buNone/>
            </a:pPr>
            <a:r>
              <a:rPr lang="en-US" sz="1150" dirty="0">
                <a:solidFill>
                  <a:srgbClr val="767B91"/>
                </a:solidFill>
                <a:latin typeface="Meiryo" pitchFamily="34" charset="0"/>
                <a:ea typeface="Meiryo" pitchFamily="34" charset="-122"/>
                <a:cs typeface="Meiryo" pitchFamily="34" charset="-120"/>
              </a:rPr>
              <a:t>開発期間(117 コミット)</a:t>
            </a:r>
            <a:endParaRPr lang="en-US" sz="1150" dirty="0"/>
          </a:p>
        </p:txBody>
      </p:sp>
      <p:sp>
        <p:nvSpPr>
          <p:cNvPr id="8" name="Shape 6"/>
          <p:cNvSpPr/>
          <p:nvPr/>
        </p:nvSpPr>
        <p:spPr>
          <a:xfrm>
            <a:off x="4338218" y="1627632"/>
            <a:ext cx="3515258" cy="1325880"/>
          </a:xfrm>
          <a:prstGeom prst="roundRect">
            <a:avLst>
              <a:gd name="adj" fmla="val 5517"/>
            </a:avLst>
          </a:prstGeom>
          <a:solidFill>
            <a:srgbClr val="F2F4F8"/>
          </a:solidFill>
          <a:ln/>
          <a:effectLst>
            <a:outerShdw sx="100000" sy="100000" kx="0" ky="0" algn="bl" rotWithShape="0" blurRad="101600" dist="12700" dir="5400000">
              <a:srgbClr val="9AA1B4">
                <a:alpha val="18000"/>
              </a:srgbClr>
            </a:outerShdw>
          </a:effectLst>
        </p:spPr>
      </p:sp>
      <p:sp>
        <p:nvSpPr>
          <p:cNvPr id="9" name="Text 7"/>
          <p:cNvSpPr txBox="1"/>
          <p:nvPr/>
        </p:nvSpPr>
        <p:spPr>
          <a:xfrm>
            <a:off x="4594250" y="1865376"/>
            <a:ext cx="3058058" cy="566928"/>
          </a:xfrm>
          <a:prstGeom prst="rect">
            <a:avLst/>
          </a:prstGeom>
          <a:noFill/>
          <a:ln/>
        </p:spPr>
        <p:txBody>
          <a:bodyPr wrap="square" lIns="0" tIns="0" rIns="0" bIns="0" rtlCol="0" anchor="ctr"/>
          <a:lstStyle/>
          <a:p>
            <a:pPr indent="0" marL="0">
              <a:buNone/>
            </a:pPr>
            <a:r>
              <a:rPr lang="en-US" sz="3000" b="1" dirty="0">
                <a:solidFill>
                  <a:srgbClr val="2F5FAE"/>
                </a:solidFill>
                <a:latin typeface="Meiryo" pitchFamily="34" charset="0"/>
                <a:ea typeface="Meiryo" pitchFamily="34" charset="-122"/>
                <a:cs typeface="Meiryo" pitchFamily="34" charset="-120"/>
              </a:rPr>
              <a:t>1,076</a:t>
            </a:r>
            <a:endParaRPr lang="en-US" sz="3000" dirty="0"/>
          </a:p>
        </p:txBody>
      </p:sp>
      <p:sp>
        <p:nvSpPr>
          <p:cNvPr id="10" name="Text 8"/>
          <p:cNvSpPr txBox="1"/>
          <p:nvPr/>
        </p:nvSpPr>
        <p:spPr>
          <a:xfrm>
            <a:off x="4594250" y="2487168"/>
            <a:ext cx="3058058" cy="329184"/>
          </a:xfrm>
          <a:prstGeom prst="rect">
            <a:avLst/>
          </a:prstGeom>
          <a:noFill/>
          <a:ln/>
        </p:spPr>
        <p:txBody>
          <a:bodyPr wrap="square" lIns="0" tIns="0" rIns="0" bIns="0" rtlCol="0" anchor="ctr"/>
          <a:lstStyle/>
          <a:p>
            <a:pPr indent="0" marL="0">
              <a:buNone/>
            </a:pPr>
            <a:r>
              <a:rPr lang="en-US" sz="1150" dirty="0">
                <a:solidFill>
                  <a:srgbClr val="767B91"/>
                </a:solidFill>
                <a:latin typeface="Meiryo" pitchFamily="34" charset="0"/>
                <a:ea typeface="Meiryo" pitchFamily="34" charset="-122"/>
                <a:cs typeface="Meiryo" pitchFamily="34" charset="-120"/>
              </a:rPr>
              <a:t>自動テストのケース数</a:t>
            </a:r>
            <a:endParaRPr lang="en-US" sz="1150" dirty="0"/>
          </a:p>
        </p:txBody>
      </p:sp>
      <p:sp>
        <p:nvSpPr>
          <p:cNvPr id="11" name="Shape 9"/>
          <p:cNvSpPr/>
          <p:nvPr/>
        </p:nvSpPr>
        <p:spPr>
          <a:xfrm>
            <a:off x="8036357" y="1627632"/>
            <a:ext cx="3515258" cy="1325880"/>
          </a:xfrm>
          <a:prstGeom prst="roundRect">
            <a:avLst>
              <a:gd name="adj" fmla="val 5517"/>
            </a:avLst>
          </a:prstGeom>
          <a:solidFill>
            <a:srgbClr val="F2F4F8"/>
          </a:solidFill>
          <a:ln/>
          <a:effectLst>
            <a:outerShdw sx="100000" sy="100000" kx="0" ky="0" algn="bl" rotWithShape="0" blurRad="101600" dist="12700" dir="5400000">
              <a:srgbClr val="9AA1B4">
                <a:alpha val="18000"/>
              </a:srgbClr>
            </a:outerShdw>
          </a:effectLst>
        </p:spPr>
      </p:sp>
      <p:sp>
        <p:nvSpPr>
          <p:cNvPr id="12" name="Text 10"/>
          <p:cNvSpPr txBox="1"/>
          <p:nvPr/>
        </p:nvSpPr>
        <p:spPr>
          <a:xfrm>
            <a:off x="8292389" y="1865376"/>
            <a:ext cx="3058058" cy="566928"/>
          </a:xfrm>
          <a:prstGeom prst="rect">
            <a:avLst/>
          </a:prstGeom>
          <a:noFill/>
          <a:ln/>
        </p:spPr>
        <p:txBody>
          <a:bodyPr wrap="square" lIns="0" tIns="0" rIns="0" bIns="0" rtlCol="0" anchor="ctr"/>
          <a:lstStyle/>
          <a:p>
            <a:pPr indent="0" marL="0">
              <a:buNone/>
            </a:pPr>
            <a:r>
              <a:rPr lang="en-US" sz="3000" b="1" dirty="0">
                <a:solidFill>
                  <a:srgbClr val="2F5FAE"/>
                </a:solidFill>
                <a:latin typeface="Meiryo" pitchFamily="34" charset="0"/>
                <a:ea typeface="Meiryo" pitchFamily="34" charset="-122"/>
                <a:cs typeface="Meiryo" pitchFamily="34" charset="-120"/>
              </a:rPr>
              <a:t>22 種</a:t>
            </a:r>
            <a:endParaRPr lang="en-US" sz="3000" dirty="0"/>
          </a:p>
        </p:txBody>
      </p:sp>
      <p:sp>
        <p:nvSpPr>
          <p:cNvPr id="13" name="Text 11"/>
          <p:cNvSpPr txBox="1"/>
          <p:nvPr/>
        </p:nvSpPr>
        <p:spPr>
          <a:xfrm>
            <a:off x="8292389" y="2487168"/>
            <a:ext cx="3058058" cy="329184"/>
          </a:xfrm>
          <a:prstGeom prst="rect">
            <a:avLst/>
          </a:prstGeom>
          <a:noFill/>
          <a:ln/>
        </p:spPr>
        <p:txBody>
          <a:bodyPr wrap="square" lIns="0" tIns="0" rIns="0" bIns="0" rtlCol="0" anchor="ctr"/>
          <a:lstStyle/>
          <a:p>
            <a:pPr indent="0" marL="0">
              <a:buNone/>
            </a:pPr>
            <a:r>
              <a:rPr lang="en-US" sz="1150" dirty="0">
                <a:solidFill>
                  <a:srgbClr val="767B91"/>
                </a:solidFill>
                <a:latin typeface="Meiryo" pitchFamily="34" charset="0"/>
                <a:ea typeface="Meiryo" pitchFamily="34" charset="-122"/>
                <a:cs typeface="Meiryo" pitchFamily="34" charset="-120"/>
              </a:rPr>
              <a:t>ユニット種別</a:t>
            </a:r>
            <a:endParaRPr lang="en-US" sz="1150" dirty="0"/>
          </a:p>
        </p:txBody>
      </p:sp>
      <p:sp>
        <p:nvSpPr>
          <p:cNvPr id="14" name="Shape 12"/>
          <p:cNvSpPr/>
          <p:nvPr/>
        </p:nvSpPr>
        <p:spPr>
          <a:xfrm>
            <a:off x="640080" y="3191256"/>
            <a:ext cx="3515258" cy="1325880"/>
          </a:xfrm>
          <a:prstGeom prst="roundRect">
            <a:avLst>
              <a:gd name="adj" fmla="val 5517"/>
            </a:avLst>
          </a:prstGeom>
          <a:solidFill>
            <a:srgbClr val="F2F4F8"/>
          </a:solidFill>
          <a:ln/>
          <a:effectLst>
            <a:outerShdw sx="100000" sy="100000" kx="0" ky="0" algn="bl" rotWithShape="0" blurRad="101600" dist="12700" dir="5400000">
              <a:srgbClr val="9AA1B4">
                <a:alpha val="18000"/>
              </a:srgbClr>
            </a:outerShdw>
          </a:effectLst>
        </p:spPr>
      </p:sp>
      <p:sp>
        <p:nvSpPr>
          <p:cNvPr id="15" name="Text 13"/>
          <p:cNvSpPr txBox="1"/>
          <p:nvPr/>
        </p:nvSpPr>
        <p:spPr>
          <a:xfrm>
            <a:off x="896112" y="3429000"/>
            <a:ext cx="3058058" cy="566928"/>
          </a:xfrm>
          <a:prstGeom prst="rect">
            <a:avLst/>
          </a:prstGeom>
          <a:noFill/>
          <a:ln/>
        </p:spPr>
        <p:txBody>
          <a:bodyPr wrap="square" lIns="0" tIns="0" rIns="0" bIns="0" rtlCol="0" anchor="ctr"/>
          <a:lstStyle/>
          <a:p>
            <a:pPr indent="0" marL="0">
              <a:buNone/>
            </a:pPr>
            <a:r>
              <a:rPr lang="en-US" sz="3000" b="1" dirty="0">
                <a:solidFill>
                  <a:srgbClr val="2F5FAE"/>
                </a:solidFill>
                <a:latin typeface="Meiryo" pitchFamily="34" charset="0"/>
                <a:ea typeface="Meiryo" pitchFamily="34" charset="-122"/>
                <a:cs typeface="Meiryo" pitchFamily="34" charset="-120"/>
              </a:rPr>
              <a:t>15 種</a:t>
            </a:r>
            <a:endParaRPr lang="en-US" sz="3000" dirty="0"/>
          </a:p>
        </p:txBody>
      </p:sp>
      <p:sp>
        <p:nvSpPr>
          <p:cNvPr id="16" name="Text 14"/>
          <p:cNvSpPr txBox="1"/>
          <p:nvPr/>
        </p:nvSpPr>
        <p:spPr>
          <a:xfrm>
            <a:off x="896112" y="4050792"/>
            <a:ext cx="3058058" cy="329184"/>
          </a:xfrm>
          <a:prstGeom prst="rect">
            <a:avLst/>
          </a:prstGeom>
          <a:noFill/>
          <a:ln/>
        </p:spPr>
        <p:txBody>
          <a:bodyPr wrap="square" lIns="0" tIns="0" rIns="0" bIns="0" rtlCol="0" anchor="ctr"/>
          <a:lstStyle/>
          <a:p>
            <a:pPr indent="0" marL="0">
              <a:buNone/>
            </a:pPr>
            <a:r>
              <a:rPr lang="en-US" sz="1150" dirty="0">
                <a:solidFill>
                  <a:srgbClr val="767B91"/>
                </a:solidFill>
                <a:latin typeface="Meiryo" pitchFamily="34" charset="0"/>
                <a:ea typeface="Meiryo" pitchFamily="34" charset="-122"/>
                <a:cs typeface="Meiryo" pitchFamily="34" charset="-120"/>
              </a:rPr>
              <a:t>地形種別</a:t>
            </a:r>
            <a:endParaRPr lang="en-US" sz="1150" dirty="0"/>
          </a:p>
        </p:txBody>
      </p:sp>
      <p:sp>
        <p:nvSpPr>
          <p:cNvPr id="17" name="Shape 15"/>
          <p:cNvSpPr/>
          <p:nvPr/>
        </p:nvSpPr>
        <p:spPr>
          <a:xfrm>
            <a:off x="4338218" y="3191256"/>
            <a:ext cx="3515258" cy="1325880"/>
          </a:xfrm>
          <a:prstGeom prst="roundRect">
            <a:avLst>
              <a:gd name="adj" fmla="val 5517"/>
            </a:avLst>
          </a:prstGeom>
          <a:solidFill>
            <a:srgbClr val="F2F4F8"/>
          </a:solidFill>
          <a:ln/>
          <a:effectLst>
            <a:outerShdw sx="100000" sy="100000" kx="0" ky="0" algn="bl" rotWithShape="0" blurRad="101600" dist="12700" dir="5400000">
              <a:srgbClr val="9AA1B4">
                <a:alpha val="18000"/>
              </a:srgbClr>
            </a:outerShdw>
          </a:effectLst>
        </p:spPr>
      </p:sp>
      <p:sp>
        <p:nvSpPr>
          <p:cNvPr id="18" name="Text 16"/>
          <p:cNvSpPr txBox="1"/>
          <p:nvPr/>
        </p:nvSpPr>
        <p:spPr>
          <a:xfrm>
            <a:off x="4594250" y="3429000"/>
            <a:ext cx="3058058" cy="566928"/>
          </a:xfrm>
          <a:prstGeom prst="rect">
            <a:avLst/>
          </a:prstGeom>
          <a:noFill/>
          <a:ln/>
        </p:spPr>
        <p:txBody>
          <a:bodyPr wrap="square" lIns="0" tIns="0" rIns="0" bIns="0" rtlCol="0" anchor="ctr"/>
          <a:lstStyle/>
          <a:p>
            <a:pPr indent="0" marL="0">
              <a:buNone/>
            </a:pPr>
            <a:r>
              <a:rPr lang="en-US" sz="3000" b="1" dirty="0">
                <a:solidFill>
                  <a:srgbClr val="2F5FAE"/>
                </a:solidFill>
                <a:latin typeface="Meiryo" pitchFamily="34" charset="0"/>
                <a:ea typeface="Meiryo" pitchFamily="34" charset="-122"/>
                <a:cs typeface="Meiryo" pitchFamily="34" charset="-120"/>
              </a:rPr>
              <a:t>15 枚</a:t>
            </a:r>
            <a:endParaRPr lang="en-US" sz="3000" dirty="0"/>
          </a:p>
        </p:txBody>
      </p:sp>
      <p:sp>
        <p:nvSpPr>
          <p:cNvPr id="19" name="Text 17"/>
          <p:cNvSpPr txBox="1"/>
          <p:nvPr/>
        </p:nvSpPr>
        <p:spPr>
          <a:xfrm>
            <a:off x="4594250" y="4050792"/>
            <a:ext cx="3058058" cy="329184"/>
          </a:xfrm>
          <a:prstGeom prst="rect">
            <a:avLst/>
          </a:prstGeom>
          <a:noFill/>
          <a:ln/>
        </p:spPr>
        <p:txBody>
          <a:bodyPr wrap="square" lIns="0" tIns="0" rIns="0" bIns="0" rtlCol="0" anchor="ctr"/>
          <a:lstStyle/>
          <a:p>
            <a:pPr indent="0" marL="0">
              <a:buNone/>
            </a:pPr>
            <a:r>
              <a:rPr lang="en-US" sz="1150" dirty="0">
                <a:solidFill>
                  <a:srgbClr val="767B91"/>
                </a:solidFill>
                <a:latin typeface="Meiryo" pitchFamily="34" charset="0"/>
                <a:ea typeface="Meiryo" pitchFamily="34" charset="-122"/>
                <a:cs typeface="Meiryo" pitchFamily="34" charset="-120"/>
              </a:rPr>
              <a:t>マップ(製品版は 14 枚)</a:t>
            </a:r>
            <a:endParaRPr lang="en-US" sz="1150" dirty="0"/>
          </a:p>
        </p:txBody>
      </p:sp>
      <p:sp>
        <p:nvSpPr>
          <p:cNvPr id="20" name="Shape 18"/>
          <p:cNvSpPr/>
          <p:nvPr/>
        </p:nvSpPr>
        <p:spPr>
          <a:xfrm>
            <a:off x="8036357" y="3191256"/>
            <a:ext cx="3515258" cy="1325880"/>
          </a:xfrm>
          <a:prstGeom prst="roundRect">
            <a:avLst>
              <a:gd name="adj" fmla="val 5517"/>
            </a:avLst>
          </a:prstGeom>
          <a:solidFill>
            <a:srgbClr val="F2F4F8"/>
          </a:solidFill>
          <a:ln/>
          <a:effectLst>
            <a:outerShdw sx="100000" sy="100000" kx="0" ky="0" algn="bl" rotWithShape="0" blurRad="101600" dist="12700" dir="5400000">
              <a:srgbClr val="9AA1B4">
                <a:alpha val="18000"/>
              </a:srgbClr>
            </a:outerShdw>
          </a:effectLst>
        </p:spPr>
      </p:sp>
      <p:sp>
        <p:nvSpPr>
          <p:cNvPr id="21" name="Text 19"/>
          <p:cNvSpPr txBox="1"/>
          <p:nvPr/>
        </p:nvSpPr>
        <p:spPr>
          <a:xfrm>
            <a:off x="8292389" y="3429000"/>
            <a:ext cx="3058058" cy="566928"/>
          </a:xfrm>
          <a:prstGeom prst="rect">
            <a:avLst/>
          </a:prstGeom>
          <a:noFill/>
          <a:ln/>
        </p:spPr>
        <p:txBody>
          <a:bodyPr wrap="square" lIns="0" tIns="0" rIns="0" bIns="0" rtlCol="0" anchor="ctr"/>
          <a:lstStyle/>
          <a:p>
            <a:pPr indent="0" marL="0">
              <a:buNone/>
            </a:pPr>
            <a:r>
              <a:rPr lang="en-US" sz="3000" b="1" dirty="0">
                <a:solidFill>
                  <a:srgbClr val="2F5FAE"/>
                </a:solidFill>
                <a:latin typeface="Meiryo" pitchFamily="34" charset="0"/>
                <a:ea typeface="Meiryo" pitchFamily="34" charset="-122"/>
                <a:cs typeface="Meiryo" pitchFamily="34" charset="-120"/>
              </a:rPr>
              <a:t>5 人</a:t>
            </a:r>
            <a:endParaRPr lang="en-US" sz="3000" dirty="0"/>
          </a:p>
        </p:txBody>
      </p:sp>
      <p:sp>
        <p:nvSpPr>
          <p:cNvPr id="22" name="Text 20"/>
          <p:cNvSpPr txBox="1"/>
          <p:nvPr/>
        </p:nvSpPr>
        <p:spPr>
          <a:xfrm>
            <a:off x="8292389" y="4050792"/>
            <a:ext cx="3058058" cy="329184"/>
          </a:xfrm>
          <a:prstGeom prst="rect">
            <a:avLst/>
          </a:prstGeom>
          <a:noFill/>
          <a:ln/>
        </p:spPr>
        <p:txBody>
          <a:bodyPr wrap="square" lIns="0" tIns="0" rIns="0" bIns="0" rtlCol="0" anchor="ctr"/>
          <a:lstStyle/>
          <a:p>
            <a:pPr indent="0" marL="0">
              <a:buNone/>
            </a:pPr>
            <a:r>
              <a:rPr lang="en-US" sz="1150" dirty="0">
                <a:solidFill>
                  <a:srgbClr val="767B91"/>
                </a:solidFill>
                <a:latin typeface="Meiryo" pitchFamily="34" charset="0"/>
                <a:ea typeface="Meiryo" pitchFamily="34" charset="-122"/>
                <a:cs typeface="Meiryo" pitchFamily="34" charset="-120"/>
              </a:rPr>
              <a:t>CPU 指揮官(思考パターン)</a:t>
            </a:r>
            <a:endParaRPr lang="en-US" sz="1150" dirty="0"/>
          </a:p>
        </p:txBody>
      </p:sp>
      <p:sp>
        <p:nvSpPr>
          <p:cNvPr id="23" name="Shape 21"/>
          <p:cNvSpPr/>
          <p:nvPr/>
        </p:nvSpPr>
        <p:spPr>
          <a:xfrm>
            <a:off x="640080" y="4754880"/>
            <a:ext cx="10911535" cy="1325880"/>
          </a:xfrm>
          <a:prstGeom prst="roundRect">
            <a:avLst>
              <a:gd name="adj" fmla="val 4138"/>
            </a:avLst>
          </a:prstGeom>
          <a:solidFill>
            <a:srgbClr val="1A1A2E"/>
          </a:solidFill>
          <a:ln/>
        </p:spPr>
      </p:sp>
      <p:sp>
        <p:nvSpPr>
          <p:cNvPr id="24" name="Text 22"/>
          <p:cNvSpPr txBox="1"/>
          <p:nvPr/>
        </p:nvSpPr>
        <p:spPr>
          <a:xfrm>
            <a:off x="1005840" y="5010912"/>
            <a:ext cx="5120640" cy="365760"/>
          </a:xfrm>
          <a:prstGeom prst="rect">
            <a:avLst/>
          </a:prstGeom>
          <a:noFill/>
          <a:ln/>
        </p:spPr>
        <p:txBody>
          <a:bodyPr wrap="square" lIns="0" tIns="0" rIns="0" bIns="0" rtlCol="0" anchor="ctr"/>
          <a:lstStyle/>
          <a:p>
            <a:pPr indent="0" marL="0">
              <a:buNone/>
            </a:pPr>
            <a:r>
              <a:rPr lang="en-US" sz="1500" b="1" dirty="0">
                <a:solidFill>
                  <a:srgbClr val="FFD479"/>
                </a:solidFill>
                <a:latin typeface="Meiryo" pitchFamily="34" charset="0"/>
                <a:ea typeface="Meiryo" pitchFamily="34" charset="-122"/>
                <a:cs typeface="Meiryo" pitchFamily="34" charset="-120"/>
              </a:rPr>
              <a:t>実装 約 23,700 行 / テスト 約 18,000 行</a:t>
            </a:r>
            <a:endParaRPr lang="en-US" sz="1500" dirty="0"/>
          </a:p>
        </p:txBody>
      </p:sp>
      <p:sp>
        <p:nvSpPr>
          <p:cNvPr id="25" name="Text 23"/>
          <p:cNvSpPr txBox="1"/>
          <p:nvPr/>
        </p:nvSpPr>
        <p:spPr>
          <a:xfrm>
            <a:off x="1005840" y="5440680"/>
            <a:ext cx="10180015" cy="548640"/>
          </a:xfrm>
          <a:prstGeom prst="rect">
            <a:avLst/>
          </a:prstGeom>
          <a:noFill/>
          <a:ln/>
        </p:spPr>
        <p:txBody>
          <a:bodyPr wrap="square" lIns="0" tIns="0" rIns="0" bIns="0" rtlCol="0" anchor="ctr"/>
          <a:lstStyle/>
          <a:p>
            <a:pPr indent="0" marL="0">
              <a:lnSpc>
                <a:spcPts val="1800"/>
              </a:lnSpc>
              <a:buNone/>
            </a:pPr>
            <a:r>
              <a:rPr lang="en-US" sz="1150" dirty="0">
                <a:solidFill>
                  <a:srgbClr val="CADCFC"/>
                </a:solidFill>
                <a:latin typeface="Meiryo" pitchFamily="34" charset="0"/>
                <a:ea typeface="Meiryo" pitchFamily="34" charset="-122"/>
                <a:cs typeface="Meiryo" pitchFamily="34" charset="-120"/>
              </a:rPr>
              <a:t>ゲームロジックを描画から切り離し、自動テストで固めながら進めてきたため、</a:t>
            </a:r>
            <a:endParaRPr lang="en-US" sz="1150" dirty="0"/>
          </a:p>
          <a:p>
            <a:pPr indent="0" marL="0">
              <a:lnSpc>
                <a:spcPts val="1800"/>
              </a:lnSpc>
              <a:buNone/>
            </a:pPr>
            <a:r>
              <a:rPr lang="en-US" sz="1150" dirty="0">
                <a:solidFill>
                  <a:srgbClr val="CADCFC"/>
                </a:solidFill>
                <a:latin typeface="Meiryo" pitchFamily="34" charset="0"/>
                <a:ea typeface="Meiryo" pitchFamily="34" charset="-122"/>
                <a:cs typeface="Meiryo" pitchFamily="34" charset="-120"/>
              </a:rPr>
              <a:t>バランス調整やマップ追加のたびに手動確認をやり直さずに済む。商用化フェーズでも効く。</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146304" cy="146304"/>
          </a:xfrm>
          <a:prstGeom prst="rect">
            <a:avLst/>
          </a:prstGeom>
          <a:solidFill>
            <a:srgbClr val="2F5FAE"/>
          </a:solidFill>
          <a:ln/>
        </p:spPr>
      </p:sp>
      <p:sp>
        <p:nvSpPr>
          <p:cNvPr id="3" name="Text 1"/>
          <p:cNvSpPr txBox="1"/>
          <p:nvPr/>
        </p:nvSpPr>
        <p:spPr>
          <a:xfrm>
            <a:off x="896112" y="402336"/>
            <a:ext cx="8229600" cy="292608"/>
          </a:xfrm>
          <a:prstGeom prst="rect">
            <a:avLst/>
          </a:prstGeom>
          <a:noFill/>
          <a:ln/>
        </p:spPr>
        <p:txBody>
          <a:bodyPr wrap="square" lIns="0" tIns="0" rIns="0" bIns="0" rtlCol="0" anchor="ctr"/>
          <a:lstStyle/>
          <a:p>
            <a:pPr indent="0" marL="0">
              <a:buNone/>
            </a:pPr>
            <a:r>
              <a:rPr lang="en-US" sz="1200" b="1" spc="140" kern="0" dirty="0">
                <a:solidFill>
                  <a:srgbClr val="2F5FAE"/>
                </a:solidFill>
                <a:latin typeface="Meiryo" pitchFamily="34" charset="0"/>
                <a:ea typeface="Meiryo" pitchFamily="34" charset="-122"/>
                <a:cs typeface="Meiryo" pitchFamily="34" charset="-120"/>
              </a:rPr>
              <a:t>1-2  現状</a:t>
            </a:r>
            <a:endParaRPr lang="en-US" sz="1200" dirty="0"/>
          </a:p>
        </p:txBody>
      </p:sp>
      <p:sp>
        <p:nvSpPr>
          <p:cNvPr id="4" name="Text 2"/>
          <p:cNvSpPr txBox="1"/>
          <p:nvPr/>
        </p:nvSpPr>
        <p:spPr>
          <a:xfrm>
            <a:off x="640080" y="749808"/>
            <a:ext cx="10911535" cy="658368"/>
          </a:xfrm>
          <a:prstGeom prst="rect">
            <a:avLst/>
          </a:prstGeom>
          <a:noFill/>
          <a:ln/>
        </p:spPr>
        <p:txBody>
          <a:bodyPr wrap="square" lIns="0" tIns="0" rIns="0" bIns="0" rtlCol="0" anchor="ctr"/>
          <a:lstStyle/>
          <a:p>
            <a:pPr indent="0" marL="0">
              <a:buNone/>
            </a:pPr>
            <a:r>
              <a:rPr lang="en-US" sz="3000" b="1" dirty="0">
                <a:solidFill>
                  <a:srgbClr val="1A1A2E"/>
                </a:solidFill>
                <a:latin typeface="Meiryo" pitchFamily="34" charset="0"/>
                <a:ea typeface="Meiryo" pitchFamily="34" charset="-122"/>
                <a:cs typeface="Meiryo" pitchFamily="34" charset="-120"/>
              </a:rPr>
              <a:t>実装済みの機能 ─ ゲームとしては完成している</a:t>
            </a:r>
            <a:endParaRPr lang="en-US" sz="3000" dirty="0"/>
          </a:p>
        </p:txBody>
      </p:sp>
      <p:sp>
        <p:nvSpPr>
          <p:cNvPr id="5" name="Shape 3"/>
          <p:cNvSpPr/>
          <p:nvPr/>
        </p:nvSpPr>
        <p:spPr>
          <a:xfrm>
            <a:off x="640080" y="1572768"/>
            <a:ext cx="3484778" cy="4315968"/>
          </a:xfrm>
          <a:prstGeom prst="roundRect">
            <a:avLst>
              <a:gd name="adj" fmla="val 2099"/>
            </a:avLst>
          </a:prstGeom>
          <a:solidFill>
            <a:srgbClr val="F2F4F8"/>
          </a:solidFill>
          <a:ln/>
          <a:effectLst>
            <a:outerShdw sx="100000" sy="100000" kx="0" ky="0" algn="bl" rotWithShape="0" blurRad="101600" dist="12700" dir="5400000">
              <a:srgbClr val="9AA1B4">
                <a:alpha val="18000"/>
              </a:srgbClr>
            </a:outerShdw>
          </a:effectLst>
        </p:spPr>
      </p:sp>
      <p:sp>
        <p:nvSpPr>
          <p:cNvPr id="6" name="Shape 4"/>
          <p:cNvSpPr/>
          <p:nvPr/>
        </p:nvSpPr>
        <p:spPr>
          <a:xfrm>
            <a:off x="914400" y="1883664"/>
            <a:ext cx="128016" cy="128016"/>
          </a:xfrm>
          <a:prstGeom prst="rect">
            <a:avLst/>
          </a:prstGeom>
          <a:solidFill>
            <a:srgbClr val="2F5FAE"/>
          </a:solidFill>
          <a:ln/>
        </p:spPr>
      </p:sp>
      <p:sp>
        <p:nvSpPr>
          <p:cNvPr id="7" name="Text 5"/>
          <p:cNvSpPr txBox="1"/>
          <p:nvPr/>
        </p:nvSpPr>
        <p:spPr>
          <a:xfrm>
            <a:off x="1152144" y="1783080"/>
            <a:ext cx="2753258" cy="365760"/>
          </a:xfrm>
          <a:prstGeom prst="rect">
            <a:avLst/>
          </a:prstGeom>
          <a:noFill/>
          <a:ln/>
        </p:spPr>
        <p:txBody>
          <a:bodyPr wrap="square" lIns="0" tIns="0" rIns="0" bIns="0" rtlCol="0" anchor="ctr"/>
          <a:lstStyle/>
          <a:p>
            <a:pPr indent="0" marL="0">
              <a:buNone/>
            </a:pPr>
            <a:r>
              <a:rPr lang="en-US" sz="1700" b="1" dirty="0">
                <a:solidFill>
                  <a:srgbClr val="2F5FAE"/>
                </a:solidFill>
                <a:latin typeface="Meiryo" pitchFamily="34" charset="0"/>
                <a:ea typeface="Meiryo" pitchFamily="34" charset="-122"/>
                <a:cs typeface="Meiryo" pitchFamily="34" charset="-120"/>
              </a:rPr>
              <a:t>コアループ</a:t>
            </a:r>
            <a:endParaRPr lang="en-US" sz="1700" dirty="0"/>
          </a:p>
        </p:txBody>
      </p:sp>
      <p:sp>
        <p:nvSpPr>
          <p:cNvPr id="8" name="Text 6"/>
          <p:cNvSpPr txBox="1"/>
          <p:nvPr/>
        </p:nvSpPr>
        <p:spPr>
          <a:xfrm>
            <a:off x="932688" y="2377440"/>
            <a:ext cx="2917850" cy="3383280"/>
          </a:xfrm>
          <a:prstGeom prst="rect">
            <a:avLst/>
          </a:prstGeom>
          <a:noFill/>
          <a:ln/>
        </p:spPr>
        <p:txBody>
          <a:bodyPr wrap="square" lIns="0" tIns="0" rIns="0" bIns="0" rtlCol="0" anchor="t"/>
          <a:lstStyle/>
          <a:p>
            <a:pPr marL="342900" indent="-342900">
              <a:lnSpc>
                <a:spcPts val="2300"/>
              </a:lnSpc>
              <a:spcAft>
                <a:spcPts val="1300"/>
              </a:spcAft>
              <a:buSzPct val="100000"/>
              <a:buChar char="▪"/>
            </a:pPr>
            <a:r>
              <a:rPr lang="en-US" sz="1200" dirty="0">
                <a:solidFill>
                  <a:srgbClr val="3C4257"/>
                </a:solidFill>
                <a:latin typeface="Meiryo" pitchFamily="34" charset="0"/>
                <a:ea typeface="Meiryo" pitchFamily="34" charset="-122"/>
                <a:cs typeface="Meiryo" pitchFamily="34" charset="-120"/>
              </a:rPr>
              <a:t>移動(地形コスト・範囲計算)</a:t>
            </a:r>
            <a:endParaRPr lang="en-US" sz="1200" dirty="0"/>
          </a:p>
          <a:p>
            <a:pPr marL="342900" indent="-342900">
              <a:lnSpc>
                <a:spcPts val="2300"/>
              </a:lnSpc>
              <a:spcAft>
                <a:spcPts val="1300"/>
              </a:spcAft>
              <a:buSzPct val="100000"/>
              <a:buChar char="▪"/>
            </a:pPr>
            <a:r>
              <a:rPr lang="en-US" sz="1200" dirty="0">
                <a:solidFill>
                  <a:srgbClr val="3C4257"/>
                </a:solidFill>
                <a:latin typeface="Meiryo" pitchFamily="34" charset="0"/>
                <a:ea typeface="Meiryo" pitchFamily="34" charset="-122"/>
                <a:cs typeface="Meiryo" pitchFamily="34" charset="-120"/>
              </a:rPr>
              <a:t>攻撃・反撃・戦闘予測</a:t>
            </a:r>
            <a:endParaRPr lang="en-US" sz="1200" dirty="0"/>
          </a:p>
          <a:p>
            <a:pPr marL="342900" indent="-342900">
              <a:lnSpc>
                <a:spcPts val="2300"/>
              </a:lnSpc>
              <a:spcAft>
                <a:spcPts val="1300"/>
              </a:spcAft>
              <a:buSzPct val="100000"/>
              <a:buChar char="▪"/>
            </a:pPr>
            <a:r>
              <a:rPr lang="en-US" sz="1200" dirty="0">
                <a:solidFill>
                  <a:srgbClr val="3C4257"/>
                </a:solidFill>
                <a:latin typeface="Meiryo" pitchFamily="34" charset="0"/>
                <a:ea typeface="Meiryo" pitchFamily="34" charset="-122"/>
                <a:cs typeface="Meiryo" pitchFamily="34" charset="-120"/>
              </a:rPr>
              <a:t>占領 / 収入 / 生産 / 修理</a:t>
            </a:r>
            <a:endParaRPr lang="en-US" sz="1200" dirty="0"/>
          </a:p>
          <a:p>
            <a:pPr marL="342900" indent="-342900">
              <a:lnSpc>
                <a:spcPts val="2300"/>
              </a:lnSpc>
              <a:spcAft>
                <a:spcPts val="1300"/>
              </a:spcAft>
              <a:buSzPct val="100000"/>
              <a:buChar char="▪"/>
            </a:pPr>
            <a:r>
              <a:rPr lang="en-US" sz="1200" dirty="0">
                <a:solidFill>
                  <a:srgbClr val="3C4257"/>
                </a:solidFill>
                <a:latin typeface="Meiryo" pitchFamily="34" charset="0"/>
                <a:ea typeface="Meiryo" pitchFamily="34" charset="-122"/>
                <a:cs typeface="Meiryo" pitchFamily="34" charset="-120"/>
              </a:rPr>
              <a:t>ターン管理・勝敗判定</a:t>
            </a:r>
            <a:endParaRPr lang="en-US" sz="1200" dirty="0"/>
          </a:p>
          <a:p>
            <a:pPr marL="342900" indent="-342900">
              <a:lnSpc>
                <a:spcPts val="2300"/>
              </a:lnSpc>
              <a:spcAft>
                <a:spcPts val="1300"/>
              </a:spcAft>
              <a:buSzPct val="100000"/>
              <a:buChar char="▪"/>
            </a:pPr>
            <a:r>
              <a:rPr lang="en-US" sz="1200" dirty="0">
                <a:solidFill>
                  <a:srgbClr val="3C4257"/>
                </a:solidFill>
                <a:latin typeface="Meiryo" pitchFamily="34" charset="0"/>
                <a:ea typeface="Meiryo" pitchFamily="34" charset="-122"/>
                <a:cs typeface="Meiryo" pitchFamily="34" charset="-120"/>
              </a:rPr>
              <a:t>敵 AI(指揮官別の思考パターン)</a:t>
            </a:r>
            <a:endParaRPr lang="en-US" sz="1200" dirty="0"/>
          </a:p>
        </p:txBody>
      </p:sp>
      <p:sp>
        <p:nvSpPr>
          <p:cNvPr id="9" name="Shape 7"/>
          <p:cNvSpPr/>
          <p:nvPr/>
        </p:nvSpPr>
        <p:spPr>
          <a:xfrm>
            <a:off x="4353458" y="1572768"/>
            <a:ext cx="3484778" cy="4315968"/>
          </a:xfrm>
          <a:prstGeom prst="roundRect">
            <a:avLst>
              <a:gd name="adj" fmla="val 2099"/>
            </a:avLst>
          </a:prstGeom>
          <a:solidFill>
            <a:srgbClr val="F2F4F8"/>
          </a:solidFill>
          <a:ln/>
          <a:effectLst>
            <a:outerShdw sx="100000" sy="100000" kx="0" ky="0" algn="bl" rotWithShape="0" blurRad="101600" dist="12700" dir="5400000">
              <a:srgbClr val="9AA1B4">
                <a:alpha val="18000"/>
              </a:srgbClr>
            </a:outerShdw>
          </a:effectLst>
        </p:spPr>
      </p:sp>
      <p:sp>
        <p:nvSpPr>
          <p:cNvPr id="10" name="Shape 8"/>
          <p:cNvSpPr/>
          <p:nvPr/>
        </p:nvSpPr>
        <p:spPr>
          <a:xfrm>
            <a:off x="4627778" y="1883664"/>
            <a:ext cx="128016" cy="128016"/>
          </a:xfrm>
          <a:prstGeom prst="rect">
            <a:avLst/>
          </a:prstGeom>
          <a:solidFill>
            <a:srgbClr val="9A6B12"/>
          </a:solidFill>
          <a:ln/>
        </p:spPr>
      </p:sp>
      <p:sp>
        <p:nvSpPr>
          <p:cNvPr id="11" name="Text 9"/>
          <p:cNvSpPr txBox="1"/>
          <p:nvPr/>
        </p:nvSpPr>
        <p:spPr>
          <a:xfrm>
            <a:off x="4865522" y="1783080"/>
            <a:ext cx="2753258" cy="365760"/>
          </a:xfrm>
          <a:prstGeom prst="rect">
            <a:avLst/>
          </a:prstGeom>
          <a:noFill/>
          <a:ln/>
        </p:spPr>
        <p:txBody>
          <a:bodyPr wrap="square" lIns="0" tIns="0" rIns="0" bIns="0" rtlCol="0" anchor="ctr"/>
          <a:lstStyle/>
          <a:p>
            <a:pPr indent="0" marL="0">
              <a:buNone/>
            </a:pPr>
            <a:r>
              <a:rPr lang="en-US" sz="1700" b="1" dirty="0">
                <a:solidFill>
                  <a:srgbClr val="9A6B12"/>
                </a:solidFill>
                <a:latin typeface="Meiryo" pitchFamily="34" charset="0"/>
                <a:ea typeface="Meiryo" pitchFamily="34" charset="-122"/>
                <a:cs typeface="Meiryo" pitchFamily="34" charset="-120"/>
              </a:rPr>
              <a:t>戦略の幅</a:t>
            </a:r>
            <a:endParaRPr lang="en-US" sz="1700" dirty="0"/>
          </a:p>
        </p:txBody>
      </p:sp>
      <p:sp>
        <p:nvSpPr>
          <p:cNvPr id="12" name="Text 10"/>
          <p:cNvSpPr txBox="1"/>
          <p:nvPr/>
        </p:nvSpPr>
        <p:spPr>
          <a:xfrm>
            <a:off x="4646066" y="2377440"/>
            <a:ext cx="2917850" cy="3383280"/>
          </a:xfrm>
          <a:prstGeom prst="rect">
            <a:avLst/>
          </a:prstGeom>
          <a:noFill/>
          <a:ln/>
        </p:spPr>
        <p:txBody>
          <a:bodyPr wrap="square" lIns="0" tIns="0" rIns="0" bIns="0" rtlCol="0" anchor="t"/>
          <a:lstStyle/>
          <a:p>
            <a:pPr marL="342900" indent="-342900">
              <a:lnSpc>
                <a:spcPts val="2300"/>
              </a:lnSpc>
              <a:spcAft>
                <a:spcPts val="1300"/>
              </a:spcAft>
              <a:buSzPct val="100000"/>
              <a:buChar char="▪"/>
            </a:pPr>
            <a:r>
              <a:rPr lang="en-US" sz="1200" dirty="0">
                <a:solidFill>
                  <a:srgbClr val="3C4257"/>
                </a:solidFill>
                <a:latin typeface="Meiryo" pitchFamily="34" charset="0"/>
                <a:ea typeface="Meiryo" pitchFamily="34" charset="-122"/>
                <a:cs typeface="Meiryo" pitchFamily="34" charset="-120"/>
              </a:rPr>
              <a:t>夜戦(視界制限・遭遇演出)</a:t>
            </a:r>
            <a:endParaRPr lang="en-US" sz="1200" dirty="0"/>
          </a:p>
          <a:p>
            <a:pPr marL="342900" indent="-342900">
              <a:lnSpc>
                <a:spcPts val="2300"/>
              </a:lnSpc>
              <a:spcAft>
                <a:spcPts val="1300"/>
              </a:spcAft>
              <a:buSzPct val="100000"/>
              <a:buChar char="▪"/>
            </a:pPr>
            <a:r>
              <a:rPr lang="en-US" sz="1200" dirty="0">
                <a:solidFill>
                  <a:srgbClr val="3C4257"/>
                </a:solidFill>
                <a:latin typeface="Meiryo" pitchFamily="34" charset="0"/>
                <a:ea typeface="Meiryo" pitchFamily="34" charset="-122"/>
                <a:cs typeface="Meiryo" pitchFamily="34" charset="-120"/>
              </a:rPr>
              <a:t>輸送・合流</a:t>
            </a:r>
            <a:endParaRPr lang="en-US" sz="1200" dirty="0"/>
          </a:p>
          <a:p>
            <a:pPr marL="342900" indent="-342900">
              <a:lnSpc>
                <a:spcPts val="2300"/>
              </a:lnSpc>
              <a:spcAft>
                <a:spcPts val="1300"/>
              </a:spcAft>
              <a:buSzPct val="100000"/>
              <a:buChar char="▪"/>
            </a:pPr>
            <a:r>
              <a:rPr lang="en-US" sz="1200" dirty="0">
                <a:solidFill>
                  <a:srgbClr val="3C4257"/>
                </a:solidFill>
                <a:latin typeface="Meiryo" pitchFamily="34" charset="0"/>
                <a:ea typeface="Meiryo" pitchFamily="34" charset="-122"/>
                <a:cs typeface="Meiryo" pitchFamily="34" charset="-120"/>
              </a:rPr>
              <a:t>研究所と新型戦車</a:t>
            </a:r>
            <a:endParaRPr lang="en-US" sz="1200" dirty="0"/>
          </a:p>
          <a:p>
            <a:pPr marL="342900" indent="-342900">
              <a:lnSpc>
                <a:spcPts val="2300"/>
              </a:lnSpc>
              <a:spcAft>
                <a:spcPts val="1300"/>
              </a:spcAft>
              <a:buSzPct val="100000"/>
              <a:buChar char="▪"/>
            </a:pPr>
            <a:r>
              <a:rPr lang="en-US" sz="1200" dirty="0">
                <a:solidFill>
                  <a:srgbClr val="3C4257"/>
                </a:solidFill>
                <a:latin typeface="Meiryo" pitchFamily="34" charset="0"/>
                <a:ea typeface="Meiryo" pitchFamily="34" charset="-122"/>
                <a:cs typeface="Meiryo" pitchFamily="34" charset="-120"/>
              </a:rPr>
              <a:t>駅と列車砲(長射程)</a:t>
            </a:r>
            <a:endParaRPr lang="en-US" sz="1200" dirty="0"/>
          </a:p>
          <a:p>
            <a:pPr marL="342900" indent="-342900">
              <a:lnSpc>
                <a:spcPts val="2300"/>
              </a:lnSpc>
              <a:spcAft>
                <a:spcPts val="1300"/>
              </a:spcAft>
              <a:buSzPct val="100000"/>
              <a:buChar char="▪"/>
            </a:pPr>
            <a:r>
              <a:rPr lang="en-US" sz="1200" dirty="0">
                <a:solidFill>
                  <a:srgbClr val="3C4257"/>
                </a:solidFill>
                <a:latin typeface="Meiryo" pitchFamily="34" charset="0"/>
                <a:ea typeface="Meiryo" pitchFamily="34" charset="-122"/>
                <a:cs typeface="Meiryo" pitchFamily="34" charset="-120"/>
              </a:rPr>
              <a:t>海戦・上陸戦・制空権</a:t>
            </a:r>
            <a:endParaRPr lang="en-US" sz="1200" dirty="0"/>
          </a:p>
          <a:p>
            <a:pPr marL="342900" indent="-342900">
              <a:lnSpc>
                <a:spcPts val="2300"/>
              </a:lnSpc>
              <a:spcAft>
                <a:spcPts val="1300"/>
              </a:spcAft>
              <a:buSzPct val="100000"/>
              <a:buChar char="▪"/>
            </a:pPr>
            <a:r>
              <a:rPr lang="en-US" sz="1200" dirty="0">
                <a:solidFill>
                  <a:srgbClr val="3C4257"/>
                </a:solidFill>
                <a:latin typeface="Meiryo" pitchFamily="34" charset="0"/>
                <a:ea typeface="Meiryo" pitchFamily="34" charset="-122"/>
                <a:cs typeface="Meiryo" pitchFamily="34" charset="-120"/>
              </a:rPr>
              <a:t>非対称マップ(意図的な劣勢)</a:t>
            </a:r>
            <a:endParaRPr lang="en-US" sz="1200" dirty="0"/>
          </a:p>
        </p:txBody>
      </p:sp>
      <p:sp>
        <p:nvSpPr>
          <p:cNvPr id="13" name="Shape 11"/>
          <p:cNvSpPr/>
          <p:nvPr/>
        </p:nvSpPr>
        <p:spPr>
          <a:xfrm>
            <a:off x="8066837" y="1572768"/>
            <a:ext cx="3484778" cy="4315968"/>
          </a:xfrm>
          <a:prstGeom prst="roundRect">
            <a:avLst>
              <a:gd name="adj" fmla="val 2099"/>
            </a:avLst>
          </a:prstGeom>
          <a:solidFill>
            <a:srgbClr val="F2F4F8"/>
          </a:solidFill>
          <a:ln/>
          <a:effectLst>
            <a:outerShdw sx="100000" sy="100000" kx="0" ky="0" algn="bl" rotWithShape="0" blurRad="101600" dist="12700" dir="5400000">
              <a:srgbClr val="9AA1B4">
                <a:alpha val="18000"/>
              </a:srgbClr>
            </a:outerShdw>
          </a:effectLst>
        </p:spPr>
      </p:sp>
      <p:sp>
        <p:nvSpPr>
          <p:cNvPr id="14" name="Shape 12"/>
          <p:cNvSpPr/>
          <p:nvPr/>
        </p:nvSpPr>
        <p:spPr>
          <a:xfrm>
            <a:off x="8341157" y="1883664"/>
            <a:ext cx="128016" cy="128016"/>
          </a:xfrm>
          <a:prstGeom prst="rect">
            <a:avLst/>
          </a:prstGeom>
          <a:solidFill>
            <a:srgbClr val="AE2F2F"/>
          </a:solidFill>
          <a:ln/>
        </p:spPr>
      </p:sp>
      <p:sp>
        <p:nvSpPr>
          <p:cNvPr id="15" name="Text 13"/>
          <p:cNvSpPr txBox="1"/>
          <p:nvPr/>
        </p:nvSpPr>
        <p:spPr>
          <a:xfrm>
            <a:off x="8578901" y="1783080"/>
            <a:ext cx="2753258" cy="365760"/>
          </a:xfrm>
          <a:prstGeom prst="rect">
            <a:avLst/>
          </a:prstGeom>
          <a:noFill/>
          <a:ln/>
        </p:spPr>
        <p:txBody>
          <a:bodyPr wrap="square" lIns="0" tIns="0" rIns="0" bIns="0" rtlCol="0" anchor="ctr"/>
          <a:lstStyle/>
          <a:p>
            <a:pPr indent="0" marL="0">
              <a:buNone/>
            </a:pPr>
            <a:r>
              <a:rPr lang="en-US" sz="1700" b="1" dirty="0">
                <a:solidFill>
                  <a:srgbClr val="AE2F2F"/>
                </a:solidFill>
                <a:latin typeface="Meiryo" pitchFamily="34" charset="0"/>
                <a:ea typeface="Meiryo" pitchFamily="34" charset="-122"/>
                <a:cs typeface="Meiryo" pitchFamily="34" charset="-120"/>
              </a:rPr>
              <a:t>プレイ体験</a:t>
            </a:r>
            <a:endParaRPr lang="en-US" sz="1700" dirty="0"/>
          </a:p>
        </p:txBody>
      </p:sp>
      <p:sp>
        <p:nvSpPr>
          <p:cNvPr id="16" name="Text 14"/>
          <p:cNvSpPr txBox="1"/>
          <p:nvPr/>
        </p:nvSpPr>
        <p:spPr>
          <a:xfrm>
            <a:off x="8359445" y="2377440"/>
            <a:ext cx="2917850" cy="3383280"/>
          </a:xfrm>
          <a:prstGeom prst="rect">
            <a:avLst/>
          </a:prstGeom>
          <a:noFill/>
          <a:ln/>
        </p:spPr>
        <p:txBody>
          <a:bodyPr wrap="square" lIns="0" tIns="0" rIns="0" bIns="0" rtlCol="0" anchor="t"/>
          <a:lstStyle/>
          <a:p>
            <a:pPr marL="342900" indent="-342900">
              <a:lnSpc>
                <a:spcPts val="2300"/>
              </a:lnSpc>
              <a:spcAft>
                <a:spcPts val="1300"/>
              </a:spcAft>
              <a:buSzPct val="100000"/>
              <a:buChar char="▪"/>
            </a:pPr>
            <a:r>
              <a:rPr lang="en-US" sz="1200" dirty="0">
                <a:solidFill>
                  <a:srgbClr val="3C4257"/>
                </a:solidFill>
                <a:latin typeface="Meiryo" pitchFamily="34" charset="0"/>
                <a:ea typeface="Meiryo" pitchFamily="34" charset="-122"/>
                <a:cs typeface="Meiryo" pitchFamily="34" charset="-120"/>
              </a:rPr>
              <a:t>モード選択(対人戦も可)</a:t>
            </a:r>
            <a:endParaRPr lang="en-US" sz="1200" dirty="0"/>
          </a:p>
          <a:p>
            <a:pPr marL="342900" indent="-342900">
              <a:lnSpc>
                <a:spcPts val="2300"/>
              </a:lnSpc>
              <a:spcAft>
                <a:spcPts val="1300"/>
              </a:spcAft>
              <a:buSzPct val="100000"/>
              <a:buChar char="▪"/>
            </a:pPr>
            <a:r>
              <a:rPr lang="en-US" sz="1200" dirty="0">
                <a:solidFill>
                  <a:srgbClr val="3C4257"/>
                </a:solidFill>
                <a:latin typeface="Meiryo" pitchFamily="34" charset="0"/>
                <a:ea typeface="Meiryo" pitchFamily="34" charset="-122"/>
                <a:cs typeface="Meiryo" pitchFamily="34" charset="-120"/>
              </a:rPr>
              <a:t>中断と再開</a:t>
            </a:r>
            <a:endParaRPr lang="en-US" sz="1200" dirty="0"/>
          </a:p>
          <a:p>
            <a:pPr marL="342900" indent="-342900">
              <a:lnSpc>
                <a:spcPts val="2300"/>
              </a:lnSpc>
              <a:spcAft>
                <a:spcPts val="1300"/>
              </a:spcAft>
              <a:buSzPct val="100000"/>
              <a:buChar char="▪"/>
            </a:pPr>
            <a:r>
              <a:rPr lang="en-US" sz="1200" dirty="0">
                <a:solidFill>
                  <a:srgbClr val="3C4257"/>
                </a:solidFill>
                <a:latin typeface="Meiryo" pitchFamily="34" charset="0"/>
                <a:ea typeface="Meiryo" pitchFamily="34" charset="-122"/>
                <a:cs typeface="Meiryo" pitchFamily="34" charset="-120"/>
              </a:rPr>
              <a:t>クリア記録とマップ解放</a:t>
            </a:r>
            <a:endParaRPr lang="en-US" sz="1200" dirty="0"/>
          </a:p>
          <a:p>
            <a:pPr marL="342900" indent="-342900">
              <a:lnSpc>
                <a:spcPts val="2300"/>
              </a:lnSpc>
              <a:spcAft>
                <a:spcPts val="1300"/>
              </a:spcAft>
              <a:buSzPct val="100000"/>
              <a:buChar char="▪"/>
            </a:pPr>
            <a:r>
              <a:rPr lang="en-US" sz="1200" dirty="0">
                <a:solidFill>
                  <a:srgbClr val="3C4257"/>
                </a:solidFill>
                <a:latin typeface="Meiryo" pitchFamily="34" charset="0"/>
                <a:ea typeface="Meiryo" pitchFamily="34" charset="-122"/>
                <a:cs typeface="Meiryo" pitchFamily="34" charset="-120"/>
              </a:rPr>
              <a:t>エンディング(戦績入り)</a:t>
            </a:r>
            <a:endParaRPr lang="en-US" sz="1200" dirty="0"/>
          </a:p>
          <a:p>
            <a:pPr marL="342900" indent="-342900">
              <a:lnSpc>
                <a:spcPts val="2300"/>
              </a:lnSpc>
              <a:spcAft>
                <a:spcPts val="1300"/>
              </a:spcAft>
              <a:buSzPct val="100000"/>
              <a:buChar char="▪"/>
            </a:pPr>
            <a:r>
              <a:rPr lang="en-US" sz="1200" dirty="0">
                <a:solidFill>
                  <a:srgbClr val="3C4257"/>
                </a:solidFill>
                <a:latin typeface="Meiryo" pitchFamily="34" charset="0"/>
                <a:ea typeface="Meiryo" pitchFamily="34" charset="-122"/>
                <a:cs typeface="Meiryo" pitchFamily="34" charset="-120"/>
              </a:rPr>
              <a:t>遊び方ガイド / ユニット図鑑</a:t>
            </a:r>
            <a:endParaRPr lang="en-US" sz="1200" dirty="0"/>
          </a:p>
          <a:p>
            <a:pPr marL="342900" indent="-342900">
              <a:lnSpc>
                <a:spcPts val="2300"/>
              </a:lnSpc>
              <a:spcAft>
                <a:spcPts val="1300"/>
              </a:spcAft>
              <a:buSzPct val="100000"/>
              <a:buChar char="▪"/>
            </a:pPr>
            <a:r>
              <a:rPr lang="en-US" sz="1200" dirty="0">
                <a:solidFill>
                  <a:srgbClr val="3C4257"/>
                </a:solidFill>
                <a:latin typeface="Meiryo" pitchFamily="34" charset="0"/>
                <a:ea typeface="Meiryo" pitchFamily="34" charset="-122"/>
                <a:cs typeface="Meiryo" pitchFamily="34" charset="-120"/>
              </a:rPr>
              <a:t>効果音 15 + BGM 3・スマホ操作</a:t>
            </a:r>
            <a:endParaRPr lang="en-US" sz="1200" dirty="0"/>
          </a:p>
        </p:txBody>
      </p:sp>
      <p:sp>
        <p:nvSpPr>
          <p:cNvPr id="17" name="Text 15"/>
          <p:cNvSpPr txBox="1"/>
          <p:nvPr/>
        </p:nvSpPr>
        <p:spPr>
          <a:xfrm>
            <a:off x="640080" y="6035040"/>
            <a:ext cx="10911535" cy="274320"/>
          </a:xfrm>
          <a:prstGeom prst="rect">
            <a:avLst/>
          </a:prstGeom>
          <a:noFill/>
          <a:ln/>
        </p:spPr>
        <p:txBody>
          <a:bodyPr wrap="square" lIns="0" tIns="0" rIns="0" bIns="0" rtlCol="0" anchor="ctr"/>
          <a:lstStyle/>
          <a:p>
            <a:pPr indent="0" marL="0">
              <a:buNone/>
            </a:pPr>
            <a:r>
              <a:rPr lang="en-US" sz="1050" dirty="0">
                <a:solidFill>
                  <a:srgbClr val="767B91"/>
                </a:solidFill>
                <a:latin typeface="Meiryo" pitchFamily="34" charset="0"/>
                <a:ea typeface="Meiryo" pitchFamily="34" charset="-122"/>
                <a:cs typeface="Meiryo" pitchFamily="34" charset="-120"/>
              </a:rPr>
              <a:t>※ 4P マップ・オンライン対戦・マップエディタは未実装(スコープ外または今後の課題)</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146304" cy="146304"/>
          </a:xfrm>
          <a:prstGeom prst="rect">
            <a:avLst/>
          </a:prstGeom>
          <a:solidFill>
            <a:srgbClr val="9A6B12"/>
          </a:solidFill>
          <a:ln/>
        </p:spPr>
      </p:sp>
      <p:sp>
        <p:nvSpPr>
          <p:cNvPr id="3" name="Text 1"/>
          <p:cNvSpPr txBox="1"/>
          <p:nvPr/>
        </p:nvSpPr>
        <p:spPr>
          <a:xfrm>
            <a:off x="896112" y="402336"/>
            <a:ext cx="8229600" cy="292608"/>
          </a:xfrm>
          <a:prstGeom prst="rect">
            <a:avLst/>
          </a:prstGeom>
          <a:noFill/>
          <a:ln/>
        </p:spPr>
        <p:txBody>
          <a:bodyPr wrap="square" lIns="0" tIns="0" rIns="0" bIns="0" rtlCol="0" anchor="ctr"/>
          <a:lstStyle/>
          <a:p>
            <a:pPr indent="0" marL="0">
              <a:buNone/>
            </a:pPr>
            <a:r>
              <a:rPr lang="en-US" sz="1200" b="1" spc="140" kern="0" dirty="0">
                <a:solidFill>
                  <a:srgbClr val="9A6B12"/>
                </a:solidFill>
                <a:latin typeface="Meiryo" pitchFamily="34" charset="0"/>
                <a:ea typeface="Meiryo" pitchFamily="34" charset="-122"/>
                <a:cs typeface="Meiryo" pitchFamily="34" charset="-120"/>
              </a:rPr>
              <a:t>1-3  現状</a:t>
            </a:r>
            <a:endParaRPr lang="en-US" sz="1200" dirty="0"/>
          </a:p>
        </p:txBody>
      </p:sp>
      <p:sp>
        <p:nvSpPr>
          <p:cNvPr id="4" name="Text 2"/>
          <p:cNvSpPr txBox="1"/>
          <p:nvPr/>
        </p:nvSpPr>
        <p:spPr>
          <a:xfrm>
            <a:off x="640080" y="749808"/>
            <a:ext cx="10911535" cy="658368"/>
          </a:xfrm>
          <a:prstGeom prst="rect">
            <a:avLst/>
          </a:prstGeom>
          <a:noFill/>
          <a:ln/>
        </p:spPr>
        <p:txBody>
          <a:bodyPr wrap="square" lIns="0" tIns="0" rIns="0" bIns="0" rtlCol="0" anchor="ctr"/>
          <a:lstStyle/>
          <a:p>
            <a:pPr indent="0" marL="0">
              <a:buNone/>
            </a:pPr>
            <a:r>
              <a:rPr lang="en-US" sz="3000" b="1" dirty="0">
                <a:solidFill>
                  <a:srgbClr val="1A1A2E"/>
                </a:solidFill>
                <a:latin typeface="Meiryo" pitchFamily="34" charset="0"/>
                <a:ea typeface="Meiryo" pitchFamily="34" charset="-122"/>
                <a:cs typeface="Meiryo" pitchFamily="34" charset="-120"/>
              </a:rPr>
              <a:t>強み ─ 権利面が最初からクリーン</a:t>
            </a:r>
            <a:endParaRPr lang="en-US" sz="3000" dirty="0"/>
          </a:p>
        </p:txBody>
      </p:sp>
      <p:sp>
        <p:nvSpPr>
          <p:cNvPr id="5" name="Shape 3"/>
          <p:cNvSpPr/>
          <p:nvPr/>
        </p:nvSpPr>
        <p:spPr>
          <a:xfrm>
            <a:off x="640080" y="1572768"/>
            <a:ext cx="5532120" cy="2286000"/>
          </a:xfrm>
          <a:prstGeom prst="roundRect">
            <a:avLst>
              <a:gd name="adj" fmla="val 3200"/>
            </a:avLst>
          </a:prstGeom>
          <a:solidFill>
            <a:srgbClr val="F2F4F8"/>
          </a:solidFill>
          <a:ln/>
          <a:effectLst>
            <a:outerShdw sx="100000" sy="100000" kx="0" ky="0" algn="bl" rotWithShape="0" blurRad="101600" dist="12700" dir="5400000">
              <a:srgbClr val="9AA1B4">
                <a:alpha val="18000"/>
              </a:srgbClr>
            </a:outerShdw>
          </a:effectLst>
        </p:spPr>
      </p:sp>
      <p:sp>
        <p:nvSpPr>
          <p:cNvPr id="6" name="Text 4"/>
          <p:cNvSpPr txBox="1"/>
          <p:nvPr/>
        </p:nvSpPr>
        <p:spPr>
          <a:xfrm>
            <a:off x="960120" y="1810512"/>
            <a:ext cx="4937760" cy="411480"/>
          </a:xfrm>
          <a:prstGeom prst="rect">
            <a:avLst/>
          </a:prstGeom>
          <a:noFill/>
          <a:ln/>
        </p:spPr>
        <p:txBody>
          <a:bodyPr wrap="square" lIns="0" tIns="0" rIns="0" bIns="0" rtlCol="0" anchor="ctr"/>
          <a:lstStyle/>
          <a:p>
            <a:pPr indent="0" marL="0">
              <a:buNone/>
            </a:pPr>
            <a:r>
              <a:rPr lang="en-US" sz="1800" b="1" dirty="0">
                <a:solidFill>
                  <a:srgbClr val="1A1A2E"/>
                </a:solidFill>
                <a:latin typeface="Meiryo" pitchFamily="34" charset="0"/>
                <a:ea typeface="Meiryo" pitchFamily="34" charset="-122"/>
                <a:cs typeface="Meiryo" pitchFamily="34" charset="-120"/>
              </a:rPr>
              <a:t>外部素材の使用は 0 件</a:t>
            </a:r>
            <a:endParaRPr lang="en-US" sz="1800" dirty="0"/>
          </a:p>
        </p:txBody>
      </p:sp>
      <p:sp>
        <p:nvSpPr>
          <p:cNvPr id="7" name="Text 5"/>
          <p:cNvSpPr txBox="1"/>
          <p:nvPr/>
        </p:nvSpPr>
        <p:spPr>
          <a:xfrm>
            <a:off x="960120" y="2331720"/>
            <a:ext cx="4937760" cy="1371600"/>
          </a:xfrm>
          <a:prstGeom prst="rect">
            <a:avLst/>
          </a:prstGeom>
          <a:noFill/>
          <a:ln/>
        </p:spPr>
        <p:txBody>
          <a:bodyPr wrap="square" lIns="0" tIns="0" rIns="0" bIns="0" rtlCol="0" anchor="t"/>
          <a:lstStyle/>
          <a:p>
            <a:pPr marL="342900" indent="-342900">
              <a:lnSpc>
                <a:spcPts val="1900"/>
              </a:lnSpc>
              <a:spcAft>
                <a:spcPts val="600"/>
              </a:spcAft>
              <a:buSzPct val="100000"/>
              <a:buChar char="▪"/>
            </a:pPr>
            <a:r>
              <a:rPr lang="en-US" sz="1250" dirty="0">
                <a:solidFill>
                  <a:srgbClr val="3C4257"/>
                </a:solidFill>
                <a:latin typeface="Meiryo" pitchFamily="34" charset="0"/>
                <a:ea typeface="Meiryo" pitchFamily="34" charset="-122"/>
                <a:cs typeface="Meiryo" pitchFamily="34" charset="-120"/>
              </a:rPr>
              <a:t>画像素材 0 件 ─ ユニット・地形・エフェクトはすべてコードで描画</a:t>
            </a:r>
            <a:endParaRPr lang="en-US" sz="1250" dirty="0"/>
          </a:p>
          <a:p>
            <a:pPr marL="342900" indent="-342900">
              <a:lnSpc>
                <a:spcPts val="1900"/>
              </a:lnSpc>
              <a:spcAft>
                <a:spcPts val="600"/>
              </a:spcAft>
              <a:buSzPct val="100000"/>
              <a:buChar char="▪"/>
            </a:pPr>
            <a:r>
              <a:rPr lang="en-US" sz="1250" dirty="0">
                <a:solidFill>
                  <a:srgbClr val="3C4257"/>
                </a:solidFill>
                <a:latin typeface="Meiryo" pitchFamily="34" charset="0"/>
                <a:ea typeface="Meiryo" pitchFamily="34" charset="-122"/>
                <a:cs typeface="Meiryo" pitchFamily="34" charset="-120"/>
              </a:rPr>
              <a:t>音源ファイル 0 件 ─ 効果音・BGM は合成音、楽譜もオリジナル</a:t>
            </a:r>
            <a:endParaRPr lang="en-US" sz="1250" dirty="0"/>
          </a:p>
          <a:p>
            <a:pPr marL="342900" indent="-342900">
              <a:lnSpc>
                <a:spcPts val="1900"/>
              </a:lnSpc>
              <a:spcAft>
                <a:spcPts val="600"/>
              </a:spcAft>
              <a:buSzPct val="100000"/>
              <a:buChar char="▪"/>
            </a:pPr>
            <a:r>
              <a:rPr lang="en-US" sz="1250" dirty="0">
                <a:solidFill>
                  <a:srgbClr val="3C4257"/>
                </a:solidFill>
                <a:latin typeface="Meiryo" pitchFamily="34" charset="0"/>
                <a:ea typeface="Meiryo" pitchFamily="34" charset="-122"/>
                <a:cs typeface="Meiryo" pitchFamily="34" charset="-120"/>
              </a:rPr>
              <a:t>名称・マップ・データ・シナリオもすべてオリジナル</a:t>
            </a:r>
            <a:endParaRPr lang="en-US" sz="1250" dirty="0"/>
          </a:p>
        </p:txBody>
      </p:sp>
      <p:sp>
        <p:nvSpPr>
          <p:cNvPr id="8" name="Shape 6"/>
          <p:cNvSpPr/>
          <p:nvPr/>
        </p:nvSpPr>
        <p:spPr>
          <a:xfrm>
            <a:off x="6446520" y="1572768"/>
            <a:ext cx="5102352" cy="2286000"/>
          </a:xfrm>
          <a:prstGeom prst="roundRect">
            <a:avLst>
              <a:gd name="adj" fmla="val 3200"/>
            </a:avLst>
          </a:prstGeom>
          <a:solidFill>
            <a:srgbClr val="F2F4F8"/>
          </a:solidFill>
          <a:ln/>
          <a:effectLst>
            <a:outerShdw sx="100000" sy="100000" kx="0" ky="0" algn="bl" rotWithShape="0" blurRad="101600" dist="12700" dir="5400000">
              <a:srgbClr val="9AA1B4">
                <a:alpha val="18000"/>
              </a:srgbClr>
            </a:outerShdw>
          </a:effectLst>
        </p:spPr>
      </p:sp>
      <p:sp>
        <p:nvSpPr>
          <p:cNvPr id="9" name="Text 7"/>
          <p:cNvSpPr txBox="1"/>
          <p:nvPr/>
        </p:nvSpPr>
        <p:spPr>
          <a:xfrm>
            <a:off x="6766560" y="1810512"/>
            <a:ext cx="4480560" cy="411480"/>
          </a:xfrm>
          <a:prstGeom prst="rect">
            <a:avLst/>
          </a:prstGeom>
          <a:noFill/>
          <a:ln/>
        </p:spPr>
        <p:txBody>
          <a:bodyPr wrap="square" lIns="0" tIns="0" rIns="0" bIns="0" rtlCol="0" anchor="ctr"/>
          <a:lstStyle/>
          <a:p>
            <a:pPr indent="0" marL="0">
              <a:buNone/>
            </a:pPr>
            <a:r>
              <a:rPr lang="en-US" sz="1800" b="1" dirty="0">
                <a:solidFill>
                  <a:srgbClr val="1A1A2E"/>
                </a:solidFill>
                <a:latin typeface="Meiryo" pitchFamily="34" charset="0"/>
                <a:ea typeface="Meiryo" pitchFamily="34" charset="-122"/>
                <a:cs typeface="Meiryo" pitchFamily="34" charset="-120"/>
              </a:rPr>
              <a:t>依存ライブラリは Phaser のみ</a:t>
            </a:r>
            <a:endParaRPr lang="en-US" sz="1800" dirty="0"/>
          </a:p>
        </p:txBody>
      </p:sp>
      <p:sp>
        <p:nvSpPr>
          <p:cNvPr id="10" name="Text 8"/>
          <p:cNvSpPr txBox="1"/>
          <p:nvPr/>
        </p:nvSpPr>
        <p:spPr>
          <a:xfrm>
            <a:off x="6766560" y="2331720"/>
            <a:ext cx="4480560" cy="1371600"/>
          </a:xfrm>
          <a:prstGeom prst="rect">
            <a:avLst/>
          </a:prstGeom>
          <a:noFill/>
          <a:ln/>
        </p:spPr>
        <p:txBody>
          <a:bodyPr wrap="square" lIns="0" tIns="0" rIns="0" bIns="0" rtlCol="0" anchor="t"/>
          <a:lstStyle/>
          <a:p>
            <a:pPr marL="342900" indent="-342900">
              <a:lnSpc>
                <a:spcPts val="1900"/>
              </a:lnSpc>
              <a:spcAft>
                <a:spcPts val="600"/>
              </a:spcAft>
              <a:buSzPct val="100000"/>
              <a:buChar char="▪"/>
            </a:pPr>
            <a:r>
              <a:rPr lang="en-US" sz="1250" dirty="0">
                <a:solidFill>
                  <a:srgbClr val="3C4257"/>
                </a:solidFill>
                <a:latin typeface="Meiryo" pitchFamily="34" charset="0"/>
                <a:ea typeface="Meiryo" pitchFamily="34" charset="-122"/>
                <a:cs typeface="Meiryo" pitchFamily="34" charset="-120"/>
              </a:rPr>
              <a:t>Phaser 3 は MIT ライセンスで商用利用が可能</a:t>
            </a:r>
            <a:endParaRPr lang="en-US" sz="1250" dirty="0"/>
          </a:p>
          <a:p>
            <a:pPr marL="342900" indent="-342900">
              <a:lnSpc>
                <a:spcPts val="1900"/>
              </a:lnSpc>
              <a:spcAft>
                <a:spcPts val="600"/>
              </a:spcAft>
              <a:buSzPct val="100000"/>
              <a:buChar char="▪"/>
            </a:pPr>
            <a:r>
              <a:rPr lang="en-US" sz="1250" dirty="0">
                <a:solidFill>
                  <a:srgbClr val="3C4257"/>
                </a:solidFill>
                <a:latin typeface="Meiryo" pitchFamily="34" charset="0"/>
                <a:ea typeface="Meiryo" pitchFamily="34" charset="-122"/>
                <a:cs typeface="Meiryo" pitchFamily="34" charset="-120"/>
              </a:rPr>
              <a:t>ライセンス調査の対象が少なく、権利リスクが小さい</a:t>
            </a:r>
            <a:endParaRPr lang="en-US" sz="1250" dirty="0"/>
          </a:p>
          <a:p>
            <a:pPr marL="342900" indent="-342900">
              <a:lnSpc>
                <a:spcPts val="1900"/>
              </a:lnSpc>
              <a:spcAft>
                <a:spcPts val="600"/>
              </a:spcAft>
              <a:buSzPct val="100000"/>
              <a:buChar char="▪"/>
            </a:pPr>
            <a:r>
              <a:rPr lang="en-US" sz="1250" dirty="0">
                <a:solidFill>
                  <a:srgbClr val="3C4257"/>
                </a:solidFill>
                <a:latin typeface="Meiryo" pitchFamily="34" charset="0"/>
                <a:ea typeface="Meiryo" pitchFamily="34" charset="-122"/>
                <a:cs typeface="Meiryo" pitchFamily="34" charset="-120"/>
              </a:rPr>
              <a:t>クレジット画面へのライセンス表記のみ対応が必要</a:t>
            </a:r>
            <a:endParaRPr lang="en-US" sz="1250" dirty="0"/>
          </a:p>
        </p:txBody>
      </p:sp>
      <p:sp>
        <p:nvSpPr>
          <p:cNvPr id="11" name="Shape 9"/>
          <p:cNvSpPr/>
          <p:nvPr/>
        </p:nvSpPr>
        <p:spPr>
          <a:xfrm>
            <a:off x="640080" y="4206240"/>
            <a:ext cx="10911535" cy="914400"/>
          </a:xfrm>
          <a:prstGeom prst="roundRect">
            <a:avLst>
              <a:gd name="adj" fmla="val 6000"/>
            </a:avLst>
          </a:prstGeom>
          <a:solidFill>
            <a:srgbClr val="1A1A2E"/>
          </a:solidFill>
          <a:ln/>
        </p:spPr>
      </p:sp>
      <p:sp>
        <p:nvSpPr>
          <p:cNvPr id="12" name="Text 10"/>
          <p:cNvSpPr txBox="1"/>
          <p:nvPr/>
        </p:nvSpPr>
        <p:spPr>
          <a:xfrm>
            <a:off x="1005840" y="4407408"/>
            <a:ext cx="10180015" cy="502920"/>
          </a:xfrm>
          <a:prstGeom prst="rect">
            <a:avLst/>
          </a:prstGeom>
          <a:noFill/>
          <a:ln/>
        </p:spPr>
        <p:txBody>
          <a:bodyPr wrap="square" lIns="0" tIns="0" rIns="0" bIns="0" rtlCol="0" anchor="ctr"/>
          <a:lstStyle/>
          <a:p>
            <a:pPr indent="0" marL="0">
              <a:buNone/>
            </a:pPr>
            <a:r>
              <a:rPr lang="en-US" sz="1600" b="1" dirty="0">
                <a:solidFill>
                  <a:srgbClr val="FFD479"/>
                </a:solidFill>
                <a:latin typeface="Meiryo" pitchFamily="34" charset="0"/>
                <a:ea typeface="Meiryo" pitchFamily="34" charset="-122"/>
                <a:cs typeface="Meiryo" pitchFamily="34" charset="-120"/>
              </a:rPr>
              <a:t>商用化で最も揉める「既存素材の混入」という地雷を踏んでいない</a:t>
            </a:r>
            <a:endParaRPr lang="en-US" sz="1600" dirty="0"/>
          </a:p>
        </p:txBody>
      </p:sp>
      <p:sp>
        <p:nvSpPr>
          <p:cNvPr id="13" name="Shape 11"/>
          <p:cNvSpPr/>
          <p:nvPr/>
        </p:nvSpPr>
        <p:spPr>
          <a:xfrm>
            <a:off x="640080" y="5285232"/>
            <a:ext cx="10911535" cy="841248"/>
          </a:xfrm>
          <a:prstGeom prst="roundRect">
            <a:avLst>
              <a:gd name="adj" fmla="val 6522"/>
            </a:avLst>
          </a:prstGeom>
          <a:solidFill>
            <a:srgbClr val="FCF4E4"/>
          </a:solidFill>
          <a:ln/>
        </p:spPr>
      </p:sp>
      <p:sp>
        <p:nvSpPr>
          <p:cNvPr id="14" name="Text 12"/>
          <p:cNvSpPr txBox="1"/>
          <p:nvPr/>
        </p:nvSpPr>
        <p:spPr>
          <a:xfrm>
            <a:off x="1005840" y="5449824"/>
            <a:ext cx="10180015" cy="502920"/>
          </a:xfrm>
          <a:prstGeom prst="rect">
            <a:avLst/>
          </a:prstGeom>
          <a:noFill/>
          <a:ln/>
        </p:spPr>
        <p:txBody>
          <a:bodyPr wrap="square" lIns="0" tIns="0" rIns="0" bIns="0" rtlCol="0" anchor="ctr"/>
          <a:lstStyle/>
          <a:p>
            <a:pPr indent="0" marL="0">
              <a:buNone/>
            </a:pPr>
            <a:r>
              <a:rPr lang="en-US" sz="1300" b="1" dirty="0">
                <a:solidFill>
                  <a:srgbClr val="9A6B12"/>
                </a:solidFill>
                <a:latin typeface="Meiryo" pitchFamily="34" charset="0"/>
                <a:ea typeface="Meiryo" pitchFamily="34" charset="-122"/>
                <a:cs typeface="Meiryo" pitchFamily="34" charset="-120"/>
              </a:rPr>
              <a:t>ただし ─ 素材が「無い」こと自体は、見た目の商品性という最大の課題に直結する(→ 課題 P-1)</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146304" cy="146304"/>
          </a:xfrm>
          <a:prstGeom prst="rect">
            <a:avLst/>
          </a:prstGeom>
          <a:solidFill>
            <a:srgbClr val="AE2F2F"/>
          </a:solidFill>
          <a:ln/>
        </p:spPr>
      </p:sp>
      <p:sp>
        <p:nvSpPr>
          <p:cNvPr id="3" name="Text 1"/>
          <p:cNvSpPr txBox="1"/>
          <p:nvPr/>
        </p:nvSpPr>
        <p:spPr>
          <a:xfrm>
            <a:off x="896112" y="402336"/>
            <a:ext cx="8229600" cy="292608"/>
          </a:xfrm>
          <a:prstGeom prst="rect">
            <a:avLst/>
          </a:prstGeom>
          <a:noFill/>
          <a:ln/>
        </p:spPr>
        <p:txBody>
          <a:bodyPr wrap="square" lIns="0" tIns="0" rIns="0" bIns="0" rtlCol="0" anchor="ctr"/>
          <a:lstStyle/>
          <a:p>
            <a:pPr indent="0" marL="0">
              <a:buNone/>
            </a:pPr>
            <a:r>
              <a:rPr lang="en-US" sz="1200" b="1" spc="140" kern="0" dirty="0">
                <a:solidFill>
                  <a:srgbClr val="AE2F2F"/>
                </a:solidFill>
                <a:latin typeface="Meiryo" pitchFamily="34" charset="0"/>
                <a:ea typeface="Meiryo" pitchFamily="34" charset="-122"/>
                <a:cs typeface="Meiryo" pitchFamily="34" charset="-120"/>
              </a:rPr>
              <a:t>1-4  現状</a:t>
            </a:r>
            <a:endParaRPr lang="en-US" sz="1200" dirty="0"/>
          </a:p>
        </p:txBody>
      </p:sp>
      <p:sp>
        <p:nvSpPr>
          <p:cNvPr id="4" name="Text 2"/>
          <p:cNvSpPr txBox="1"/>
          <p:nvPr/>
        </p:nvSpPr>
        <p:spPr>
          <a:xfrm>
            <a:off x="640080" y="749808"/>
            <a:ext cx="10911535" cy="658368"/>
          </a:xfrm>
          <a:prstGeom prst="rect">
            <a:avLst/>
          </a:prstGeom>
          <a:noFill/>
          <a:ln/>
        </p:spPr>
        <p:txBody>
          <a:bodyPr wrap="square" lIns="0" tIns="0" rIns="0" bIns="0" rtlCol="0" anchor="ctr"/>
          <a:lstStyle/>
          <a:p>
            <a:pPr indent="0" marL="0">
              <a:buNone/>
            </a:pPr>
            <a:r>
              <a:rPr lang="en-US" sz="3000" b="1" dirty="0">
                <a:solidFill>
                  <a:srgbClr val="1A1A2E"/>
                </a:solidFill>
                <a:latin typeface="Meiryo" pitchFamily="34" charset="0"/>
                <a:ea typeface="Meiryo" pitchFamily="34" charset="-122"/>
                <a:cs typeface="Meiryo" pitchFamily="34" charset="-120"/>
              </a:rPr>
              <a:t>足りていないもの</a:t>
            </a:r>
            <a:endParaRPr lang="en-US" sz="3000" dirty="0"/>
          </a:p>
        </p:txBody>
      </p:sp>
      <p:sp>
        <p:nvSpPr>
          <p:cNvPr id="5" name="Shape 3"/>
          <p:cNvSpPr/>
          <p:nvPr/>
        </p:nvSpPr>
        <p:spPr>
          <a:xfrm>
            <a:off x="640080" y="1600200"/>
            <a:ext cx="10911535" cy="1371600"/>
          </a:xfrm>
          <a:prstGeom prst="roundRect">
            <a:avLst>
              <a:gd name="adj" fmla="val 5333"/>
            </a:avLst>
          </a:prstGeom>
          <a:solidFill>
            <a:srgbClr val="F2F4F8"/>
          </a:solidFill>
          <a:ln/>
          <a:effectLst>
            <a:outerShdw sx="100000" sy="100000" kx="0" ky="0" algn="bl" rotWithShape="0" blurRad="101600" dist="12700" dir="5400000">
              <a:srgbClr val="9AA1B4">
                <a:alpha val="18000"/>
              </a:srgbClr>
            </a:outerShdw>
          </a:effectLst>
        </p:spPr>
      </p:sp>
      <p:sp>
        <p:nvSpPr>
          <p:cNvPr id="6" name="Shape 4"/>
          <p:cNvSpPr/>
          <p:nvPr/>
        </p:nvSpPr>
        <p:spPr>
          <a:xfrm>
            <a:off x="960120" y="1911096"/>
            <a:ext cx="128016" cy="128016"/>
          </a:xfrm>
          <a:prstGeom prst="rect">
            <a:avLst/>
          </a:prstGeom>
          <a:solidFill>
            <a:srgbClr val="AE2F2F"/>
          </a:solidFill>
          <a:ln/>
        </p:spPr>
      </p:sp>
      <p:sp>
        <p:nvSpPr>
          <p:cNvPr id="7" name="Text 5"/>
          <p:cNvSpPr txBox="1"/>
          <p:nvPr/>
        </p:nvSpPr>
        <p:spPr>
          <a:xfrm>
            <a:off x="1207008" y="1801368"/>
            <a:ext cx="2743200" cy="365760"/>
          </a:xfrm>
          <a:prstGeom prst="rect">
            <a:avLst/>
          </a:prstGeom>
          <a:noFill/>
          <a:ln/>
        </p:spPr>
        <p:txBody>
          <a:bodyPr wrap="square" lIns="0" tIns="0" rIns="0" bIns="0" rtlCol="0" anchor="ctr"/>
          <a:lstStyle/>
          <a:p>
            <a:pPr indent="0" marL="0">
              <a:buNone/>
            </a:pPr>
            <a:r>
              <a:rPr lang="en-US" sz="1550" b="1" dirty="0">
                <a:solidFill>
                  <a:srgbClr val="1A1A2E"/>
                </a:solidFill>
                <a:latin typeface="Meiryo" pitchFamily="34" charset="0"/>
                <a:ea typeface="Meiryo" pitchFamily="34" charset="-122"/>
                <a:cs typeface="Meiryo" pitchFamily="34" charset="-120"/>
              </a:rPr>
              <a:t>遊びの入口</a:t>
            </a:r>
            <a:endParaRPr lang="en-US" sz="1550" dirty="0"/>
          </a:p>
        </p:txBody>
      </p:sp>
      <p:sp>
        <p:nvSpPr>
          <p:cNvPr id="8" name="Text 6"/>
          <p:cNvSpPr txBox="1"/>
          <p:nvPr/>
        </p:nvSpPr>
        <p:spPr>
          <a:xfrm>
            <a:off x="4069080" y="1819656"/>
            <a:ext cx="7162495" cy="1051560"/>
          </a:xfrm>
          <a:prstGeom prst="rect">
            <a:avLst/>
          </a:prstGeom>
          <a:noFill/>
          <a:ln/>
        </p:spPr>
        <p:txBody>
          <a:bodyPr wrap="square" lIns="0" tIns="0" rIns="0" bIns="0" rtlCol="0" anchor="t"/>
          <a:lstStyle/>
          <a:p>
            <a:pPr marL="342900" indent="-342900">
              <a:lnSpc>
                <a:spcPts val="1900"/>
              </a:lnSpc>
              <a:spcAft>
                <a:spcPts val="500"/>
              </a:spcAft>
              <a:buSzPct val="100000"/>
              <a:buChar char="▪"/>
            </a:pPr>
            <a:r>
              <a:rPr lang="en-US" sz="1200" dirty="0">
                <a:solidFill>
                  <a:srgbClr val="3C4257"/>
                </a:solidFill>
                <a:latin typeface="Meiryo" pitchFamily="34" charset="0"/>
                <a:ea typeface="Meiryo" pitchFamily="34" charset="-122"/>
                <a:cs typeface="Meiryo" pitchFamily="34" charset="-120"/>
              </a:rPr>
              <a:t>チュートリアル(操作を教える導線)がない</a:t>
            </a:r>
            <a:endParaRPr lang="en-US" sz="1200" dirty="0"/>
          </a:p>
          <a:p>
            <a:pPr marL="342900" indent="-342900">
              <a:lnSpc>
                <a:spcPts val="1900"/>
              </a:lnSpc>
              <a:spcAft>
                <a:spcPts val="500"/>
              </a:spcAft>
              <a:buSzPct val="100000"/>
              <a:buChar char="▪"/>
            </a:pPr>
            <a:r>
              <a:rPr lang="en-US" sz="1200" dirty="0">
                <a:solidFill>
                  <a:srgbClr val="3C4257"/>
                </a:solidFill>
                <a:latin typeface="Meiryo" pitchFamily="34" charset="0"/>
                <a:ea typeface="Meiryo" pitchFamily="34" charset="-122"/>
                <a:cs typeface="Meiryo" pitchFamily="34" charset="-120"/>
              </a:rPr>
              <a:t>キャンペーン(進行の手応え)がない</a:t>
            </a:r>
            <a:endParaRPr lang="en-US" sz="1200" dirty="0"/>
          </a:p>
          <a:p>
            <a:pPr marL="342900" indent="-342900">
              <a:lnSpc>
                <a:spcPts val="1900"/>
              </a:lnSpc>
              <a:spcAft>
                <a:spcPts val="500"/>
              </a:spcAft>
              <a:buSzPct val="100000"/>
              <a:buChar char="▪"/>
            </a:pPr>
            <a:r>
              <a:rPr lang="en-US" sz="1200" dirty="0">
                <a:solidFill>
                  <a:srgbClr val="3C4257"/>
                </a:solidFill>
                <a:latin typeface="Meiryo" pitchFamily="34" charset="0"/>
                <a:ea typeface="Meiryo" pitchFamily="34" charset="-122"/>
                <a:cs typeface="Meiryo" pitchFamily="34" charset="-120"/>
              </a:rPr>
              <a:t>日本語のみ・多言語未対応</a:t>
            </a:r>
            <a:endParaRPr lang="en-US" sz="1200" dirty="0"/>
          </a:p>
        </p:txBody>
      </p:sp>
      <p:sp>
        <p:nvSpPr>
          <p:cNvPr id="9" name="Shape 7"/>
          <p:cNvSpPr/>
          <p:nvPr/>
        </p:nvSpPr>
        <p:spPr>
          <a:xfrm>
            <a:off x="640080" y="3118104"/>
            <a:ext cx="10911535" cy="1371600"/>
          </a:xfrm>
          <a:prstGeom prst="roundRect">
            <a:avLst>
              <a:gd name="adj" fmla="val 5333"/>
            </a:avLst>
          </a:prstGeom>
          <a:solidFill>
            <a:srgbClr val="F2F4F8"/>
          </a:solidFill>
          <a:ln/>
          <a:effectLst>
            <a:outerShdw sx="100000" sy="100000" kx="0" ky="0" algn="bl" rotWithShape="0" blurRad="101600" dist="12700" dir="5400000">
              <a:srgbClr val="9AA1B4">
                <a:alpha val="18000"/>
              </a:srgbClr>
            </a:outerShdw>
          </a:effectLst>
        </p:spPr>
      </p:sp>
      <p:sp>
        <p:nvSpPr>
          <p:cNvPr id="10" name="Shape 8"/>
          <p:cNvSpPr/>
          <p:nvPr/>
        </p:nvSpPr>
        <p:spPr>
          <a:xfrm>
            <a:off x="960120" y="3429000"/>
            <a:ext cx="128016" cy="128016"/>
          </a:xfrm>
          <a:prstGeom prst="rect">
            <a:avLst/>
          </a:prstGeom>
          <a:solidFill>
            <a:srgbClr val="AE2F2F"/>
          </a:solidFill>
          <a:ln/>
        </p:spPr>
      </p:sp>
      <p:sp>
        <p:nvSpPr>
          <p:cNvPr id="11" name="Text 9"/>
          <p:cNvSpPr txBox="1"/>
          <p:nvPr/>
        </p:nvSpPr>
        <p:spPr>
          <a:xfrm>
            <a:off x="1207008" y="3319272"/>
            <a:ext cx="2743200" cy="365760"/>
          </a:xfrm>
          <a:prstGeom prst="rect">
            <a:avLst/>
          </a:prstGeom>
          <a:noFill/>
          <a:ln/>
        </p:spPr>
        <p:txBody>
          <a:bodyPr wrap="square" lIns="0" tIns="0" rIns="0" bIns="0" rtlCol="0" anchor="ctr"/>
          <a:lstStyle/>
          <a:p>
            <a:pPr indent="0" marL="0">
              <a:buNone/>
            </a:pPr>
            <a:r>
              <a:rPr lang="en-US" sz="1550" b="1" dirty="0">
                <a:solidFill>
                  <a:srgbClr val="1A1A2E"/>
                </a:solidFill>
                <a:latin typeface="Meiryo" pitchFamily="34" charset="0"/>
                <a:ea typeface="Meiryo" pitchFamily="34" charset="-122"/>
                <a:cs typeface="Meiryo" pitchFamily="34" charset="-120"/>
              </a:rPr>
              <a:t>商品としての足回り</a:t>
            </a:r>
            <a:endParaRPr lang="en-US" sz="1550" dirty="0"/>
          </a:p>
        </p:txBody>
      </p:sp>
      <p:sp>
        <p:nvSpPr>
          <p:cNvPr id="12" name="Text 10"/>
          <p:cNvSpPr txBox="1"/>
          <p:nvPr/>
        </p:nvSpPr>
        <p:spPr>
          <a:xfrm>
            <a:off x="4069080" y="3337560"/>
            <a:ext cx="7162495" cy="1051560"/>
          </a:xfrm>
          <a:prstGeom prst="rect">
            <a:avLst/>
          </a:prstGeom>
          <a:noFill/>
          <a:ln/>
        </p:spPr>
        <p:txBody>
          <a:bodyPr wrap="square" lIns="0" tIns="0" rIns="0" bIns="0" rtlCol="0" anchor="t"/>
          <a:lstStyle/>
          <a:p>
            <a:pPr marL="342900" indent="-342900">
              <a:lnSpc>
                <a:spcPts val="1900"/>
              </a:lnSpc>
              <a:spcAft>
                <a:spcPts val="500"/>
              </a:spcAft>
              <a:buSzPct val="100000"/>
              <a:buChar char="▪"/>
            </a:pPr>
            <a:r>
              <a:rPr lang="en-US" sz="1200" dirty="0">
                <a:solidFill>
                  <a:srgbClr val="3C4257"/>
                </a:solidFill>
                <a:latin typeface="Meiryo" pitchFamily="34" charset="0"/>
                <a:ea typeface="Meiryo" pitchFamily="34" charset="-122"/>
                <a:cs typeface="Meiryo" pitchFamily="34" charset="-120"/>
              </a:rPr>
              <a:t>セーブが localStorage・中断は 1 件のみ</a:t>
            </a:r>
            <a:endParaRPr lang="en-US" sz="1200" dirty="0"/>
          </a:p>
          <a:p>
            <a:pPr marL="342900" indent="-342900">
              <a:lnSpc>
                <a:spcPts val="1900"/>
              </a:lnSpc>
              <a:spcAft>
                <a:spcPts val="500"/>
              </a:spcAft>
              <a:buSzPct val="100000"/>
              <a:buChar char="▪"/>
            </a:pPr>
            <a:r>
              <a:rPr lang="en-US" sz="1200" dirty="0">
                <a:solidFill>
                  <a:srgbClr val="3C4257"/>
                </a:solidFill>
                <a:latin typeface="Meiryo" pitchFamily="34" charset="0"/>
                <a:ea typeface="Meiryo" pitchFamily="34" charset="-122"/>
                <a:cs typeface="Meiryo" pitchFamily="34" charset="-120"/>
              </a:rPr>
              <a:t>利用規約・プライバシーポリシー・ライセンス表記が未整備</a:t>
            </a:r>
            <a:endParaRPr lang="en-US" sz="1200" dirty="0"/>
          </a:p>
          <a:p>
            <a:pPr marL="342900" indent="-342900">
              <a:lnSpc>
                <a:spcPts val="1900"/>
              </a:lnSpc>
              <a:spcAft>
                <a:spcPts val="500"/>
              </a:spcAft>
              <a:buSzPct val="100000"/>
              <a:buChar char="▪"/>
            </a:pPr>
            <a:r>
              <a:rPr lang="en-US" sz="1200" dirty="0">
                <a:solidFill>
                  <a:srgbClr val="3C4257"/>
                </a:solidFill>
                <a:latin typeface="Meiryo" pitchFamily="34" charset="0"/>
                <a:ea typeface="Meiryo" pitchFamily="34" charset="-122"/>
                <a:cs typeface="Meiryo" pitchFamily="34" charset="-120"/>
              </a:rPr>
              <a:t>プレイデータの計測基盤がない</a:t>
            </a:r>
            <a:endParaRPr lang="en-US" sz="1200" dirty="0"/>
          </a:p>
        </p:txBody>
      </p:sp>
      <p:sp>
        <p:nvSpPr>
          <p:cNvPr id="13" name="Shape 11"/>
          <p:cNvSpPr/>
          <p:nvPr/>
        </p:nvSpPr>
        <p:spPr>
          <a:xfrm>
            <a:off x="640080" y="4636008"/>
            <a:ext cx="10911535" cy="1371600"/>
          </a:xfrm>
          <a:prstGeom prst="roundRect">
            <a:avLst>
              <a:gd name="adj" fmla="val 5333"/>
            </a:avLst>
          </a:prstGeom>
          <a:solidFill>
            <a:srgbClr val="F2F4F8"/>
          </a:solidFill>
          <a:ln/>
          <a:effectLst>
            <a:outerShdw sx="100000" sy="100000" kx="0" ky="0" algn="bl" rotWithShape="0" blurRad="101600" dist="12700" dir="5400000">
              <a:srgbClr val="9AA1B4">
                <a:alpha val="18000"/>
              </a:srgbClr>
            </a:outerShdw>
          </a:effectLst>
        </p:spPr>
      </p:sp>
      <p:sp>
        <p:nvSpPr>
          <p:cNvPr id="14" name="Shape 12"/>
          <p:cNvSpPr/>
          <p:nvPr/>
        </p:nvSpPr>
        <p:spPr>
          <a:xfrm>
            <a:off x="960120" y="4946904"/>
            <a:ext cx="128016" cy="128016"/>
          </a:xfrm>
          <a:prstGeom prst="rect">
            <a:avLst/>
          </a:prstGeom>
          <a:solidFill>
            <a:srgbClr val="AE2F2F"/>
          </a:solidFill>
          <a:ln/>
        </p:spPr>
      </p:sp>
      <p:sp>
        <p:nvSpPr>
          <p:cNvPr id="15" name="Text 13"/>
          <p:cNvSpPr txBox="1"/>
          <p:nvPr/>
        </p:nvSpPr>
        <p:spPr>
          <a:xfrm>
            <a:off x="1207008" y="4837176"/>
            <a:ext cx="2743200" cy="365760"/>
          </a:xfrm>
          <a:prstGeom prst="rect">
            <a:avLst/>
          </a:prstGeom>
          <a:noFill/>
          <a:ln/>
        </p:spPr>
        <p:txBody>
          <a:bodyPr wrap="square" lIns="0" tIns="0" rIns="0" bIns="0" rtlCol="0" anchor="ctr"/>
          <a:lstStyle/>
          <a:p>
            <a:pPr indent="0" marL="0">
              <a:buNone/>
            </a:pPr>
            <a:r>
              <a:rPr lang="en-US" sz="1550" b="1" dirty="0">
                <a:solidFill>
                  <a:srgbClr val="1A1A2E"/>
                </a:solidFill>
                <a:latin typeface="Meiryo" pitchFamily="34" charset="0"/>
                <a:ea typeface="Meiryo" pitchFamily="34" charset="-122"/>
                <a:cs typeface="Meiryo" pitchFamily="34" charset="-120"/>
              </a:rPr>
              <a:t>リリース前の宿題</a:t>
            </a:r>
            <a:endParaRPr lang="en-US" sz="1550" dirty="0"/>
          </a:p>
        </p:txBody>
      </p:sp>
      <p:sp>
        <p:nvSpPr>
          <p:cNvPr id="16" name="Text 14"/>
          <p:cNvSpPr txBox="1"/>
          <p:nvPr/>
        </p:nvSpPr>
        <p:spPr>
          <a:xfrm>
            <a:off x="4069080" y="4855464"/>
            <a:ext cx="7162495" cy="1051560"/>
          </a:xfrm>
          <a:prstGeom prst="rect">
            <a:avLst/>
          </a:prstGeom>
          <a:noFill/>
          <a:ln/>
        </p:spPr>
        <p:txBody>
          <a:bodyPr wrap="square" lIns="0" tIns="0" rIns="0" bIns="0" rtlCol="0" anchor="t"/>
          <a:lstStyle/>
          <a:p>
            <a:pPr marL="342900" indent="-342900">
              <a:lnSpc>
                <a:spcPts val="1900"/>
              </a:lnSpc>
              <a:spcAft>
                <a:spcPts val="500"/>
              </a:spcAft>
              <a:buSzPct val="100000"/>
              <a:buChar char="▪"/>
            </a:pPr>
            <a:r>
              <a:rPr lang="en-US" sz="1200" dirty="0">
                <a:solidFill>
                  <a:srgbClr val="3C4257"/>
                </a:solidFill>
                <a:latin typeface="Meiryo" pitchFamily="34" charset="0"/>
                <a:ea typeface="Meiryo" pitchFamily="34" charset="-122"/>
                <a:cs typeface="Meiryo" pitchFamily="34" charset="-120"/>
              </a:rPr>
              <a:t>動作確認用のテストマップを一覧から削除する</a:t>
            </a:r>
            <a:endParaRPr lang="en-US" sz="1200" dirty="0"/>
          </a:p>
          <a:p>
            <a:pPr marL="342900" indent="-342900">
              <a:lnSpc>
                <a:spcPts val="1900"/>
              </a:lnSpc>
              <a:spcAft>
                <a:spcPts val="500"/>
              </a:spcAft>
              <a:buSzPct val="100000"/>
              <a:buChar char="▪"/>
            </a:pPr>
            <a:r>
              <a:rPr lang="en-US" sz="1200" dirty="0">
                <a:solidFill>
                  <a:srgbClr val="3C4257"/>
                </a:solidFill>
                <a:latin typeface="Meiryo" pitchFamily="34" charset="0"/>
                <a:ea typeface="Meiryo" pitchFamily="34" charset="-122"/>
                <a:cs typeface="Meiryo" pitchFamily="34" charset="-120"/>
              </a:rPr>
              <a:t>4P マップは入口のみで中身が未実装</a:t>
            </a:r>
            <a:endParaRPr lang="en-US" sz="1200" dirty="0"/>
          </a:p>
          <a:p>
            <a:pPr marL="342900" indent="-342900">
              <a:lnSpc>
                <a:spcPts val="1900"/>
              </a:lnSpc>
              <a:spcAft>
                <a:spcPts val="500"/>
              </a:spcAft>
              <a:buSzPct val="100000"/>
              <a:buChar char="▪"/>
            </a:pPr>
            <a:r>
              <a:rPr lang="en-US" sz="1200" dirty="0">
                <a:solidFill>
                  <a:srgbClr val="3C4257"/>
                </a:solidFill>
                <a:latin typeface="Meiryo" pitchFamily="34" charset="0"/>
                <a:ea typeface="Meiryo" pitchFamily="34" charset="-122"/>
                <a:cs typeface="Meiryo" pitchFamily="34" charset="-120"/>
              </a:rPr>
              <a:t>縦持ちスマホ専用レイアウトが未対応</a:t>
            </a:r>
            <a:endParaRPr lang="en-US" sz="1200" dirty="0"/>
          </a:p>
        </p:txBody>
      </p:sp>
      <p:sp>
        <p:nvSpPr>
          <p:cNvPr id="17" name="Text 15"/>
          <p:cNvSpPr txBox="1"/>
          <p:nvPr/>
        </p:nvSpPr>
        <p:spPr>
          <a:xfrm>
            <a:off x="640080" y="6172200"/>
            <a:ext cx="10911535" cy="320040"/>
          </a:xfrm>
          <a:prstGeom prst="rect">
            <a:avLst/>
          </a:prstGeom>
          <a:noFill/>
          <a:ln/>
        </p:spPr>
        <p:txBody>
          <a:bodyPr wrap="square" lIns="0" tIns="0" rIns="0" bIns="0" rtlCol="0" anchor="ctr"/>
          <a:lstStyle/>
          <a:p>
            <a:pPr indent="0" marL="0">
              <a:buNone/>
            </a:pPr>
            <a:r>
              <a:rPr lang="en-US" sz="1200" b="1" dirty="0">
                <a:solidFill>
                  <a:srgbClr val="2F5FAE"/>
                </a:solidFill>
                <a:latin typeface="Meiryo" pitchFamily="34" charset="0"/>
                <a:ea typeface="Meiryo" pitchFamily="34" charset="-122"/>
                <a:cs typeface="Meiryo" pitchFamily="34" charset="-120"/>
              </a:rPr>
              <a:t>いずれも「作り直し」ではなく「追加」で埋められる。ゲーム本体の再設計は不要。</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146304" cy="146304"/>
          </a:xfrm>
          <a:prstGeom prst="rect">
            <a:avLst/>
          </a:prstGeom>
          <a:solidFill>
            <a:srgbClr val="9A6B12"/>
          </a:solidFill>
          <a:ln/>
        </p:spPr>
      </p:sp>
      <p:sp>
        <p:nvSpPr>
          <p:cNvPr id="3" name="Text 1"/>
          <p:cNvSpPr txBox="1"/>
          <p:nvPr/>
        </p:nvSpPr>
        <p:spPr>
          <a:xfrm>
            <a:off x="896112" y="402336"/>
            <a:ext cx="8229600" cy="292608"/>
          </a:xfrm>
          <a:prstGeom prst="rect">
            <a:avLst/>
          </a:prstGeom>
          <a:noFill/>
          <a:ln/>
        </p:spPr>
        <p:txBody>
          <a:bodyPr wrap="square" lIns="0" tIns="0" rIns="0" bIns="0" rtlCol="0" anchor="ctr"/>
          <a:lstStyle/>
          <a:p>
            <a:pPr indent="0" marL="0">
              <a:buNone/>
            </a:pPr>
            <a:r>
              <a:rPr lang="en-US" sz="1200" b="1" spc="140" kern="0" dirty="0">
                <a:solidFill>
                  <a:srgbClr val="9A6B12"/>
                </a:solidFill>
                <a:latin typeface="Meiryo" pitchFamily="34" charset="0"/>
                <a:ea typeface="Meiryo" pitchFamily="34" charset="-122"/>
                <a:cs typeface="Meiryo" pitchFamily="34" charset="-120"/>
              </a:rPr>
              <a:t>1-5  現状</a:t>
            </a:r>
            <a:endParaRPr lang="en-US" sz="1200" dirty="0"/>
          </a:p>
        </p:txBody>
      </p:sp>
      <p:sp>
        <p:nvSpPr>
          <p:cNvPr id="4" name="Text 2"/>
          <p:cNvSpPr txBox="1"/>
          <p:nvPr/>
        </p:nvSpPr>
        <p:spPr>
          <a:xfrm>
            <a:off x="640080" y="749808"/>
            <a:ext cx="10911535" cy="658368"/>
          </a:xfrm>
          <a:prstGeom prst="rect">
            <a:avLst/>
          </a:prstGeom>
          <a:noFill/>
          <a:ln/>
        </p:spPr>
        <p:txBody>
          <a:bodyPr wrap="square" lIns="0" tIns="0" rIns="0" bIns="0" rtlCol="0" anchor="ctr"/>
          <a:lstStyle/>
          <a:p>
            <a:pPr indent="0" marL="0">
              <a:buNone/>
            </a:pPr>
            <a:r>
              <a:rPr lang="en-US" sz="3000" b="1" dirty="0">
                <a:solidFill>
                  <a:srgbClr val="1A1A2E"/>
                </a:solidFill>
                <a:latin typeface="Meiryo" pitchFamily="34" charset="0"/>
                <a:ea typeface="Meiryo" pitchFamily="34" charset="-122"/>
                <a:cs typeface="Meiryo" pitchFamily="34" charset="-120"/>
              </a:rPr>
              <a:t>「好評」の中身 ─ まだ定量データがない</a:t>
            </a:r>
            <a:endParaRPr lang="en-US" sz="3000" dirty="0"/>
          </a:p>
        </p:txBody>
      </p:sp>
      <p:sp>
        <p:nvSpPr>
          <p:cNvPr id="5" name="Shape 3"/>
          <p:cNvSpPr/>
          <p:nvPr/>
        </p:nvSpPr>
        <p:spPr>
          <a:xfrm>
            <a:off x="640080" y="1600200"/>
            <a:ext cx="5394960" cy="2286000"/>
          </a:xfrm>
          <a:prstGeom prst="roundRect">
            <a:avLst>
              <a:gd name="adj" fmla="val 3200"/>
            </a:avLst>
          </a:prstGeom>
          <a:solidFill>
            <a:srgbClr val="F2F4F8"/>
          </a:solidFill>
          <a:ln/>
          <a:effectLst>
            <a:outerShdw sx="100000" sy="100000" kx="0" ky="0" algn="bl" rotWithShape="0" blurRad="101600" dist="12700" dir="5400000">
              <a:srgbClr val="9AA1B4">
                <a:alpha val="18000"/>
              </a:srgbClr>
            </a:outerShdw>
          </a:effectLst>
        </p:spPr>
      </p:sp>
      <p:sp>
        <p:nvSpPr>
          <p:cNvPr id="6" name="Text 4"/>
          <p:cNvSpPr txBox="1"/>
          <p:nvPr/>
        </p:nvSpPr>
        <p:spPr>
          <a:xfrm>
            <a:off x="960120" y="1828800"/>
            <a:ext cx="4754880" cy="365760"/>
          </a:xfrm>
          <a:prstGeom prst="rect">
            <a:avLst/>
          </a:prstGeom>
          <a:noFill/>
          <a:ln/>
        </p:spPr>
        <p:txBody>
          <a:bodyPr wrap="square" lIns="0" tIns="0" rIns="0" bIns="0" rtlCol="0" anchor="ctr"/>
          <a:lstStyle/>
          <a:p>
            <a:pPr indent="0" marL="0">
              <a:buNone/>
            </a:pPr>
            <a:r>
              <a:rPr lang="en-US" sz="1600" b="1" dirty="0">
                <a:solidFill>
                  <a:srgbClr val="1A1A2E"/>
                </a:solidFill>
                <a:latin typeface="Meiryo" pitchFamily="34" charset="0"/>
                <a:ea typeface="Meiryo" pitchFamily="34" charset="-122"/>
                <a:cs typeface="Meiryo" pitchFamily="34" charset="-120"/>
              </a:rPr>
              <a:t>いま分かっていること</a:t>
            </a:r>
            <a:endParaRPr lang="en-US" sz="1600" dirty="0"/>
          </a:p>
        </p:txBody>
      </p:sp>
      <p:sp>
        <p:nvSpPr>
          <p:cNvPr id="7" name="Text 5"/>
          <p:cNvSpPr txBox="1"/>
          <p:nvPr/>
        </p:nvSpPr>
        <p:spPr>
          <a:xfrm>
            <a:off x="960120" y="2286000"/>
            <a:ext cx="4754880" cy="1188720"/>
          </a:xfrm>
          <a:prstGeom prst="rect">
            <a:avLst/>
          </a:prstGeom>
          <a:noFill/>
          <a:ln/>
        </p:spPr>
        <p:txBody>
          <a:bodyPr wrap="square" lIns="0" tIns="0" rIns="0" bIns="0" rtlCol="0" anchor="t"/>
          <a:lstStyle/>
          <a:p>
            <a:pPr marL="342900" indent="-342900">
              <a:lnSpc>
                <a:spcPts val="1900"/>
              </a:lnSpc>
              <a:spcAft>
                <a:spcPts val="600"/>
              </a:spcAft>
              <a:buSzPct val="100000"/>
              <a:buChar char="▪"/>
            </a:pPr>
            <a:r>
              <a:rPr lang="en-US" sz="1250" dirty="0">
                <a:solidFill>
                  <a:srgbClr val="3C4257"/>
                </a:solidFill>
                <a:latin typeface="Meiryo" pitchFamily="34" charset="0"/>
                <a:ea typeface="Meiryo" pitchFamily="34" charset="-122"/>
                <a:cs typeface="Meiryo" pitchFamily="34" charset="-120"/>
              </a:rPr>
              <a:t>周囲の方に遊んでもらい、好評だった</a:t>
            </a:r>
            <a:endParaRPr lang="en-US" sz="1250" dirty="0"/>
          </a:p>
          <a:p>
            <a:pPr marL="342900" indent="-342900">
              <a:lnSpc>
                <a:spcPts val="1900"/>
              </a:lnSpc>
              <a:spcAft>
                <a:spcPts val="600"/>
              </a:spcAft>
              <a:buSzPct val="100000"/>
              <a:buChar char="▪"/>
            </a:pPr>
            <a:r>
              <a:rPr lang="en-US" sz="1250" dirty="0">
                <a:solidFill>
                  <a:srgbClr val="3C4257"/>
                </a:solidFill>
                <a:latin typeface="Meiryo" pitchFamily="34" charset="0"/>
                <a:ea typeface="Meiryo" pitchFamily="34" charset="-122"/>
                <a:cs typeface="Meiryo" pitchFamily="34" charset="-120"/>
              </a:rPr>
              <a:t>本検討はこの手応えが起点になっている</a:t>
            </a:r>
            <a:endParaRPr lang="en-US" sz="1250" dirty="0"/>
          </a:p>
        </p:txBody>
      </p:sp>
      <p:sp>
        <p:nvSpPr>
          <p:cNvPr id="8" name="Shape 6"/>
          <p:cNvSpPr/>
          <p:nvPr/>
        </p:nvSpPr>
        <p:spPr>
          <a:xfrm>
            <a:off x="6309360" y="1600200"/>
            <a:ext cx="5239512" cy="2286000"/>
          </a:xfrm>
          <a:prstGeom prst="roundRect">
            <a:avLst>
              <a:gd name="adj" fmla="val 3200"/>
            </a:avLst>
          </a:prstGeom>
          <a:solidFill>
            <a:srgbClr val="FCF4E4"/>
          </a:solidFill>
          <a:ln/>
          <a:effectLst>
            <a:outerShdw sx="100000" sy="100000" kx="0" ky="0" algn="bl" rotWithShape="0" blurRad="101600" dist="12700" dir="5400000">
              <a:srgbClr val="9AA1B4">
                <a:alpha val="18000"/>
              </a:srgbClr>
            </a:outerShdw>
          </a:effectLst>
        </p:spPr>
      </p:sp>
      <p:sp>
        <p:nvSpPr>
          <p:cNvPr id="9" name="Text 7"/>
          <p:cNvSpPr txBox="1"/>
          <p:nvPr/>
        </p:nvSpPr>
        <p:spPr>
          <a:xfrm>
            <a:off x="6629400" y="1828800"/>
            <a:ext cx="4572000" cy="365760"/>
          </a:xfrm>
          <a:prstGeom prst="rect">
            <a:avLst/>
          </a:prstGeom>
          <a:noFill/>
          <a:ln/>
        </p:spPr>
        <p:txBody>
          <a:bodyPr wrap="square" lIns="0" tIns="0" rIns="0" bIns="0" rtlCol="0" anchor="ctr"/>
          <a:lstStyle/>
          <a:p>
            <a:pPr indent="0" marL="0">
              <a:buNone/>
            </a:pPr>
            <a:r>
              <a:rPr lang="en-US" sz="1600" b="1" dirty="0">
                <a:solidFill>
                  <a:srgbClr val="9A6B12"/>
                </a:solidFill>
                <a:latin typeface="Meiryo" pitchFamily="34" charset="0"/>
                <a:ea typeface="Meiryo" pitchFamily="34" charset="-122"/>
                <a:cs typeface="Meiryo" pitchFamily="34" charset="-120"/>
              </a:rPr>
              <a:t>分かっていないこと</a:t>
            </a:r>
            <a:endParaRPr lang="en-US" sz="1600" dirty="0"/>
          </a:p>
        </p:txBody>
      </p:sp>
      <p:sp>
        <p:nvSpPr>
          <p:cNvPr id="10" name="Text 8"/>
          <p:cNvSpPr txBox="1"/>
          <p:nvPr/>
        </p:nvSpPr>
        <p:spPr>
          <a:xfrm>
            <a:off x="6629400" y="2286000"/>
            <a:ext cx="4572000" cy="1280160"/>
          </a:xfrm>
          <a:prstGeom prst="rect">
            <a:avLst/>
          </a:prstGeom>
          <a:noFill/>
          <a:ln/>
        </p:spPr>
        <p:txBody>
          <a:bodyPr wrap="square" lIns="0" tIns="0" rIns="0" bIns="0" rtlCol="0" anchor="t"/>
          <a:lstStyle/>
          <a:p>
            <a:pPr marL="342900" indent="-342900">
              <a:lnSpc>
                <a:spcPts val="1900"/>
              </a:lnSpc>
              <a:spcAft>
                <a:spcPts val="600"/>
              </a:spcAft>
              <a:buSzPct val="100000"/>
              <a:buChar char="▪"/>
            </a:pPr>
            <a:r>
              <a:rPr lang="en-US" sz="1250" dirty="0">
                <a:solidFill>
                  <a:srgbClr val="9A6B12"/>
                </a:solidFill>
                <a:latin typeface="Meiryo" pitchFamily="34" charset="0"/>
                <a:ea typeface="Meiryo" pitchFamily="34" charset="-122"/>
                <a:cs typeface="Meiryo" pitchFamily="34" charset="-120"/>
              </a:rPr>
              <a:t>何人が・どのマップを・何分遊んだのか</a:t>
            </a:r>
            <a:endParaRPr lang="en-US" sz="1250" dirty="0"/>
          </a:p>
          <a:p>
            <a:pPr marL="342900" indent="-342900">
              <a:lnSpc>
                <a:spcPts val="1900"/>
              </a:lnSpc>
              <a:spcAft>
                <a:spcPts val="600"/>
              </a:spcAft>
              <a:buSzPct val="100000"/>
              <a:buChar char="▪"/>
            </a:pPr>
            <a:r>
              <a:rPr lang="en-US" sz="1250" dirty="0">
                <a:solidFill>
                  <a:srgbClr val="9A6B12"/>
                </a:solidFill>
                <a:latin typeface="Meiryo" pitchFamily="34" charset="0"/>
                <a:ea typeface="Meiryo" pitchFamily="34" charset="-122"/>
                <a:cs typeface="Meiryo" pitchFamily="34" charset="-120"/>
              </a:rPr>
              <a:t>どこで離脱したのか</a:t>
            </a:r>
            <a:endParaRPr lang="en-US" sz="1250" dirty="0"/>
          </a:p>
          <a:p>
            <a:pPr marL="342900" indent="-342900">
              <a:lnSpc>
                <a:spcPts val="1900"/>
              </a:lnSpc>
              <a:spcAft>
                <a:spcPts val="600"/>
              </a:spcAft>
              <a:buSzPct val="100000"/>
              <a:buChar char="▪"/>
            </a:pPr>
            <a:r>
              <a:rPr lang="en-US" sz="1250" dirty="0">
                <a:solidFill>
                  <a:srgbClr val="9A6B12"/>
                </a:solidFill>
                <a:latin typeface="Meiryo" pitchFamily="34" charset="0"/>
                <a:ea typeface="Meiryo" pitchFamily="34" charset="-122"/>
                <a:cs typeface="Meiryo" pitchFamily="34" charset="-120"/>
              </a:rPr>
              <a:t>身内による評価をどれだけ割り引くべきか</a:t>
            </a:r>
            <a:endParaRPr lang="en-US" sz="1250" dirty="0"/>
          </a:p>
        </p:txBody>
      </p:sp>
      <p:sp>
        <p:nvSpPr>
          <p:cNvPr id="11" name="Shape 9"/>
          <p:cNvSpPr/>
          <p:nvPr/>
        </p:nvSpPr>
        <p:spPr>
          <a:xfrm>
            <a:off x="640080" y="4114800"/>
            <a:ext cx="10911535" cy="2011680"/>
          </a:xfrm>
          <a:prstGeom prst="roundRect">
            <a:avLst>
              <a:gd name="adj" fmla="val 2727"/>
            </a:avLst>
          </a:prstGeom>
          <a:solidFill>
            <a:srgbClr val="1A1A2E"/>
          </a:solidFill>
          <a:ln/>
        </p:spPr>
      </p:sp>
      <p:sp>
        <p:nvSpPr>
          <p:cNvPr id="12" name="Text 10"/>
          <p:cNvSpPr txBox="1"/>
          <p:nvPr/>
        </p:nvSpPr>
        <p:spPr>
          <a:xfrm>
            <a:off x="1005840" y="4370832"/>
            <a:ext cx="10515600" cy="411480"/>
          </a:xfrm>
          <a:prstGeom prst="rect">
            <a:avLst/>
          </a:prstGeom>
          <a:noFill/>
          <a:ln/>
        </p:spPr>
        <p:txBody>
          <a:bodyPr wrap="square" lIns="0" tIns="0" rIns="0" bIns="0" rtlCol="0" anchor="ctr"/>
          <a:lstStyle/>
          <a:p>
            <a:pPr indent="0" marL="0">
              <a:buNone/>
            </a:pPr>
            <a:r>
              <a:rPr lang="en-US" sz="1800" b="1" dirty="0">
                <a:solidFill>
                  <a:srgbClr val="FFD479"/>
                </a:solidFill>
                <a:latin typeface="Meiryo" pitchFamily="34" charset="0"/>
                <a:ea typeface="Meiryo" pitchFamily="34" charset="-122"/>
                <a:cs typeface="Meiryo" pitchFamily="34" charset="-120"/>
              </a:rPr>
              <a:t>だから Phase 1 は「定量的な検証」から始める</a:t>
            </a:r>
            <a:endParaRPr lang="en-US" sz="1800" dirty="0"/>
          </a:p>
        </p:txBody>
      </p:sp>
      <p:sp>
        <p:nvSpPr>
          <p:cNvPr id="13" name="Text 11"/>
          <p:cNvSpPr txBox="1"/>
          <p:nvPr/>
        </p:nvSpPr>
        <p:spPr>
          <a:xfrm>
            <a:off x="1005840" y="4828032"/>
            <a:ext cx="10515600" cy="320040"/>
          </a:xfrm>
          <a:prstGeom prst="rect">
            <a:avLst/>
          </a:prstGeom>
          <a:noFill/>
          <a:ln/>
        </p:spPr>
        <p:txBody>
          <a:bodyPr wrap="square" lIns="0" tIns="0" rIns="0" bIns="0" rtlCol="0" anchor="ctr"/>
          <a:lstStyle/>
          <a:p>
            <a:pPr indent="0" marL="0">
              <a:buNone/>
            </a:pPr>
            <a:r>
              <a:rPr lang="en-US" sz="1250" dirty="0">
                <a:solidFill>
                  <a:srgbClr val="CADCFC"/>
                </a:solidFill>
                <a:latin typeface="Meiryo" pitchFamily="34" charset="0"/>
                <a:ea typeface="Meiryo" pitchFamily="34" charset="-122"/>
                <a:cs typeface="Meiryo" pitchFamily="34" charset="-120"/>
              </a:rPr>
              <a:t>ここを飛ばして 6〜8 人月の時間を投じるのは危険。まず判断材料をつくる。</a:t>
            </a:r>
            <a:endParaRPr lang="en-US" sz="1250" dirty="0"/>
          </a:p>
        </p:txBody>
      </p:sp>
      <p:sp>
        <p:nvSpPr>
          <p:cNvPr id="14" name="Text 12"/>
          <p:cNvSpPr txBox="1"/>
          <p:nvPr/>
        </p:nvSpPr>
        <p:spPr>
          <a:xfrm>
            <a:off x="1005840" y="5321808"/>
            <a:ext cx="3200400" cy="274320"/>
          </a:xfrm>
          <a:prstGeom prst="rect">
            <a:avLst/>
          </a:prstGeom>
          <a:noFill/>
          <a:ln/>
        </p:spPr>
        <p:txBody>
          <a:bodyPr wrap="square" lIns="0" tIns="0" rIns="0" bIns="0" rtlCol="0" anchor="ctr"/>
          <a:lstStyle/>
          <a:p>
            <a:pPr indent="0" marL="0">
              <a:buNone/>
            </a:pPr>
            <a:r>
              <a:rPr lang="en-US" sz="1100" dirty="0">
                <a:solidFill>
                  <a:srgbClr val="CADCFC"/>
                </a:solidFill>
                <a:latin typeface="Meiryo" pitchFamily="34" charset="0"/>
                <a:ea typeface="Meiryo" pitchFamily="34" charset="-122"/>
                <a:cs typeface="Meiryo" pitchFamily="34" charset="-120"/>
              </a:rPr>
              <a:t>完遊率</a:t>
            </a:r>
            <a:endParaRPr lang="en-US" sz="1100" dirty="0"/>
          </a:p>
        </p:txBody>
      </p:sp>
      <p:sp>
        <p:nvSpPr>
          <p:cNvPr id="15" name="Text 13"/>
          <p:cNvSpPr txBox="1"/>
          <p:nvPr/>
        </p:nvSpPr>
        <p:spPr>
          <a:xfrm>
            <a:off x="1005840" y="5596128"/>
            <a:ext cx="3200400" cy="320040"/>
          </a:xfrm>
          <a:prstGeom prst="rect">
            <a:avLst/>
          </a:prstGeom>
          <a:noFill/>
          <a:ln/>
        </p:spPr>
        <p:txBody>
          <a:bodyPr wrap="square" lIns="0" tIns="0" rIns="0" bIns="0" rtlCol="0" anchor="ctr"/>
          <a:lstStyle/>
          <a:p>
            <a:pPr indent="0" marL="0">
              <a:buNone/>
            </a:pPr>
            <a:r>
              <a:rPr lang="en-US" sz="1500" b="1" dirty="0">
                <a:solidFill>
                  <a:srgbClr val="FFFFFF"/>
                </a:solidFill>
                <a:latin typeface="Meiryo" pitchFamily="34" charset="0"/>
                <a:ea typeface="Meiryo" pitchFamily="34" charset="-122"/>
                <a:cs typeface="Meiryo" pitchFamily="34" charset="-120"/>
              </a:rPr>
              <a:t>60% 以上</a:t>
            </a:r>
            <a:endParaRPr lang="en-US" sz="1500" dirty="0"/>
          </a:p>
        </p:txBody>
      </p:sp>
      <p:sp>
        <p:nvSpPr>
          <p:cNvPr id="16" name="Text 14"/>
          <p:cNvSpPr txBox="1"/>
          <p:nvPr/>
        </p:nvSpPr>
        <p:spPr>
          <a:xfrm>
            <a:off x="4434840" y="5321808"/>
            <a:ext cx="3200400" cy="274320"/>
          </a:xfrm>
          <a:prstGeom prst="rect">
            <a:avLst/>
          </a:prstGeom>
          <a:noFill/>
          <a:ln/>
        </p:spPr>
        <p:txBody>
          <a:bodyPr wrap="square" lIns="0" tIns="0" rIns="0" bIns="0" rtlCol="0" anchor="ctr"/>
          <a:lstStyle/>
          <a:p>
            <a:pPr indent="0" marL="0">
              <a:buNone/>
            </a:pPr>
            <a:r>
              <a:rPr lang="en-US" sz="1100" dirty="0">
                <a:solidFill>
                  <a:srgbClr val="CADCFC"/>
                </a:solidFill>
                <a:latin typeface="Meiryo" pitchFamily="34" charset="0"/>
                <a:ea typeface="Meiryo" pitchFamily="34" charset="-122"/>
                <a:cs typeface="Meiryo" pitchFamily="34" charset="-120"/>
              </a:rPr>
              <a:t>「もう一度遊びたい」</a:t>
            </a:r>
            <a:endParaRPr lang="en-US" sz="1100" dirty="0"/>
          </a:p>
        </p:txBody>
      </p:sp>
      <p:sp>
        <p:nvSpPr>
          <p:cNvPr id="17" name="Text 15"/>
          <p:cNvSpPr txBox="1"/>
          <p:nvPr/>
        </p:nvSpPr>
        <p:spPr>
          <a:xfrm>
            <a:off x="4434840" y="5596128"/>
            <a:ext cx="3200400" cy="320040"/>
          </a:xfrm>
          <a:prstGeom prst="rect">
            <a:avLst/>
          </a:prstGeom>
          <a:noFill/>
          <a:ln/>
        </p:spPr>
        <p:txBody>
          <a:bodyPr wrap="square" lIns="0" tIns="0" rIns="0" bIns="0" rtlCol="0" anchor="ctr"/>
          <a:lstStyle/>
          <a:p>
            <a:pPr indent="0" marL="0">
              <a:buNone/>
            </a:pPr>
            <a:r>
              <a:rPr lang="en-US" sz="1500" b="1" dirty="0">
                <a:solidFill>
                  <a:srgbClr val="FFFFFF"/>
                </a:solidFill>
                <a:latin typeface="Meiryo" pitchFamily="34" charset="0"/>
                <a:ea typeface="Meiryo" pitchFamily="34" charset="-122"/>
                <a:cs typeface="Meiryo" pitchFamily="34" charset="-120"/>
              </a:rPr>
              <a:t>70% 以上</a:t>
            </a:r>
            <a:endParaRPr lang="en-US" sz="1500" dirty="0"/>
          </a:p>
        </p:txBody>
      </p:sp>
      <p:sp>
        <p:nvSpPr>
          <p:cNvPr id="18" name="Text 16"/>
          <p:cNvSpPr txBox="1"/>
          <p:nvPr/>
        </p:nvSpPr>
        <p:spPr>
          <a:xfrm>
            <a:off x="7863840" y="5321808"/>
            <a:ext cx="3200400" cy="274320"/>
          </a:xfrm>
          <a:prstGeom prst="rect">
            <a:avLst/>
          </a:prstGeom>
          <a:noFill/>
          <a:ln/>
        </p:spPr>
        <p:txBody>
          <a:bodyPr wrap="square" lIns="0" tIns="0" rIns="0" bIns="0" rtlCol="0" anchor="ctr"/>
          <a:lstStyle/>
          <a:p>
            <a:pPr indent="0" marL="0">
              <a:buNone/>
            </a:pPr>
            <a:r>
              <a:rPr lang="en-US" sz="1100" dirty="0">
                <a:solidFill>
                  <a:srgbClr val="CADCFC"/>
                </a:solidFill>
                <a:latin typeface="Meiryo" pitchFamily="34" charset="0"/>
                <a:ea typeface="Meiryo" pitchFamily="34" charset="-122"/>
                <a:cs typeface="Meiryo" pitchFamily="34" charset="-120"/>
              </a:rPr>
              <a:t>対象</a:t>
            </a:r>
            <a:endParaRPr lang="en-US" sz="1100" dirty="0"/>
          </a:p>
        </p:txBody>
      </p:sp>
      <p:sp>
        <p:nvSpPr>
          <p:cNvPr id="19" name="Text 17"/>
          <p:cNvSpPr txBox="1"/>
          <p:nvPr/>
        </p:nvSpPr>
        <p:spPr>
          <a:xfrm>
            <a:off x="7863840" y="5596128"/>
            <a:ext cx="3200400" cy="320040"/>
          </a:xfrm>
          <a:prstGeom prst="rect">
            <a:avLst/>
          </a:prstGeom>
          <a:noFill/>
          <a:ln/>
        </p:spPr>
        <p:txBody>
          <a:bodyPr wrap="square" lIns="0" tIns="0" rIns="0" bIns="0" rtlCol="0" anchor="ctr"/>
          <a:lstStyle/>
          <a:p>
            <a:pPr indent="0" marL="0">
              <a:buNone/>
            </a:pPr>
            <a:r>
              <a:rPr lang="en-US" sz="1500" b="1" dirty="0">
                <a:solidFill>
                  <a:srgbClr val="FFFFFF"/>
                </a:solidFill>
                <a:latin typeface="Meiryo" pitchFamily="34" charset="0"/>
                <a:ea typeface="Meiryo" pitchFamily="34" charset="-122"/>
                <a:cs typeface="Meiryo" pitchFamily="34" charset="-120"/>
              </a:rPr>
              <a:t>社外テスター 20〜50 人</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8991295" y="4572000"/>
            <a:ext cx="274320" cy="274320"/>
          </a:xfrm>
          <a:prstGeom prst="rect">
            <a:avLst/>
          </a:prstGeom>
          <a:solidFill>
            <a:srgbClr val="CADCFC">
              <a:alpha val="12000"/>
            </a:srgbClr>
          </a:solidFill>
          <a:ln/>
        </p:spPr>
      </p:sp>
      <p:sp>
        <p:nvSpPr>
          <p:cNvPr id="3" name="Shape 1"/>
          <p:cNvSpPr/>
          <p:nvPr/>
        </p:nvSpPr>
        <p:spPr>
          <a:xfrm>
            <a:off x="9320479" y="4572000"/>
            <a:ext cx="274320" cy="274320"/>
          </a:xfrm>
          <a:prstGeom prst="rect">
            <a:avLst/>
          </a:prstGeom>
          <a:solidFill>
            <a:srgbClr val="AE2F2F"/>
          </a:solidFill>
          <a:ln/>
        </p:spPr>
      </p:sp>
      <p:sp>
        <p:nvSpPr>
          <p:cNvPr id="4" name="Shape 2"/>
          <p:cNvSpPr/>
          <p:nvPr/>
        </p:nvSpPr>
        <p:spPr>
          <a:xfrm>
            <a:off x="9649663" y="4572000"/>
            <a:ext cx="274320" cy="274320"/>
          </a:xfrm>
          <a:prstGeom prst="rect">
            <a:avLst/>
          </a:prstGeom>
          <a:solidFill>
            <a:srgbClr val="CADCFC">
              <a:alpha val="12000"/>
            </a:srgbClr>
          </a:solidFill>
          <a:ln/>
        </p:spPr>
      </p:sp>
      <p:sp>
        <p:nvSpPr>
          <p:cNvPr id="5" name="Shape 3"/>
          <p:cNvSpPr/>
          <p:nvPr/>
        </p:nvSpPr>
        <p:spPr>
          <a:xfrm>
            <a:off x="9978847" y="4572000"/>
            <a:ext cx="274320" cy="274320"/>
          </a:xfrm>
          <a:prstGeom prst="rect">
            <a:avLst/>
          </a:prstGeom>
          <a:solidFill>
            <a:srgbClr val="CADCFC">
              <a:alpha val="12000"/>
            </a:srgbClr>
          </a:solidFill>
          <a:ln/>
        </p:spPr>
      </p:sp>
      <p:sp>
        <p:nvSpPr>
          <p:cNvPr id="6" name="Shape 4"/>
          <p:cNvSpPr/>
          <p:nvPr/>
        </p:nvSpPr>
        <p:spPr>
          <a:xfrm>
            <a:off x="10308031" y="4572000"/>
            <a:ext cx="274320" cy="274320"/>
          </a:xfrm>
          <a:prstGeom prst="rect">
            <a:avLst/>
          </a:prstGeom>
          <a:solidFill>
            <a:srgbClr val="CADCFC">
              <a:alpha val="12000"/>
            </a:srgbClr>
          </a:solidFill>
          <a:ln/>
        </p:spPr>
      </p:sp>
      <p:sp>
        <p:nvSpPr>
          <p:cNvPr id="7" name="Shape 5"/>
          <p:cNvSpPr/>
          <p:nvPr/>
        </p:nvSpPr>
        <p:spPr>
          <a:xfrm>
            <a:off x="10637215" y="4572000"/>
            <a:ext cx="274320" cy="274320"/>
          </a:xfrm>
          <a:prstGeom prst="rect">
            <a:avLst/>
          </a:prstGeom>
          <a:solidFill>
            <a:srgbClr val="CADCFC">
              <a:alpha val="12000"/>
            </a:srgbClr>
          </a:solidFill>
          <a:ln/>
        </p:spPr>
      </p:sp>
      <p:sp>
        <p:nvSpPr>
          <p:cNvPr id="8" name="Shape 6"/>
          <p:cNvSpPr/>
          <p:nvPr/>
        </p:nvSpPr>
        <p:spPr>
          <a:xfrm>
            <a:off x="10966399" y="4572000"/>
            <a:ext cx="274320" cy="274320"/>
          </a:xfrm>
          <a:prstGeom prst="rect">
            <a:avLst/>
          </a:prstGeom>
          <a:solidFill>
            <a:srgbClr val="CADCFC">
              <a:alpha val="12000"/>
            </a:srgbClr>
          </a:solidFill>
          <a:ln/>
        </p:spPr>
      </p:sp>
      <p:sp>
        <p:nvSpPr>
          <p:cNvPr id="9" name="Shape 7"/>
          <p:cNvSpPr/>
          <p:nvPr/>
        </p:nvSpPr>
        <p:spPr>
          <a:xfrm>
            <a:off x="11295583" y="4572000"/>
            <a:ext cx="274320" cy="274320"/>
          </a:xfrm>
          <a:prstGeom prst="rect">
            <a:avLst/>
          </a:prstGeom>
          <a:solidFill>
            <a:srgbClr val="CADCFC">
              <a:alpha val="12000"/>
            </a:srgbClr>
          </a:solidFill>
          <a:ln/>
        </p:spPr>
      </p:sp>
      <p:sp>
        <p:nvSpPr>
          <p:cNvPr id="10" name="Shape 8"/>
          <p:cNvSpPr/>
          <p:nvPr/>
        </p:nvSpPr>
        <p:spPr>
          <a:xfrm>
            <a:off x="8991295" y="4901184"/>
            <a:ext cx="274320" cy="274320"/>
          </a:xfrm>
          <a:prstGeom prst="rect">
            <a:avLst/>
          </a:prstGeom>
          <a:solidFill>
            <a:srgbClr val="CADCFC">
              <a:alpha val="12000"/>
            </a:srgbClr>
          </a:solidFill>
          <a:ln/>
        </p:spPr>
      </p:sp>
      <p:sp>
        <p:nvSpPr>
          <p:cNvPr id="11" name="Shape 9"/>
          <p:cNvSpPr/>
          <p:nvPr/>
        </p:nvSpPr>
        <p:spPr>
          <a:xfrm>
            <a:off x="9320479" y="4901184"/>
            <a:ext cx="274320" cy="274320"/>
          </a:xfrm>
          <a:prstGeom prst="rect">
            <a:avLst/>
          </a:prstGeom>
          <a:solidFill>
            <a:srgbClr val="CADCFC">
              <a:alpha val="12000"/>
            </a:srgbClr>
          </a:solidFill>
          <a:ln/>
        </p:spPr>
      </p:sp>
      <p:sp>
        <p:nvSpPr>
          <p:cNvPr id="12" name="Shape 10"/>
          <p:cNvSpPr/>
          <p:nvPr/>
        </p:nvSpPr>
        <p:spPr>
          <a:xfrm>
            <a:off x="9649663" y="4901184"/>
            <a:ext cx="274320" cy="274320"/>
          </a:xfrm>
          <a:prstGeom prst="rect">
            <a:avLst/>
          </a:prstGeom>
          <a:solidFill>
            <a:srgbClr val="CADCFC">
              <a:alpha val="12000"/>
            </a:srgbClr>
          </a:solidFill>
          <a:ln/>
        </p:spPr>
      </p:sp>
      <p:sp>
        <p:nvSpPr>
          <p:cNvPr id="13" name="Shape 11"/>
          <p:cNvSpPr/>
          <p:nvPr/>
        </p:nvSpPr>
        <p:spPr>
          <a:xfrm>
            <a:off x="9978847" y="4901184"/>
            <a:ext cx="274320" cy="274320"/>
          </a:xfrm>
          <a:prstGeom prst="rect">
            <a:avLst/>
          </a:prstGeom>
          <a:solidFill>
            <a:srgbClr val="FFD479"/>
          </a:solidFill>
          <a:ln/>
        </p:spPr>
      </p:sp>
      <p:sp>
        <p:nvSpPr>
          <p:cNvPr id="14" name="Shape 12"/>
          <p:cNvSpPr/>
          <p:nvPr/>
        </p:nvSpPr>
        <p:spPr>
          <a:xfrm>
            <a:off x="10308031" y="4901184"/>
            <a:ext cx="274320" cy="274320"/>
          </a:xfrm>
          <a:prstGeom prst="rect">
            <a:avLst/>
          </a:prstGeom>
          <a:solidFill>
            <a:srgbClr val="CADCFC">
              <a:alpha val="12000"/>
            </a:srgbClr>
          </a:solidFill>
          <a:ln/>
        </p:spPr>
      </p:sp>
      <p:sp>
        <p:nvSpPr>
          <p:cNvPr id="15" name="Shape 13"/>
          <p:cNvSpPr/>
          <p:nvPr/>
        </p:nvSpPr>
        <p:spPr>
          <a:xfrm>
            <a:off x="10637215" y="4901184"/>
            <a:ext cx="274320" cy="274320"/>
          </a:xfrm>
          <a:prstGeom prst="rect">
            <a:avLst/>
          </a:prstGeom>
          <a:solidFill>
            <a:srgbClr val="CADCFC">
              <a:alpha val="12000"/>
            </a:srgbClr>
          </a:solidFill>
          <a:ln/>
        </p:spPr>
      </p:sp>
      <p:sp>
        <p:nvSpPr>
          <p:cNvPr id="16" name="Shape 14"/>
          <p:cNvSpPr/>
          <p:nvPr/>
        </p:nvSpPr>
        <p:spPr>
          <a:xfrm>
            <a:off x="10966399" y="4901184"/>
            <a:ext cx="274320" cy="274320"/>
          </a:xfrm>
          <a:prstGeom prst="rect">
            <a:avLst/>
          </a:prstGeom>
          <a:solidFill>
            <a:srgbClr val="CADCFC">
              <a:alpha val="12000"/>
            </a:srgbClr>
          </a:solidFill>
          <a:ln/>
        </p:spPr>
      </p:sp>
      <p:sp>
        <p:nvSpPr>
          <p:cNvPr id="17" name="Shape 15"/>
          <p:cNvSpPr/>
          <p:nvPr/>
        </p:nvSpPr>
        <p:spPr>
          <a:xfrm>
            <a:off x="11295583" y="4901184"/>
            <a:ext cx="274320" cy="274320"/>
          </a:xfrm>
          <a:prstGeom prst="rect">
            <a:avLst/>
          </a:prstGeom>
          <a:solidFill>
            <a:srgbClr val="CADCFC">
              <a:alpha val="12000"/>
            </a:srgbClr>
          </a:solidFill>
          <a:ln/>
        </p:spPr>
      </p:sp>
      <p:sp>
        <p:nvSpPr>
          <p:cNvPr id="18" name="Shape 16"/>
          <p:cNvSpPr/>
          <p:nvPr/>
        </p:nvSpPr>
        <p:spPr>
          <a:xfrm>
            <a:off x="8991295" y="5230368"/>
            <a:ext cx="274320" cy="274320"/>
          </a:xfrm>
          <a:prstGeom prst="rect">
            <a:avLst/>
          </a:prstGeom>
          <a:solidFill>
            <a:srgbClr val="CADCFC">
              <a:alpha val="12000"/>
            </a:srgbClr>
          </a:solidFill>
          <a:ln/>
        </p:spPr>
      </p:sp>
      <p:sp>
        <p:nvSpPr>
          <p:cNvPr id="19" name="Shape 17"/>
          <p:cNvSpPr/>
          <p:nvPr/>
        </p:nvSpPr>
        <p:spPr>
          <a:xfrm>
            <a:off x="9320479" y="5230368"/>
            <a:ext cx="274320" cy="274320"/>
          </a:xfrm>
          <a:prstGeom prst="rect">
            <a:avLst/>
          </a:prstGeom>
          <a:solidFill>
            <a:srgbClr val="CADCFC">
              <a:alpha val="12000"/>
            </a:srgbClr>
          </a:solidFill>
          <a:ln/>
        </p:spPr>
      </p:sp>
      <p:sp>
        <p:nvSpPr>
          <p:cNvPr id="20" name="Shape 18"/>
          <p:cNvSpPr/>
          <p:nvPr/>
        </p:nvSpPr>
        <p:spPr>
          <a:xfrm>
            <a:off x="9649663" y="5230368"/>
            <a:ext cx="274320" cy="274320"/>
          </a:xfrm>
          <a:prstGeom prst="rect">
            <a:avLst/>
          </a:prstGeom>
          <a:solidFill>
            <a:srgbClr val="CADCFC">
              <a:alpha val="12000"/>
            </a:srgbClr>
          </a:solidFill>
          <a:ln/>
        </p:spPr>
      </p:sp>
      <p:sp>
        <p:nvSpPr>
          <p:cNvPr id="21" name="Shape 19"/>
          <p:cNvSpPr/>
          <p:nvPr/>
        </p:nvSpPr>
        <p:spPr>
          <a:xfrm>
            <a:off x="9978847" y="5230368"/>
            <a:ext cx="274320" cy="274320"/>
          </a:xfrm>
          <a:prstGeom prst="rect">
            <a:avLst/>
          </a:prstGeom>
          <a:solidFill>
            <a:srgbClr val="CADCFC">
              <a:alpha val="12000"/>
            </a:srgbClr>
          </a:solidFill>
          <a:ln/>
        </p:spPr>
      </p:sp>
      <p:sp>
        <p:nvSpPr>
          <p:cNvPr id="22" name="Shape 20"/>
          <p:cNvSpPr/>
          <p:nvPr/>
        </p:nvSpPr>
        <p:spPr>
          <a:xfrm>
            <a:off x="10308031" y="5230368"/>
            <a:ext cx="274320" cy="274320"/>
          </a:xfrm>
          <a:prstGeom prst="rect">
            <a:avLst/>
          </a:prstGeom>
          <a:solidFill>
            <a:srgbClr val="CADCFC">
              <a:alpha val="12000"/>
            </a:srgbClr>
          </a:solidFill>
          <a:ln/>
        </p:spPr>
      </p:sp>
      <p:sp>
        <p:nvSpPr>
          <p:cNvPr id="23" name="Shape 21"/>
          <p:cNvSpPr/>
          <p:nvPr/>
        </p:nvSpPr>
        <p:spPr>
          <a:xfrm>
            <a:off x="10637215" y="5230368"/>
            <a:ext cx="274320" cy="274320"/>
          </a:xfrm>
          <a:prstGeom prst="rect">
            <a:avLst/>
          </a:prstGeom>
          <a:solidFill>
            <a:srgbClr val="CADCFC">
              <a:alpha val="12000"/>
            </a:srgbClr>
          </a:solidFill>
          <a:ln/>
        </p:spPr>
      </p:sp>
      <p:sp>
        <p:nvSpPr>
          <p:cNvPr id="24" name="Shape 22"/>
          <p:cNvSpPr/>
          <p:nvPr/>
        </p:nvSpPr>
        <p:spPr>
          <a:xfrm>
            <a:off x="10966399" y="5230368"/>
            <a:ext cx="274320" cy="274320"/>
          </a:xfrm>
          <a:prstGeom prst="rect">
            <a:avLst/>
          </a:prstGeom>
          <a:solidFill>
            <a:srgbClr val="CADCFC">
              <a:alpha val="12000"/>
            </a:srgbClr>
          </a:solidFill>
          <a:ln/>
        </p:spPr>
      </p:sp>
      <p:sp>
        <p:nvSpPr>
          <p:cNvPr id="25" name="Shape 23"/>
          <p:cNvSpPr/>
          <p:nvPr/>
        </p:nvSpPr>
        <p:spPr>
          <a:xfrm>
            <a:off x="11295583" y="5230368"/>
            <a:ext cx="274320" cy="274320"/>
          </a:xfrm>
          <a:prstGeom prst="rect">
            <a:avLst/>
          </a:prstGeom>
          <a:solidFill>
            <a:srgbClr val="CADCFC">
              <a:alpha val="12000"/>
            </a:srgbClr>
          </a:solidFill>
          <a:ln/>
        </p:spPr>
      </p:sp>
      <p:sp>
        <p:nvSpPr>
          <p:cNvPr id="26" name="Shape 24"/>
          <p:cNvSpPr/>
          <p:nvPr/>
        </p:nvSpPr>
        <p:spPr>
          <a:xfrm>
            <a:off x="8991295" y="5559552"/>
            <a:ext cx="274320" cy="274320"/>
          </a:xfrm>
          <a:prstGeom prst="rect">
            <a:avLst/>
          </a:prstGeom>
          <a:solidFill>
            <a:srgbClr val="CADCFC">
              <a:alpha val="12000"/>
            </a:srgbClr>
          </a:solidFill>
          <a:ln/>
        </p:spPr>
      </p:sp>
      <p:sp>
        <p:nvSpPr>
          <p:cNvPr id="27" name="Shape 25"/>
          <p:cNvSpPr/>
          <p:nvPr/>
        </p:nvSpPr>
        <p:spPr>
          <a:xfrm>
            <a:off x="9320479" y="5559552"/>
            <a:ext cx="274320" cy="274320"/>
          </a:xfrm>
          <a:prstGeom prst="rect">
            <a:avLst/>
          </a:prstGeom>
          <a:solidFill>
            <a:srgbClr val="CADCFC">
              <a:alpha val="12000"/>
            </a:srgbClr>
          </a:solidFill>
          <a:ln/>
        </p:spPr>
      </p:sp>
      <p:sp>
        <p:nvSpPr>
          <p:cNvPr id="28" name="Shape 26"/>
          <p:cNvSpPr/>
          <p:nvPr/>
        </p:nvSpPr>
        <p:spPr>
          <a:xfrm>
            <a:off x="9649663" y="5559552"/>
            <a:ext cx="274320" cy="274320"/>
          </a:xfrm>
          <a:prstGeom prst="rect">
            <a:avLst/>
          </a:prstGeom>
          <a:solidFill>
            <a:srgbClr val="CADCFC">
              <a:alpha val="12000"/>
            </a:srgbClr>
          </a:solidFill>
          <a:ln/>
        </p:spPr>
      </p:sp>
      <p:sp>
        <p:nvSpPr>
          <p:cNvPr id="29" name="Shape 27"/>
          <p:cNvSpPr/>
          <p:nvPr/>
        </p:nvSpPr>
        <p:spPr>
          <a:xfrm>
            <a:off x="9978847" y="5559552"/>
            <a:ext cx="274320" cy="274320"/>
          </a:xfrm>
          <a:prstGeom prst="rect">
            <a:avLst/>
          </a:prstGeom>
          <a:solidFill>
            <a:srgbClr val="CADCFC">
              <a:alpha val="12000"/>
            </a:srgbClr>
          </a:solidFill>
          <a:ln/>
        </p:spPr>
      </p:sp>
      <p:sp>
        <p:nvSpPr>
          <p:cNvPr id="30" name="Shape 28"/>
          <p:cNvSpPr/>
          <p:nvPr/>
        </p:nvSpPr>
        <p:spPr>
          <a:xfrm>
            <a:off x="10308031" y="5559552"/>
            <a:ext cx="274320" cy="274320"/>
          </a:xfrm>
          <a:prstGeom prst="rect">
            <a:avLst/>
          </a:prstGeom>
          <a:solidFill>
            <a:srgbClr val="CADCFC">
              <a:alpha val="12000"/>
            </a:srgbClr>
          </a:solidFill>
          <a:ln/>
        </p:spPr>
      </p:sp>
      <p:sp>
        <p:nvSpPr>
          <p:cNvPr id="31" name="Shape 29"/>
          <p:cNvSpPr/>
          <p:nvPr/>
        </p:nvSpPr>
        <p:spPr>
          <a:xfrm>
            <a:off x="10637215" y="5559552"/>
            <a:ext cx="274320" cy="274320"/>
          </a:xfrm>
          <a:prstGeom prst="rect">
            <a:avLst/>
          </a:prstGeom>
          <a:solidFill>
            <a:srgbClr val="CADCFC">
              <a:alpha val="12000"/>
            </a:srgbClr>
          </a:solidFill>
          <a:ln/>
        </p:spPr>
      </p:sp>
      <p:sp>
        <p:nvSpPr>
          <p:cNvPr id="32" name="Shape 30"/>
          <p:cNvSpPr/>
          <p:nvPr/>
        </p:nvSpPr>
        <p:spPr>
          <a:xfrm>
            <a:off x="10966399" y="5559552"/>
            <a:ext cx="274320" cy="274320"/>
          </a:xfrm>
          <a:prstGeom prst="rect">
            <a:avLst/>
          </a:prstGeom>
          <a:solidFill>
            <a:srgbClr val="2F5FAE"/>
          </a:solidFill>
          <a:ln/>
        </p:spPr>
      </p:sp>
      <p:sp>
        <p:nvSpPr>
          <p:cNvPr id="33" name="Shape 31"/>
          <p:cNvSpPr/>
          <p:nvPr/>
        </p:nvSpPr>
        <p:spPr>
          <a:xfrm>
            <a:off x="11295583" y="5559552"/>
            <a:ext cx="274320" cy="274320"/>
          </a:xfrm>
          <a:prstGeom prst="rect">
            <a:avLst/>
          </a:prstGeom>
          <a:solidFill>
            <a:srgbClr val="CADCFC">
              <a:alpha val="12000"/>
            </a:srgbClr>
          </a:solidFill>
          <a:ln/>
        </p:spPr>
      </p:sp>
      <p:sp>
        <p:nvSpPr>
          <p:cNvPr id="34" name="Shape 32"/>
          <p:cNvSpPr/>
          <p:nvPr/>
        </p:nvSpPr>
        <p:spPr>
          <a:xfrm>
            <a:off x="8991295" y="5888736"/>
            <a:ext cx="274320" cy="274320"/>
          </a:xfrm>
          <a:prstGeom prst="rect">
            <a:avLst/>
          </a:prstGeom>
          <a:solidFill>
            <a:srgbClr val="CADCFC">
              <a:alpha val="12000"/>
            </a:srgbClr>
          </a:solidFill>
          <a:ln/>
        </p:spPr>
      </p:sp>
      <p:sp>
        <p:nvSpPr>
          <p:cNvPr id="35" name="Shape 33"/>
          <p:cNvSpPr/>
          <p:nvPr/>
        </p:nvSpPr>
        <p:spPr>
          <a:xfrm>
            <a:off x="9320479" y="5888736"/>
            <a:ext cx="274320" cy="274320"/>
          </a:xfrm>
          <a:prstGeom prst="rect">
            <a:avLst/>
          </a:prstGeom>
          <a:solidFill>
            <a:srgbClr val="CADCFC">
              <a:alpha val="12000"/>
            </a:srgbClr>
          </a:solidFill>
          <a:ln/>
        </p:spPr>
      </p:sp>
      <p:sp>
        <p:nvSpPr>
          <p:cNvPr id="36" name="Shape 34"/>
          <p:cNvSpPr/>
          <p:nvPr/>
        </p:nvSpPr>
        <p:spPr>
          <a:xfrm>
            <a:off x="9649663" y="5888736"/>
            <a:ext cx="274320" cy="274320"/>
          </a:xfrm>
          <a:prstGeom prst="rect">
            <a:avLst/>
          </a:prstGeom>
          <a:solidFill>
            <a:srgbClr val="CADCFC">
              <a:alpha val="12000"/>
            </a:srgbClr>
          </a:solidFill>
          <a:ln/>
        </p:spPr>
      </p:sp>
      <p:sp>
        <p:nvSpPr>
          <p:cNvPr id="37" name="Shape 35"/>
          <p:cNvSpPr/>
          <p:nvPr/>
        </p:nvSpPr>
        <p:spPr>
          <a:xfrm>
            <a:off x="9978847" y="5888736"/>
            <a:ext cx="274320" cy="274320"/>
          </a:xfrm>
          <a:prstGeom prst="rect">
            <a:avLst/>
          </a:prstGeom>
          <a:solidFill>
            <a:srgbClr val="CADCFC">
              <a:alpha val="12000"/>
            </a:srgbClr>
          </a:solidFill>
          <a:ln/>
        </p:spPr>
      </p:sp>
      <p:sp>
        <p:nvSpPr>
          <p:cNvPr id="38" name="Shape 36"/>
          <p:cNvSpPr/>
          <p:nvPr/>
        </p:nvSpPr>
        <p:spPr>
          <a:xfrm>
            <a:off x="10308031" y="5888736"/>
            <a:ext cx="274320" cy="274320"/>
          </a:xfrm>
          <a:prstGeom prst="rect">
            <a:avLst/>
          </a:prstGeom>
          <a:solidFill>
            <a:srgbClr val="CADCFC">
              <a:alpha val="12000"/>
            </a:srgbClr>
          </a:solidFill>
          <a:ln/>
        </p:spPr>
      </p:sp>
      <p:sp>
        <p:nvSpPr>
          <p:cNvPr id="39" name="Shape 37"/>
          <p:cNvSpPr/>
          <p:nvPr/>
        </p:nvSpPr>
        <p:spPr>
          <a:xfrm>
            <a:off x="10637215" y="5888736"/>
            <a:ext cx="274320" cy="274320"/>
          </a:xfrm>
          <a:prstGeom prst="rect">
            <a:avLst/>
          </a:prstGeom>
          <a:solidFill>
            <a:srgbClr val="CADCFC">
              <a:alpha val="12000"/>
            </a:srgbClr>
          </a:solidFill>
          <a:ln/>
        </p:spPr>
      </p:sp>
      <p:sp>
        <p:nvSpPr>
          <p:cNvPr id="40" name="Shape 38"/>
          <p:cNvSpPr/>
          <p:nvPr/>
        </p:nvSpPr>
        <p:spPr>
          <a:xfrm>
            <a:off x="10966399" y="5888736"/>
            <a:ext cx="274320" cy="274320"/>
          </a:xfrm>
          <a:prstGeom prst="rect">
            <a:avLst/>
          </a:prstGeom>
          <a:solidFill>
            <a:srgbClr val="CADCFC">
              <a:alpha val="12000"/>
            </a:srgbClr>
          </a:solidFill>
          <a:ln/>
        </p:spPr>
      </p:sp>
      <p:sp>
        <p:nvSpPr>
          <p:cNvPr id="41" name="Shape 39"/>
          <p:cNvSpPr/>
          <p:nvPr/>
        </p:nvSpPr>
        <p:spPr>
          <a:xfrm>
            <a:off x="11295583" y="5888736"/>
            <a:ext cx="274320" cy="274320"/>
          </a:xfrm>
          <a:prstGeom prst="rect">
            <a:avLst/>
          </a:prstGeom>
          <a:solidFill>
            <a:srgbClr val="2F5FAE"/>
          </a:solidFill>
          <a:ln/>
        </p:spPr>
      </p:sp>
      <p:sp>
        <p:nvSpPr>
          <p:cNvPr id="42" name="Text 40"/>
          <p:cNvSpPr txBox="1"/>
          <p:nvPr/>
        </p:nvSpPr>
        <p:spPr>
          <a:xfrm>
            <a:off x="640080" y="1874520"/>
            <a:ext cx="1828800" cy="1280160"/>
          </a:xfrm>
          <a:prstGeom prst="rect">
            <a:avLst/>
          </a:prstGeom>
          <a:noFill/>
          <a:ln/>
        </p:spPr>
        <p:txBody>
          <a:bodyPr wrap="square" lIns="0" tIns="0" rIns="0" bIns="0" rtlCol="0" anchor="ctr"/>
          <a:lstStyle/>
          <a:p>
            <a:pPr indent="0" marL="0">
              <a:buNone/>
            </a:pPr>
            <a:r>
              <a:rPr lang="en-US" sz="6400" b="1" dirty="0">
                <a:solidFill>
                  <a:srgbClr val="FFD479"/>
                </a:solidFill>
                <a:latin typeface="Meiryo" pitchFamily="34" charset="0"/>
                <a:ea typeface="Meiryo" pitchFamily="34" charset="-122"/>
                <a:cs typeface="Meiryo" pitchFamily="34" charset="-120"/>
              </a:rPr>
              <a:t>2</a:t>
            </a:r>
            <a:endParaRPr lang="en-US" sz="6400" dirty="0"/>
          </a:p>
        </p:txBody>
      </p:sp>
      <p:sp>
        <p:nvSpPr>
          <p:cNvPr id="43" name="Text 41"/>
          <p:cNvSpPr txBox="1"/>
          <p:nvPr/>
        </p:nvSpPr>
        <p:spPr>
          <a:xfrm>
            <a:off x="2011680" y="2084832"/>
            <a:ext cx="5486400" cy="365760"/>
          </a:xfrm>
          <a:prstGeom prst="rect">
            <a:avLst/>
          </a:prstGeom>
          <a:noFill/>
          <a:ln/>
        </p:spPr>
        <p:txBody>
          <a:bodyPr wrap="square" lIns="0" tIns="0" rIns="0" bIns="0" rtlCol="0" anchor="ctr"/>
          <a:lstStyle/>
          <a:p>
            <a:pPr indent="0" marL="0">
              <a:buNone/>
            </a:pPr>
            <a:r>
              <a:rPr lang="en-US" sz="1200" b="1" spc="160" kern="0" dirty="0">
                <a:solidFill>
                  <a:srgbClr val="CADCFC"/>
                </a:solidFill>
                <a:latin typeface="Meiryo" pitchFamily="34" charset="0"/>
                <a:ea typeface="Meiryo" pitchFamily="34" charset="-122"/>
                <a:cs typeface="Meiryo" pitchFamily="34" charset="-120"/>
              </a:rPr>
              <a:t>THE PROPOSAL</a:t>
            </a:r>
            <a:endParaRPr lang="en-US" sz="1200" dirty="0"/>
          </a:p>
        </p:txBody>
      </p:sp>
      <p:sp>
        <p:nvSpPr>
          <p:cNvPr id="44" name="Text 42"/>
          <p:cNvSpPr txBox="1"/>
          <p:nvPr/>
        </p:nvSpPr>
        <p:spPr>
          <a:xfrm>
            <a:off x="1965960" y="2395728"/>
            <a:ext cx="7315200" cy="731520"/>
          </a:xfrm>
          <a:prstGeom prst="rect">
            <a:avLst/>
          </a:prstGeom>
          <a:noFill/>
          <a:ln/>
        </p:spPr>
        <p:txBody>
          <a:bodyPr wrap="square" lIns="0" tIns="0" rIns="0" bIns="0" rtlCol="0" anchor="ctr"/>
          <a:lstStyle/>
          <a:p>
            <a:pPr indent="0" marL="0">
              <a:buNone/>
            </a:pPr>
            <a:r>
              <a:rPr lang="en-US" sz="3400" b="1" dirty="0">
                <a:solidFill>
                  <a:srgbClr val="FFFFFF"/>
                </a:solidFill>
                <a:latin typeface="Meiryo" pitchFamily="34" charset="0"/>
                <a:ea typeface="Meiryo" pitchFamily="34" charset="-122"/>
                <a:cs typeface="Meiryo" pitchFamily="34" charset="-120"/>
              </a:rPr>
              <a:t>商用化の企画</a:t>
            </a:r>
            <a:endParaRPr lang="en-US" sz="3400" dirty="0"/>
          </a:p>
        </p:txBody>
      </p:sp>
      <p:sp>
        <p:nvSpPr>
          <p:cNvPr id="45" name="Text 43"/>
          <p:cNvSpPr txBox="1"/>
          <p:nvPr/>
        </p:nvSpPr>
        <p:spPr>
          <a:xfrm>
            <a:off x="2011680" y="3246120"/>
            <a:ext cx="7680960" cy="548640"/>
          </a:xfrm>
          <a:prstGeom prst="rect">
            <a:avLst/>
          </a:prstGeom>
          <a:noFill/>
          <a:ln/>
        </p:spPr>
        <p:txBody>
          <a:bodyPr wrap="square" lIns="0" tIns="0" rIns="0" bIns="0" rtlCol="0" anchor="ctr"/>
          <a:lstStyle/>
          <a:p>
            <a:pPr indent="0" marL="0">
              <a:lnSpc>
                <a:spcPts val="2000"/>
              </a:lnSpc>
              <a:buNone/>
            </a:pPr>
            <a:r>
              <a:rPr lang="en-US" sz="1300" dirty="0">
                <a:solidFill>
                  <a:srgbClr val="CADCFC"/>
                </a:solidFill>
                <a:latin typeface="Meiryo" pitchFamily="34" charset="0"/>
                <a:ea typeface="Meiryo" pitchFamily="34" charset="-122"/>
                <a:cs typeface="Meiryo" pitchFamily="34" charset="-120"/>
              </a:rPr>
              <a:t>どこで、いくらで、どう売るか</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146304" cy="146304"/>
          </a:xfrm>
          <a:prstGeom prst="rect">
            <a:avLst/>
          </a:prstGeom>
          <a:solidFill>
            <a:srgbClr val="2F5FAE"/>
          </a:solidFill>
          <a:ln/>
        </p:spPr>
      </p:sp>
      <p:sp>
        <p:nvSpPr>
          <p:cNvPr id="3" name="Text 1"/>
          <p:cNvSpPr txBox="1"/>
          <p:nvPr/>
        </p:nvSpPr>
        <p:spPr>
          <a:xfrm>
            <a:off x="896112" y="402336"/>
            <a:ext cx="8229600" cy="292608"/>
          </a:xfrm>
          <a:prstGeom prst="rect">
            <a:avLst/>
          </a:prstGeom>
          <a:noFill/>
          <a:ln/>
        </p:spPr>
        <p:txBody>
          <a:bodyPr wrap="square" lIns="0" tIns="0" rIns="0" bIns="0" rtlCol="0" anchor="ctr"/>
          <a:lstStyle/>
          <a:p>
            <a:pPr indent="0" marL="0">
              <a:buNone/>
            </a:pPr>
            <a:r>
              <a:rPr lang="en-US" sz="1200" b="1" spc="140" kern="0" dirty="0">
                <a:solidFill>
                  <a:srgbClr val="2F5FAE"/>
                </a:solidFill>
                <a:latin typeface="Meiryo" pitchFamily="34" charset="0"/>
                <a:ea typeface="Meiryo" pitchFamily="34" charset="-122"/>
                <a:cs typeface="Meiryo" pitchFamily="34" charset="-120"/>
              </a:rPr>
              <a:t>2-1  企画</a:t>
            </a:r>
            <a:endParaRPr lang="en-US" sz="1200" dirty="0"/>
          </a:p>
        </p:txBody>
      </p:sp>
      <p:sp>
        <p:nvSpPr>
          <p:cNvPr id="4" name="Text 2"/>
          <p:cNvSpPr txBox="1"/>
          <p:nvPr/>
        </p:nvSpPr>
        <p:spPr>
          <a:xfrm>
            <a:off x="640080" y="749808"/>
            <a:ext cx="10911535" cy="658368"/>
          </a:xfrm>
          <a:prstGeom prst="rect">
            <a:avLst/>
          </a:prstGeom>
          <a:noFill/>
          <a:ln/>
        </p:spPr>
        <p:txBody>
          <a:bodyPr wrap="square" lIns="0" tIns="0" rIns="0" bIns="0" rtlCol="0" anchor="ctr"/>
          <a:lstStyle/>
          <a:p>
            <a:pPr indent="0" marL="0">
              <a:buNone/>
            </a:pPr>
            <a:r>
              <a:rPr lang="en-US" sz="3000" b="1" dirty="0">
                <a:solidFill>
                  <a:srgbClr val="1A1A2E"/>
                </a:solidFill>
                <a:latin typeface="Meiryo" pitchFamily="34" charset="0"/>
                <a:ea typeface="Meiryo" pitchFamily="34" charset="-122"/>
                <a:cs typeface="Meiryo" pitchFamily="34" charset="-120"/>
              </a:rPr>
              <a:t>コンセプトとターゲット</a:t>
            </a:r>
            <a:endParaRPr lang="en-US" sz="3000" dirty="0"/>
          </a:p>
        </p:txBody>
      </p:sp>
      <p:sp>
        <p:nvSpPr>
          <p:cNvPr id="5" name="Shape 3"/>
          <p:cNvSpPr/>
          <p:nvPr/>
        </p:nvSpPr>
        <p:spPr>
          <a:xfrm>
            <a:off x="640080" y="1554480"/>
            <a:ext cx="10911535" cy="1051560"/>
          </a:xfrm>
          <a:prstGeom prst="roundRect">
            <a:avLst>
              <a:gd name="adj" fmla="val 5217"/>
            </a:avLst>
          </a:prstGeom>
          <a:solidFill>
            <a:srgbClr val="1A1A2E"/>
          </a:solidFill>
          <a:ln/>
        </p:spPr>
      </p:sp>
      <p:sp>
        <p:nvSpPr>
          <p:cNvPr id="6" name="Text 4"/>
          <p:cNvSpPr txBox="1"/>
          <p:nvPr/>
        </p:nvSpPr>
        <p:spPr>
          <a:xfrm>
            <a:off x="1051560" y="1755648"/>
            <a:ext cx="10088575" cy="640080"/>
          </a:xfrm>
          <a:prstGeom prst="rect">
            <a:avLst/>
          </a:prstGeom>
          <a:noFill/>
          <a:ln/>
        </p:spPr>
        <p:txBody>
          <a:bodyPr wrap="square" lIns="0" tIns="0" rIns="0" bIns="0" rtlCol="0" anchor="ctr"/>
          <a:lstStyle/>
          <a:p>
            <a:pPr indent="0" marL="0">
              <a:buNone/>
            </a:pPr>
            <a:r>
              <a:rPr lang="en-US" sz="1700" b="1" dirty="0">
                <a:solidFill>
                  <a:srgbClr val="FFFFFF"/>
                </a:solidFill>
                <a:latin typeface="Meiryo" pitchFamily="34" charset="0"/>
                <a:ea typeface="Meiryo" pitchFamily="34" charset="-122"/>
                <a:cs typeface="Meiryo" pitchFamily="34" charset="-120"/>
              </a:rPr>
              <a:t>「1 ステージ 20 分で終わる、考える楽しさだけを詰めた現代版ウォーシミュレーション」</a:t>
            </a:r>
            <a:endParaRPr lang="en-US" sz="1700" dirty="0"/>
          </a:p>
        </p:txBody>
      </p:sp>
      <p:sp>
        <p:nvSpPr>
          <p:cNvPr id="7" name="Text 5"/>
          <p:cNvSpPr txBox="1"/>
          <p:nvPr/>
        </p:nvSpPr>
        <p:spPr>
          <a:xfrm>
            <a:off x="640080" y="2926080"/>
            <a:ext cx="5029200" cy="365760"/>
          </a:xfrm>
          <a:prstGeom prst="rect">
            <a:avLst/>
          </a:prstGeom>
          <a:noFill/>
          <a:ln/>
        </p:spPr>
        <p:txBody>
          <a:bodyPr wrap="square" lIns="0" tIns="0" rIns="0" bIns="0" rtlCol="0" anchor="ctr"/>
          <a:lstStyle/>
          <a:p>
            <a:pPr indent="0" marL="0">
              <a:buNone/>
            </a:pPr>
            <a:r>
              <a:rPr lang="en-US" sz="1500" b="1" dirty="0">
                <a:solidFill>
                  <a:srgbClr val="1A1A2E"/>
                </a:solidFill>
                <a:latin typeface="Meiryo" pitchFamily="34" charset="0"/>
                <a:ea typeface="Meiryo" pitchFamily="34" charset="-122"/>
                <a:cs typeface="Meiryo" pitchFamily="34" charset="-120"/>
              </a:rPr>
              <a:t>商用版で足す 3 点</a:t>
            </a:r>
            <a:endParaRPr lang="en-US" sz="1500" dirty="0"/>
          </a:p>
        </p:txBody>
      </p:sp>
      <p:sp>
        <p:nvSpPr>
          <p:cNvPr id="8" name="Shape 6"/>
          <p:cNvSpPr/>
          <p:nvPr/>
        </p:nvSpPr>
        <p:spPr>
          <a:xfrm>
            <a:off x="640080" y="3429000"/>
            <a:ext cx="5394960" cy="786384"/>
          </a:xfrm>
          <a:prstGeom prst="roundRect">
            <a:avLst>
              <a:gd name="adj" fmla="val 9302"/>
            </a:avLst>
          </a:prstGeom>
          <a:solidFill>
            <a:srgbClr val="F2F4F8"/>
          </a:solidFill>
          <a:ln/>
          <a:effectLst>
            <a:outerShdw sx="100000" sy="100000" kx="0" ky="0" algn="bl" rotWithShape="0" blurRad="101600" dist="12700" dir="5400000">
              <a:srgbClr val="9AA1B4">
                <a:alpha val="18000"/>
              </a:srgbClr>
            </a:outerShdw>
          </a:effectLst>
        </p:spPr>
      </p:sp>
      <p:sp>
        <p:nvSpPr>
          <p:cNvPr id="9" name="Text 7"/>
          <p:cNvSpPr txBox="1"/>
          <p:nvPr/>
        </p:nvSpPr>
        <p:spPr>
          <a:xfrm>
            <a:off x="914400" y="3575304"/>
            <a:ext cx="411480" cy="457200"/>
          </a:xfrm>
          <a:prstGeom prst="rect">
            <a:avLst/>
          </a:prstGeom>
          <a:noFill/>
          <a:ln/>
        </p:spPr>
        <p:txBody>
          <a:bodyPr wrap="square" lIns="0" tIns="0" rIns="0" bIns="0" rtlCol="0" anchor="ctr"/>
          <a:lstStyle/>
          <a:p>
            <a:pPr indent="0" marL="0">
              <a:buNone/>
            </a:pPr>
            <a:r>
              <a:rPr lang="en-US" sz="2000" b="1" dirty="0">
                <a:solidFill>
                  <a:srgbClr val="2F5FAE"/>
                </a:solidFill>
                <a:latin typeface="Meiryo" pitchFamily="34" charset="0"/>
                <a:ea typeface="Meiryo" pitchFamily="34" charset="-122"/>
                <a:cs typeface="Meiryo" pitchFamily="34" charset="-120"/>
              </a:rPr>
              <a:t>1</a:t>
            </a:r>
            <a:endParaRPr lang="en-US" sz="2000" dirty="0"/>
          </a:p>
        </p:txBody>
      </p:sp>
      <p:sp>
        <p:nvSpPr>
          <p:cNvPr id="10" name="Text 8"/>
          <p:cNvSpPr txBox="1"/>
          <p:nvPr/>
        </p:nvSpPr>
        <p:spPr>
          <a:xfrm>
            <a:off x="1417320" y="3547872"/>
            <a:ext cx="4389120" cy="274320"/>
          </a:xfrm>
          <a:prstGeom prst="rect">
            <a:avLst/>
          </a:prstGeom>
          <a:noFill/>
          <a:ln/>
        </p:spPr>
        <p:txBody>
          <a:bodyPr wrap="square" lIns="0" tIns="0" rIns="0" bIns="0" rtlCol="0" anchor="ctr"/>
          <a:lstStyle/>
          <a:p>
            <a:pPr indent="0" marL="0">
              <a:buNone/>
            </a:pPr>
            <a:r>
              <a:rPr lang="en-US" sz="1350" b="1" dirty="0">
                <a:solidFill>
                  <a:srgbClr val="1A1A2E"/>
                </a:solidFill>
                <a:latin typeface="Meiryo" pitchFamily="34" charset="0"/>
                <a:ea typeface="Meiryo" pitchFamily="34" charset="-122"/>
                <a:cs typeface="Meiryo" pitchFamily="34" charset="-120"/>
              </a:rPr>
              <a:t>見た目と音の商品性</a:t>
            </a:r>
            <a:endParaRPr lang="en-US" sz="1350" dirty="0"/>
          </a:p>
        </p:txBody>
      </p:sp>
      <p:sp>
        <p:nvSpPr>
          <p:cNvPr id="11" name="Text 9"/>
          <p:cNvSpPr txBox="1"/>
          <p:nvPr/>
        </p:nvSpPr>
        <p:spPr>
          <a:xfrm>
            <a:off x="1417320" y="3831336"/>
            <a:ext cx="4389120" cy="256032"/>
          </a:xfrm>
          <a:prstGeom prst="rect">
            <a:avLst/>
          </a:prstGeom>
          <a:noFill/>
          <a:ln/>
        </p:spPr>
        <p:txBody>
          <a:bodyPr wrap="square" lIns="0" tIns="0" rIns="0" bIns="0" rtlCol="0" anchor="ctr"/>
          <a:lstStyle/>
          <a:p>
            <a:pPr indent="0" marL="0">
              <a:buNone/>
            </a:pPr>
            <a:r>
              <a:rPr lang="en-US" sz="1100" dirty="0">
                <a:solidFill>
                  <a:srgbClr val="767B91"/>
                </a:solidFill>
                <a:latin typeface="Meiryo" pitchFamily="34" charset="0"/>
                <a:ea typeface="Meiryo" pitchFamily="34" charset="-122"/>
                <a:cs typeface="Meiryo" pitchFamily="34" charset="-120"/>
              </a:rPr>
              <a:t>コード描画・合成音を作品として仕上げる</a:t>
            </a:r>
            <a:endParaRPr lang="en-US" sz="1100" dirty="0"/>
          </a:p>
        </p:txBody>
      </p:sp>
      <p:sp>
        <p:nvSpPr>
          <p:cNvPr id="12" name="Shape 10"/>
          <p:cNvSpPr/>
          <p:nvPr/>
        </p:nvSpPr>
        <p:spPr>
          <a:xfrm>
            <a:off x="640080" y="4325112"/>
            <a:ext cx="5394960" cy="786384"/>
          </a:xfrm>
          <a:prstGeom prst="roundRect">
            <a:avLst>
              <a:gd name="adj" fmla="val 9302"/>
            </a:avLst>
          </a:prstGeom>
          <a:solidFill>
            <a:srgbClr val="F2F4F8"/>
          </a:solidFill>
          <a:ln/>
          <a:effectLst>
            <a:outerShdw sx="100000" sy="100000" kx="0" ky="0" algn="bl" rotWithShape="0" blurRad="101600" dist="12700" dir="5400000">
              <a:srgbClr val="9AA1B4">
                <a:alpha val="18000"/>
              </a:srgbClr>
            </a:outerShdw>
          </a:effectLst>
        </p:spPr>
      </p:sp>
      <p:sp>
        <p:nvSpPr>
          <p:cNvPr id="13" name="Text 11"/>
          <p:cNvSpPr txBox="1"/>
          <p:nvPr/>
        </p:nvSpPr>
        <p:spPr>
          <a:xfrm>
            <a:off x="914400" y="4471416"/>
            <a:ext cx="411480" cy="457200"/>
          </a:xfrm>
          <a:prstGeom prst="rect">
            <a:avLst/>
          </a:prstGeom>
          <a:noFill/>
          <a:ln/>
        </p:spPr>
        <p:txBody>
          <a:bodyPr wrap="square" lIns="0" tIns="0" rIns="0" bIns="0" rtlCol="0" anchor="ctr"/>
          <a:lstStyle/>
          <a:p>
            <a:pPr indent="0" marL="0">
              <a:buNone/>
            </a:pPr>
            <a:r>
              <a:rPr lang="en-US" sz="2000" b="1" dirty="0">
                <a:solidFill>
                  <a:srgbClr val="2F5FAE"/>
                </a:solidFill>
                <a:latin typeface="Meiryo" pitchFamily="34" charset="0"/>
                <a:ea typeface="Meiryo" pitchFamily="34" charset="-122"/>
                <a:cs typeface="Meiryo" pitchFamily="34" charset="-120"/>
              </a:rPr>
              <a:t>2</a:t>
            </a:r>
            <a:endParaRPr lang="en-US" sz="2000" dirty="0"/>
          </a:p>
        </p:txBody>
      </p:sp>
      <p:sp>
        <p:nvSpPr>
          <p:cNvPr id="14" name="Text 12"/>
          <p:cNvSpPr txBox="1"/>
          <p:nvPr/>
        </p:nvSpPr>
        <p:spPr>
          <a:xfrm>
            <a:off x="1417320" y="4443984"/>
            <a:ext cx="4389120" cy="274320"/>
          </a:xfrm>
          <a:prstGeom prst="rect">
            <a:avLst/>
          </a:prstGeom>
          <a:noFill/>
          <a:ln/>
        </p:spPr>
        <p:txBody>
          <a:bodyPr wrap="square" lIns="0" tIns="0" rIns="0" bIns="0" rtlCol="0" anchor="ctr"/>
          <a:lstStyle/>
          <a:p>
            <a:pPr indent="0" marL="0">
              <a:buNone/>
            </a:pPr>
            <a:r>
              <a:rPr lang="en-US" sz="1350" b="1" dirty="0">
                <a:solidFill>
                  <a:srgbClr val="1A1A2E"/>
                </a:solidFill>
                <a:latin typeface="Meiryo" pitchFamily="34" charset="0"/>
                <a:ea typeface="Meiryo" pitchFamily="34" charset="-122"/>
                <a:cs typeface="Meiryo" pitchFamily="34" charset="-120"/>
              </a:rPr>
              <a:t>遊び続ける理由</a:t>
            </a:r>
            <a:endParaRPr lang="en-US" sz="1350" dirty="0"/>
          </a:p>
        </p:txBody>
      </p:sp>
      <p:sp>
        <p:nvSpPr>
          <p:cNvPr id="15" name="Text 13"/>
          <p:cNvSpPr txBox="1"/>
          <p:nvPr/>
        </p:nvSpPr>
        <p:spPr>
          <a:xfrm>
            <a:off x="1417320" y="4727448"/>
            <a:ext cx="4389120" cy="256032"/>
          </a:xfrm>
          <a:prstGeom prst="rect">
            <a:avLst/>
          </a:prstGeom>
          <a:noFill/>
          <a:ln/>
        </p:spPr>
        <p:txBody>
          <a:bodyPr wrap="square" lIns="0" tIns="0" rIns="0" bIns="0" rtlCol="0" anchor="ctr"/>
          <a:lstStyle/>
          <a:p>
            <a:pPr indent="0" marL="0">
              <a:buNone/>
            </a:pPr>
            <a:r>
              <a:rPr lang="en-US" sz="1100" dirty="0">
                <a:solidFill>
                  <a:srgbClr val="767B91"/>
                </a:solidFill>
                <a:latin typeface="Meiryo" pitchFamily="34" charset="0"/>
                <a:ea typeface="Meiryo" pitchFamily="34" charset="-122"/>
                <a:cs typeface="Meiryo" pitchFamily="34" charset="-120"/>
              </a:rPr>
              <a:t>キャンペーンと実績・戦績の可視化</a:t>
            </a:r>
            <a:endParaRPr lang="en-US" sz="1100" dirty="0"/>
          </a:p>
        </p:txBody>
      </p:sp>
      <p:sp>
        <p:nvSpPr>
          <p:cNvPr id="16" name="Shape 14"/>
          <p:cNvSpPr/>
          <p:nvPr/>
        </p:nvSpPr>
        <p:spPr>
          <a:xfrm>
            <a:off x="640080" y="5221224"/>
            <a:ext cx="5394960" cy="786384"/>
          </a:xfrm>
          <a:prstGeom prst="roundRect">
            <a:avLst>
              <a:gd name="adj" fmla="val 9302"/>
            </a:avLst>
          </a:prstGeom>
          <a:solidFill>
            <a:srgbClr val="F2F4F8"/>
          </a:solidFill>
          <a:ln/>
          <a:effectLst>
            <a:outerShdw sx="100000" sy="100000" kx="0" ky="0" algn="bl" rotWithShape="0" blurRad="101600" dist="12700" dir="5400000">
              <a:srgbClr val="9AA1B4">
                <a:alpha val="18000"/>
              </a:srgbClr>
            </a:outerShdw>
          </a:effectLst>
        </p:spPr>
      </p:sp>
      <p:sp>
        <p:nvSpPr>
          <p:cNvPr id="17" name="Text 15"/>
          <p:cNvSpPr txBox="1"/>
          <p:nvPr/>
        </p:nvSpPr>
        <p:spPr>
          <a:xfrm>
            <a:off x="914400" y="5367528"/>
            <a:ext cx="411480" cy="457200"/>
          </a:xfrm>
          <a:prstGeom prst="rect">
            <a:avLst/>
          </a:prstGeom>
          <a:noFill/>
          <a:ln/>
        </p:spPr>
        <p:txBody>
          <a:bodyPr wrap="square" lIns="0" tIns="0" rIns="0" bIns="0" rtlCol="0" anchor="ctr"/>
          <a:lstStyle/>
          <a:p>
            <a:pPr indent="0" marL="0">
              <a:buNone/>
            </a:pPr>
            <a:r>
              <a:rPr lang="en-US" sz="2000" b="1" dirty="0">
                <a:solidFill>
                  <a:srgbClr val="2F5FAE"/>
                </a:solidFill>
                <a:latin typeface="Meiryo" pitchFamily="34" charset="0"/>
                <a:ea typeface="Meiryo" pitchFamily="34" charset="-122"/>
                <a:cs typeface="Meiryo" pitchFamily="34" charset="-120"/>
              </a:rPr>
              <a:t>3</a:t>
            </a:r>
            <a:endParaRPr lang="en-US" sz="2000" dirty="0"/>
          </a:p>
        </p:txBody>
      </p:sp>
      <p:sp>
        <p:nvSpPr>
          <p:cNvPr id="18" name="Text 16"/>
          <p:cNvSpPr txBox="1"/>
          <p:nvPr/>
        </p:nvSpPr>
        <p:spPr>
          <a:xfrm>
            <a:off x="1417320" y="5340096"/>
            <a:ext cx="4389120" cy="274320"/>
          </a:xfrm>
          <a:prstGeom prst="rect">
            <a:avLst/>
          </a:prstGeom>
          <a:noFill/>
          <a:ln/>
        </p:spPr>
        <p:txBody>
          <a:bodyPr wrap="square" lIns="0" tIns="0" rIns="0" bIns="0" rtlCol="0" anchor="ctr"/>
          <a:lstStyle/>
          <a:p>
            <a:pPr indent="0" marL="0">
              <a:buNone/>
            </a:pPr>
            <a:r>
              <a:rPr lang="en-US" sz="1350" b="1" dirty="0">
                <a:solidFill>
                  <a:srgbClr val="1A1A2E"/>
                </a:solidFill>
                <a:latin typeface="Meiryo" pitchFamily="34" charset="0"/>
                <a:ea typeface="Meiryo" pitchFamily="34" charset="-122"/>
                <a:cs typeface="Meiryo" pitchFamily="34" charset="-120"/>
              </a:rPr>
              <a:t>入口の摩擦ゼロ</a:t>
            </a:r>
            <a:endParaRPr lang="en-US" sz="1350" dirty="0"/>
          </a:p>
        </p:txBody>
      </p:sp>
      <p:sp>
        <p:nvSpPr>
          <p:cNvPr id="19" name="Text 17"/>
          <p:cNvSpPr txBox="1"/>
          <p:nvPr/>
        </p:nvSpPr>
        <p:spPr>
          <a:xfrm>
            <a:off x="1417320" y="5623560"/>
            <a:ext cx="4389120" cy="256032"/>
          </a:xfrm>
          <a:prstGeom prst="rect">
            <a:avLst/>
          </a:prstGeom>
          <a:noFill/>
          <a:ln/>
        </p:spPr>
        <p:txBody>
          <a:bodyPr wrap="square" lIns="0" tIns="0" rIns="0" bIns="0" rtlCol="0" anchor="ctr"/>
          <a:lstStyle/>
          <a:p>
            <a:pPr indent="0" marL="0">
              <a:buNone/>
            </a:pPr>
            <a:r>
              <a:rPr lang="en-US" sz="1100" dirty="0">
                <a:solidFill>
                  <a:srgbClr val="767B91"/>
                </a:solidFill>
                <a:latin typeface="Meiryo" pitchFamily="34" charset="0"/>
                <a:ea typeface="Meiryo" pitchFamily="34" charset="-122"/>
                <a:cs typeface="Meiryo" pitchFamily="34" charset="-120"/>
              </a:rPr>
              <a:t>ブラウザで無料体験 → 気に入ったら購入</a:t>
            </a:r>
            <a:endParaRPr lang="en-US" sz="1100" dirty="0"/>
          </a:p>
        </p:txBody>
      </p:sp>
      <p:sp>
        <p:nvSpPr>
          <p:cNvPr id="20" name="Text 18"/>
          <p:cNvSpPr txBox="1"/>
          <p:nvPr/>
        </p:nvSpPr>
        <p:spPr>
          <a:xfrm>
            <a:off x="6309360" y="2926080"/>
            <a:ext cx="5029200" cy="365760"/>
          </a:xfrm>
          <a:prstGeom prst="rect">
            <a:avLst/>
          </a:prstGeom>
          <a:noFill/>
          <a:ln/>
        </p:spPr>
        <p:txBody>
          <a:bodyPr wrap="square" lIns="0" tIns="0" rIns="0" bIns="0" rtlCol="0" anchor="ctr"/>
          <a:lstStyle/>
          <a:p>
            <a:pPr indent="0" marL="0">
              <a:buNone/>
            </a:pPr>
            <a:r>
              <a:rPr lang="en-US" sz="1500" b="1" dirty="0">
                <a:solidFill>
                  <a:srgbClr val="1A1A2E"/>
                </a:solidFill>
                <a:latin typeface="Meiryo" pitchFamily="34" charset="0"/>
                <a:ea typeface="Meiryo" pitchFamily="34" charset="-122"/>
                <a:cs typeface="Meiryo" pitchFamily="34" charset="-120"/>
              </a:rPr>
              <a:t>ターゲット</a:t>
            </a:r>
            <a:endParaRPr lang="en-US" sz="1500" dirty="0"/>
          </a:p>
        </p:txBody>
      </p:sp>
      <p:sp>
        <p:nvSpPr>
          <p:cNvPr id="21" name="Shape 19"/>
          <p:cNvSpPr/>
          <p:nvPr/>
        </p:nvSpPr>
        <p:spPr>
          <a:xfrm>
            <a:off x="6309360" y="3429000"/>
            <a:ext cx="5239512" cy="786384"/>
          </a:xfrm>
          <a:prstGeom prst="roundRect">
            <a:avLst>
              <a:gd name="adj" fmla="val 9302"/>
            </a:avLst>
          </a:prstGeom>
          <a:solidFill>
            <a:srgbClr val="F2F4F8"/>
          </a:solidFill>
          <a:ln/>
          <a:effectLst>
            <a:outerShdw sx="100000" sy="100000" kx="0" ky="0" algn="bl" rotWithShape="0" blurRad="101600" dist="12700" dir="5400000">
              <a:srgbClr val="9AA1B4">
                <a:alpha val="18000"/>
              </a:srgbClr>
            </a:outerShdw>
          </a:effectLst>
        </p:spPr>
      </p:sp>
      <p:sp>
        <p:nvSpPr>
          <p:cNvPr id="22" name="Text 20"/>
          <p:cNvSpPr txBox="1"/>
          <p:nvPr/>
        </p:nvSpPr>
        <p:spPr>
          <a:xfrm>
            <a:off x="6583680" y="3547872"/>
            <a:ext cx="1828800" cy="274320"/>
          </a:xfrm>
          <a:prstGeom prst="rect">
            <a:avLst/>
          </a:prstGeom>
          <a:noFill/>
          <a:ln/>
        </p:spPr>
        <p:txBody>
          <a:bodyPr wrap="square" lIns="0" tIns="0" rIns="0" bIns="0" rtlCol="0" anchor="ctr"/>
          <a:lstStyle/>
          <a:p>
            <a:pPr indent="0" marL="0">
              <a:buNone/>
            </a:pPr>
            <a:r>
              <a:rPr lang="en-US" sz="1250" b="1" dirty="0">
                <a:solidFill>
                  <a:srgbClr val="2F5FAE"/>
                </a:solidFill>
                <a:latin typeface="Meiryo" pitchFamily="34" charset="0"/>
                <a:ea typeface="Meiryo" pitchFamily="34" charset="-122"/>
                <a:cs typeface="Meiryo" pitchFamily="34" charset="-120"/>
              </a:rPr>
              <a:t>メイン</a:t>
            </a:r>
            <a:endParaRPr lang="en-US" sz="1250" dirty="0"/>
          </a:p>
        </p:txBody>
      </p:sp>
      <p:sp>
        <p:nvSpPr>
          <p:cNvPr id="23" name="Text 21"/>
          <p:cNvSpPr txBox="1"/>
          <p:nvPr/>
        </p:nvSpPr>
        <p:spPr>
          <a:xfrm>
            <a:off x="6583680" y="3831336"/>
            <a:ext cx="4663440" cy="256032"/>
          </a:xfrm>
          <a:prstGeom prst="rect">
            <a:avLst/>
          </a:prstGeom>
          <a:noFill/>
          <a:ln/>
        </p:spPr>
        <p:txBody>
          <a:bodyPr wrap="square" lIns="0" tIns="0" rIns="0" bIns="0" rtlCol="0" anchor="ctr"/>
          <a:lstStyle/>
          <a:p>
            <a:pPr indent="0" marL="0">
              <a:buNone/>
            </a:pPr>
            <a:r>
              <a:rPr lang="en-US" sz="1100" dirty="0">
                <a:solidFill>
                  <a:srgbClr val="767B91"/>
                </a:solidFill>
                <a:latin typeface="Meiryo" pitchFamily="34" charset="0"/>
                <a:ea typeface="Meiryo" pitchFamily="34" charset="-122"/>
                <a:cs typeface="Meiryo" pitchFamily="34" charset="-120"/>
              </a:rPr>
              <a:t>往年のウォーシミュ経験者(30〜50 代)</a:t>
            </a:r>
            <a:endParaRPr lang="en-US" sz="1100" dirty="0"/>
          </a:p>
        </p:txBody>
      </p:sp>
      <p:sp>
        <p:nvSpPr>
          <p:cNvPr id="24" name="Shape 22"/>
          <p:cNvSpPr/>
          <p:nvPr/>
        </p:nvSpPr>
        <p:spPr>
          <a:xfrm>
            <a:off x="6309360" y="4325112"/>
            <a:ext cx="5239512" cy="786384"/>
          </a:xfrm>
          <a:prstGeom prst="roundRect">
            <a:avLst>
              <a:gd name="adj" fmla="val 9302"/>
            </a:avLst>
          </a:prstGeom>
          <a:solidFill>
            <a:srgbClr val="F2F4F8"/>
          </a:solidFill>
          <a:ln/>
          <a:effectLst>
            <a:outerShdw sx="100000" sy="100000" kx="0" ky="0" algn="bl" rotWithShape="0" blurRad="101600" dist="12700" dir="5400000">
              <a:srgbClr val="9AA1B4">
                <a:alpha val="18000"/>
              </a:srgbClr>
            </a:outerShdw>
          </a:effectLst>
        </p:spPr>
      </p:sp>
      <p:sp>
        <p:nvSpPr>
          <p:cNvPr id="25" name="Text 23"/>
          <p:cNvSpPr txBox="1"/>
          <p:nvPr/>
        </p:nvSpPr>
        <p:spPr>
          <a:xfrm>
            <a:off x="6583680" y="4443984"/>
            <a:ext cx="1828800" cy="274320"/>
          </a:xfrm>
          <a:prstGeom prst="rect">
            <a:avLst/>
          </a:prstGeom>
          <a:noFill/>
          <a:ln/>
        </p:spPr>
        <p:txBody>
          <a:bodyPr wrap="square" lIns="0" tIns="0" rIns="0" bIns="0" rtlCol="0" anchor="ctr"/>
          <a:lstStyle/>
          <a:p>
            <a:pPr indent="0" marL="0">
              <a:buNone/>
            </a:pPr>
            <a:r>
              <a:rPr lang="en-US" sz="1250" b="1" dirty="0">
                <a:solidFill>
                  <a:srgbClr val="2F5FAE"/>
                </a:solidFill>
                <a:latin typeface="Meiryo" pitchFamily="34" charset="0"/>
                <a:ea typeface="Meiryo" pitchFamily="34" charset="-122"/>
                <a:cs typeface="Meiryo" pitchFamily="34" charset="-120"/>
              </a:rPr>
              <a:t>サブ</a:t>
            </a:r>
            <a:endParaRPr lang="en-US" sz="1250" dirty="0"/>
          </a:p>
        </p:txBody>
      </p:sp>
      <p:sp>
        <p:nvSpPr>
          <p:cNvPr id="26" name="Text 24"/>
          <p:cNvSpPr txBox="1"/>
          <p:nvPr/>
        </p:nvSpPr>
        <p:spPr>
          <a:xfrm>
            <a:off x="6583680" y="4727448"/>
            <a:ext cx="4663440" cy="256032"/>
          </a:xfrm>
          <a:prstGeom prst="rect">
            <a:avLst/>
          </a:prstGeom>
          <a:noFill/>
          <a:ln/>
        </p:spPr>
        <p:txBody>
          <a:bodyPr wrap="square" lIns="0" tIns="0" rIns="0" bIns="0" rtlCol="0" anchor="ctr"/>
          <a:lstStyle/>
          <a:p>
            <a:pPr indent="0" marL="0">
              <a:buNone/>
            </a:pPr>
            <a:r>
              <a:rPr lang="en-US" sz="1100" dirty="0">
                <a:solidFill>
                  <a:srgbClr val="767B91"/>
                </a:solidFill>
                <a:latin typeface="Meiryo" pitchFamily="34" charset="0"/>
                <a:ea typeface="Meiryo" pitchFamily="34" charset="-122"/>
                <a:cs typeface="Meiryo" pitchFamily="34" charset="-120"/>
              </a:rPr>
              <a:t>ストラテジー初心者(ルールが少なく短い)</a:t>
            </a:r>
            <a:endParaRPr lang="en-US" sz="1100" dirty="0"/>
          </a:p>
        </p:txBody>
      </p:sp>
      <p:sp>
        <p:nvSpPr>
          <p:cNvPr id="27" name="Shape 25"/>
          <p:cNvSpPr/>
          <p:nvPr/>
        </p:nvSpPr>
        <p:spPr>
          <a:xfrm>
            <a:off x="6309360" y="5221224"/>
            <a:ext cx="5239512" cy="786384"/>
          </a:xfrm>
          <a:prstGeom prst="roundRect">
            <a:avLst>
              <a:gd name="adj" fmla="val 9302"/>
            </a:avLst>
          </a:prstGeom>
          <a:solidFill>
            <a:srgbClr val="FCF4E4"/>
          </a:solidFill>
          <a:ln/>
          <a:effectLst>
            <a:outerShdw sx="100000" sy="100000" kx="0" ky="0" algn="bl" rotWithShape="0" blurRad="101600" dist="12700" dir="5400000">
              <a:srgbClr val="9AA1B4">
                <a:alpha val="18000"/>
              </a:srgbClr>
            </a:outerShdw>
          </a:effectLst>
        </p:spPr>
      </p:sp>
      <p:sp>
        <p:nvSpPr>
          <p:cNvPr id="28" name="Text 26"/>
          <p:cNvSpPr txBox="1"/>
          <p:nvPr/>
        </p:nvSpPr>
        <p:spPr>
          <a:xfrm>
            <a:off x="6583680" y="5340096"/>
            <a:ext cx="1828800" cy="274320"/>
          </a:xfrm>
          <a:prstGeom prst="rect">
            <a:avLst/>
          </a:prstGeom>
          <a:noFill/>
          <a:ln/>
        </p:spPr>
        <p:txBody>
          <a:bodyPr wrap="square" lIns="0" tIns="0" rIns="0" bIns="0" rtlCol="0" anchor="ctr"/>
          <a:lstStyle/>
          <a:p>
            <a:pPr indent="0" marL="0">
              <a:buNone/>
            </a:pPr>
            <a:r>
              <a:rPr lang="en-US" sz="1250" b="1" dirty="0">
                <a:solidFill>
                  <a:srgbClr val="9A6B12"/>
                </a:solidFill>
                <a:latin typeface="Meiryo" pitchFamily="34" charset="0"/>
                <a:ea typeface="Meiryo" pitchFamily="34" charset="-122"/>
                <a:cs typeface="Meiryo" pitchFamily="34" charset="-120"/>
              </a:rPr>
              <a:t>隠れた強み</a:t>
            </a:r>
            <a:endParaRPr lang="en-US" sz="1250" dirty="0"/>
          </a:p>
        </p:txBody>
      </p:sp>
      <p:sp>
        <p:nvSpPr>
          <p:cNvPr id="29" name="Text 27"/>
          <p:cNvSpPr txBox="1"/>
          <p:nvPr/>
        </p:nvSpPr>
        <p:spPr>
          <a:xfrm>
            <a:off x="6583680" y="5623560"/>
            <a:ext cx="4663440" cy="256032"/>
          </a:xfrm>
          <a:prstGeom prst="rect">
            <a:avLst/>
          </a:prstGeom>
          <a:noFill/>
          <a:ln/>
        </p:spPr>
        <p:txBody>
          <a:bodyPr wrap="square" lIns="0" tIns="0" rIns="0" bIns="0" rtlCol="0" anchor="ctr"/>
          <a:lstStyle/>
          <a:p>
            <a:pPr indent="0" marL="0">
              <a:buNone/>
            </a:pPr>
            <a:r>
              <a:rPr lang="en-US" sz="1100" dirty="0">
                <a:solidFill>
                  <a:srgbClr val="767B91"/>
                </a:solidFill>
                <a:latin typeface="Meiryo" pitchFamily="34" charset="0"/>
                <a:ea typeface="Meiryo" pitchFamily="34" charset="-122"/>
                <a:cs typeface="Meiryo" pitchFamily="34" charset="-120"/>
              </a:rPr>
              <a:t>同一画面の対人戦 ─ 実装済みの差別化要素</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146304" cy="146304"/>
          </a:xfrm>
          <a:prstGeom prst="rect">
            <a:avLst/>
          </a:prstGeom>
          <a:solidFill>
            <a:srgbClr val="2F5FAE"/>
          </a:solidFill>
          <a:ln/>
        </p:spPr>
      </p:sp>
      <p:sp>
        <p:nvSpPr>
          <p:cNvPr id="3" name="Text 1"/>
          <p:cNvSpPr txBox="1"/>
          <p:nvPr/>
        </p:nvSpPr>
        <p:spPr>
          <a:xfrm>
            <a:off x="896112" y="402336"/>
            <a:ext cx="8229600" cy="292608"/>
          </a:xfrm>
          <a:prstGeom prst="rect">
            <a:avLst/>
          </a:prstGeom>
          <a:noFill/>
          <a:ln/>
        </p:spPr>
        <p:txBody>
          <a:bodyPr wrap="square" lIns="0" tIns="0" rIns="0" bIns="0" rtlCol="0" anchor="ctr"/>
          <a:lstStyle/>
          <a:p>
            <a:pPr indent="0" marL="0">
              <a:buNone/>
            </a:pPr>
            <a:r>
              <a:rPr lang="en-US" sz="1200" b="1" spc="140" kern="0" dirty="0">
                <a:solidFill>
                  <a:srgbClr val="2F5FAE"/>
                </a:solidFill>
                <a:latin typeface="Meiryo" pitchFamily="34" charset="0"/>
                <a:ea typeface="Meiryo" pitchFamily="34" charset="-122"/>
                <a:cs typeface="Meiryo" pitchFamily="34" charset="-120"/>
              </a:rPr>
              <a:t>2-2  企画</a:t>
            </a:r>
            <a:endParaRPr lang="en-US" sz="1200" dirty="0"/>
          </a:p>
        </p:txBody>
      </p:sp>
      <p:sp>
        <p:nvSpPr>
          <p:cNvPr id="4" name="Text 2"/>
          <p:cNvSpPr txBox="1"/>
          <p:nvPr/>
        </p:nvSpPr>
        <p:spPr>
          <a:xfrm>
            <a:off x="640080" y="749808"/>
            <a:ext cx="10911535" cy="658368"/>
          </a:xfrm>
          <a:prstGeom prst="rect">
            <a:avLst/>
          </a:prstGeom>
          <a:noFill/>
          <a:ln/>
        </p:spPr>
        <p:txBody>
          <a:bodyPr wrap="square" lIns="0" tIns="0" rIns="0" bIns="0" rtlCol="0" anchor="ctr"/>
          <a:lstStyle/>
          <a:p>
            <a:pPr indent="0" marL="0">
              <a:buNone/>
            </a:pPr>
            <a:r>
              <a:rPr lang="en-US" sz="3000" b="1" dirty="0">
                <a:solidFill>
                  <a:srgbClr val="1A1A2E"/>
                </a:solidFill>
                <a:latin typeface="Meiryo" pitchFamily="34" charset="0"/>
                <a:ea typeface="Meiryo" pitchFamily="34" charset="-122"/>
                <a:cs typeface="Meiryo" pitchFamily="34" charset="-120"/>
              </a:rPr>
              <a:t>どこで売るか ─ Steam 買い切りを本命に</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 y="1572768"/>
          <a:ext cx="10911535" cy="914400"/>
        </p:xfrm>
        <a:graphic>
          <a:graphicData uri="http://schemas.openxmlformats.org/drawingml/2006/table">
            <a:tbl>
              <a:tblPr/>
              <a:tblGrid>
                <a:gridCol w="2331720"/>
                <a:gridCol w="2651760"/>
                <a:gridCol w="1051560"/>
                <a:gridCol w="4873752"/>
              </a:tblGrid>
              <a:tr h="347472">
                <a:tc>
                  <a:txBody>
                    <a:bodyPr/>
                    <a:lstStyle/>
                    <a:p>
                      <a:pPr indent="0" marL="0">
                        <a:buNone/>
                      </a:pPr>
                      <a:r>
                        <a:rPr lang="en-US" sz="1150" b="1" dirty="0">
                          <a:solidFill>
                            <a:srgbClr val="FFFFFF"/>
                          </a:solidFill>
                          <a:latin typeface="Meiryo" pitchFamily="34" charset="0"/>
                          <a:ea typeface="Meiryo" pitchFamily="34" charset="-122"/>
                          <a:cs typeface="Meiryo" pitchFamily="34" charset="-120"/>
                        </a:rPr>
                        <a:t>案</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1A1A2E"/>
                    </a:solidFill>
                  </a:tcPr>
                </a:tc>
                <a:tc>
                  <a:txBody>
                    <a:bodyPr/>
                    <a:lstStyle/>
                    <a:p>
                      <a:pPr indent="0" marL="0">
                        <a:buNone/>
                      </a:pPr>
                      <a:r>
                        <a:rPr lang="en-US" sz="1150" b="1" dirty="0">
                          <a:solidFill>
                            <a:srgbClr val="FFFFFF"/>
                          </a:solidFill>
                          <a:latin typeface="Meiryo" pitchFamily="34" charset="0"/>
                          <a:ea typeface="Meiryo" pitchFamily="34" charset="-122"/>
                          <a:cs typeface="Meiryo" pitchFamily="34" charset="-120"/>
                        </a:rPr>
                        <a:t>内容</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1A1A2E"/>
                    </a:solidFill>
                  </a:tcPr>
                </a:tc>
                <a:tc>
                  <a:txBody>
                    <a:bodyPr/>
                    <a:lstStyle/>
                    <a:p>
                      <a:pPr indent="0" marL="0">
                        <a:buNone/>
                      </a:pPr>
                      <a:r>
                        <a:rPr lang="en-US" sz="1150" b="1" dirty="0">
                          <a:solidFill>
                            <a:srgbClr val="FFFFFF"/>
                          </a:solidFill>
                          <a:latin typeface="Meiryo" pitchFamily="34" charset="0"/>
                          <a:ea typeface="Meiryo" pitchFamily="34" charset="-122"/>
                          <a:cs typeface="Meiryo" pitchFamily="34" charset="-120"/>
                        </a:rPr>
                        <a:t>評価</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1A1A2E"/>
                    </a:solidFill>
                  </a:tcPr>
                </a:tc>
                <a:tc>
                  <a:txBody>
                    <a:bodyPr/>
                    <a:lstStyle/>
                    <a:p>
                      <a:pPr indent="0" marL="0">
                        <a:buNone/>
                      </a:pPr>
                      <a:r>
                        <a:rPr lang="en-US" sz="1150" b="1" dirty="0">
                          <a:solidFill>
                            <a:srgbClr val="FFFFFF"/>
                          </a:solidFill>
                          <a:latin typeface="Meiryo" pitchFamily="34" charset="0"/>
                          <a:ea typeface="Meiryo" pitchFamily="34" charset="-122"/>
                          <a:cs typeface="Meiryo" pitchFamily="34" charset="-120"/>
                        </a:rPr>
                        <a:t>理由</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1A1A2E"/>
                    </a:solidFill>
                  </a:tcPr>
                </a:tc>
              </a:tr>
              <a:tr h="585216">
                <a:tc>
                  <a:txBody>
                    <a:bodyPr/>
                    <a:lstStyle/>
                    <a:p>
                      <a:pPr indent="0" marL="0">
                        <a:buNone/>
                      </a:pPr>
                      <a:r>
                        <a:rPr lang="en-US" sz="1150" dirty="0">
                          <a:solidFill>
                            <a:srgbClr val="3C4257"/>
                          </a:solidFill>
                          <a:latin typeface="Meiryo" pitchFamily="34" charset="0"/>
                          <a:ea typeface="Meiryo" pitchFamily="34" charset="-122"/>
                          <a:cs typeface="Meiryo" pitchFamily="34" charset="-120"/>
                        </a:rPr>
                        <a:t>A. Steam(買い切り)</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Meiryo" pitchFamily="34" charset="0"/>
                          <a:ea typeface="Meiryo" pitchFamily="34" charset="-122"/>
                          <a:cs typeface="Meiryo" pitchFamily="34" charset="-120"/>
                        </a:rPr>
                        <a:t>デスクトップアプリとして販売</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Meiryo" pitchFamily="34" charset="0"/>
                          <a:ea typeface="Meiryo" pitchFamily="34" charset="-122"/>
                          <a:cs typeface="Meiryo" pitchFamily="34" charset="-120"/>
                        </a:rPr>
                        <a:t>◎ 本命</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Meiryo" pitchFamily="34" charset="0"/>
                          <a:ea typeface="Meiryo" pitchFamily="34" charset="-122"/>
                          <a:cs typeface="Meiryo" pitchFamily="34" charset="-120"/>
                        </a:rPr>
                        <a:t>有料販売の市場が最大。販促の仕組みが整っている(手数料 30%)</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FFFFFF"/>
                    </a:solidFill>
                  </a:tcPr>
                </a:tc>
              </a:tr>
              <a:tr h="493776">
                <a:tc>
                  <a:txBody>
                    <a:bodyPr/>
                    <a:lstStyle/>
                    <a:p>
                      <a:pPr indent="0" marL="0">
                        <a:buNone/>
                      </a:pPr>
                      <a:r>
                        <a:rPr lang="en-US" sz="1150" dirty="0">
                          <a:solidFill>
                            <a:srgbClr val="3C4257"/>
                          </a:solidFill>
                          <a:latin typeface="Meiryo" pitchFamily="34" charset="0"/>
                          <a:ea typeface="Meiryo" pitchFamily="34" charset="-122"/>
                          <a:cs typeface="Meiryo" pitchFamily="34" charset="-120"/>
                        </a:rPr>
                        <a:t>B. itch.io</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Meiryo" pitchFamily="34" charset="0"/>
                          <a:ea typeface="Meiryo" pitchFamily="34" charset="-122"/>
                          <a:cs typeface="Meiryo" pitchFamily="34" charset="-120"/>
                        </a:rPr>
                        <a:t>ブラウザ版のまま販売可</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Meiryo" pitchFamily="34" charset="0"/>
                          <a:ea typeface="Meiryo" pitchFamily="34" charset="-122"/>
                          <a:cs typeface="Meiryo" pitchFamily="34" charset="-120"/>
                        </a:rPr>
                        <a:t>○ 併売</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Meiryo" pitchFamily="34" charset="0"/>
                          <a:ea typeface="Meiryo" pitchFamily="34" charset="-122"/>
                          <a:cs typeface="Meiryo" pitchFamily="34" charset="-120"/>
                        </a:rPr>
                        <a:t>手数料が低く自由度は高いが、集客力が小さい</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FFFFFF"/>
                    </a:solidFill>
                  </a:tcPr>
                </a:tc>
              </a:tr>
              <a:tr h="493776">
                <a:tc>
                  <a:txBody>
                    <a:bodyPr/>
                    <a:lstStyle/>
                    <a:p>
                      <a:pPr indent="0" marL="0">
                        <a:buNone/>
                      </a:pPr>
                      <a:r>
                        <a:rPr lang="en-US" sz="1150" dirty="0">
                          <a:solidFill>
                            <a:srgbClr val="3C4257"/>
                          </a:solidFill>
                          <a:latin typeface="Meiryo" pitchFamily="34" charset="0"/>
                          <a:ea typeface="Meiryo" pitchFamily="34" charset="-122"/>
                          <a:cs typeface="Meiryo" pitchFamily="34" charset="-120"/>
                        </a:rPr>
                        <a:t>C. スマホストア</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Meiryo" pitchFamily="34" charset="0"/>
                          <a:ea typeface="Meiryo" pitchFamily="34" charset="-122"/>
                          <a:cs typeface="Meiryo" pitchFamily="34" charset="-120"/>
                        </a:rPr>
                        <a:t>ネイティブアプリ化</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Meiryo" pitchFamily="34" charset="0"/>
                          <a:ea typeface="Meiryo" pitchFamily="34" charset="-122"/>
                          <a:cs typeface="Meiryo" pitchFamily="34" charset="-120"/>
                        </a:rPr>
                        <a:t>△ 将来</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Meiryo" pitchFamily="34" charset="0"/>
                          <a:ea typeface="Meiryo" pitchFamily="34" charset="-122"/>
                          <a:cs typeface="Meiryo" pitchFamily="34" charset="-120"/>
                        </a:rPr>
                        <a:t>縦持ち UI の作り直しが必須。ジャンルとの相性は Steam に劣る</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FFFFFF"/>
                    </a:solidFill>
                  </a:tcPr>
                </a:tc>
              </a:tr>
              <a:tr h="493776">
                <a:tc>
                  <a:txBody>
                    <a:bodyPr/>
                    <a:lstStyle/>
                    <a:p>
                      <a:pPr indent="0" marL="0">
                        <a:buNone/>
                      </a:pPr>
                      <a:r>
                        <a:rPr lang="en-US" sz="1150" dirty="0">
                          <a:solidFill>
                            <a:srgbClr val="3C4257"/>
                          </a:solidFill>
                          <a:latin typeface="Meiryo" pitchFamily="34" charset="0"/>
                          <a:ea typeface="Meiryo" pitchFamily="34" charset="-122"/>
                          <a:cs typeface="Meiryo" pitchFamily="34" charset="-120"/>
                        </a:rPr>
                        <a:t>D. ブラウザ無料 + 広告</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Meiryo" pitchFamily="34" charset="0"/>
                          <a:ea typeface="Meiryo" pitchFamily="34" charset="-122"/>
                          <a:cs typeface="Meiryo" pitchFamily="34" charset="-120"/>
                        </a:rPr>
                        <a:t>現状のまま収益化</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Meiryo" pitchFamily="34" charset="0"/>
                          <a:ea typeface="Meiryo" pitchFamily="34" charset="-122"/>
                          <a:cs typeface="Meiryo" pitchFamily="34" charset="-120"/>
                        </a:rPr>
                        <a:t>×</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Meiryo" pitchFamily="34" charset="0"/>
                          <a:ea typeface="Meiryo" pitchFamily="34" charset="-122"/>
                          <a:cs typeface="Meiryo" pitchFamily="34" charset="-120"/>
                        </a:rPr>
                        <a:t>腰を据えて遊ぶゲームは広告表示を稼げず、収益性が低い</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FFFFFF"/>
                    </a:solidFill>
                  </a:tcPr>
                </a:tc>
              </a:tr>
              <a:tr h="493776">
                <a:tc>
                  <a:txBody>
                    <a:bodyPr/>
                    <a:lstStyle/>
                    <a:p>
                      <a:pPr indent="0" marL="0">
                        <a:buNone/>
                      </a:pPr>
                      <a:r>
                        <a:rPr lang="en-US" sz="1150" dirty="0">
                          <a:solidFill>
                            <a:srgbClr val="3C4257"/>
                          </a:solidFill>
                          <a:latin typeface="Meiryo" pitchFamily="34" charset="0"/>
                          <a:ea typeface="Meiryo" pitchFamily="34" charset="-122"/>
                          <a:cs typeface="Meiryo" pitchFamily="34" charset="-120"/>
                        </a:rPr>
                        <a:t>E. 受託 / ライセンス提供</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Meiryo" pitchFamily="34" charset="0"/>
                          <a:ea typeface="Meiryo" pitchFamily="34" charset="-122"/>
                          <a:cs typeface="Meiryo" pitchFamily="34" charset="-120"/>
                        </a:rPr>
                        <a:t>他社へのライセンス</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Meiryo" pitchFamily="34" charset="0"/>
                          <a:ea typeface="Meiryo" pitchFamily="34" charset="-122"/>
                          <a:cs typeface="Meiryo" pitchFamily="34" charset="-120"/>
                        </a:rPr>
                        <a:t>×</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Meiryo" pitchFamily="34" charset="0"/>
                          <a:ea typeface="Meiryo" pitchFamily="34" charset="-122"/>
                          <a:cs typeface="Meiryo" pitchFamily="34" charset="-120"/>
                        </a:rPr>
                        <a:t>相手先の開拓が必要で、本作の強みが活きない</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FFFFFF"/>
                    </a:solidFill>
                  </a:tcPr>
                </a:tc>
              </a:tr>
            </a:tbl>
          </a:graphicData>
        </a:graphic>
      </p:graphicFrame>
      <p:sp>
        <p:nvSpPr>
          <p:cNvPr id="6" name="Shape 3"/>
          <p:cNvSpPr/>
          <p:nvPr/>
        </p:nvSpPr>
        <p:spPr>
          <a:xfrm>
            <a:off x="640080" y="4983480"/>
            <a:ext cx="10911535" cy="1143000"/>
          </a:xfrm>
          <a:prstGeom prst="roundRect">
            <a:avLst>
              <a:gd name="adj" fmla="val 4800"/>
            </a:avLst>
          </a:prstGeom>
          <a:solidFill>
            <a:srgbClr val="1A1A2E"/>
          </a:solidFill>
          <a:ln/>
        </p:spPr>
      </p:sp>
      <p:sp>
        <p:nvSpPr>
          <p:cNvPr id="7" name="Text 4"/>
          <p:cNvSpPr txBox="1"/>
          <p:nvPr/>
        </p:nvSpPr>
        <p:spPr>
          <a:xfrm>
            <a:off x="1005840" y="5193792"/>
            <a:ext cx="10515600" cy="347472"/>
          </a:xfrm>
          <a:prstGeom prst="rect">
            <a:avLst/>
          </a:prstGeom>
          <a:noFill/>
          <a:ln/>
        </p:spPr>
        <p:txBody>
          <a:bodyPr wrap="square" lIns="0" tIns="0" rIns="0" bIns="0" rtlCol="0" anchor="ctr"/>
          <a:lstStyle/>
          <a:p>
            <a:pPr indent="0" marL="0">
              <a:buNone/>
            </a:pPr>
            <a:r>
              <a:rPr lang="en-US" sz="1600" b="1" dirty="0">
                <a:solidFill>
                  <a:srgbClr val="FFD479"/>
                </a:solidFill>
                <a:latin typeface="Meiryo" pitchFamily="34" charset="0"/>
                <a:ea typeface="Meiryo" pitchFamily="34" charset="-122"/>
                <a:cs typeface="Meiryo" pitchFamily="34" charset="-120"/>
              </a:rPr>
              <a:t>Steam 本命 + itch.io 併売。ブラウザ版は無料体験版として残す</a:t>
            </a:r>
            <a:endParaRPr lang="en-US" sz="1600" dirty="0"/>
          </a:p>
        </p:txBody>
      </p:sp>
      <p:sp>
        <p:nvSpPr>
          <p:cNvPr id="8" name="Text 5"/>
          <p:cNvSpPr txBox="1"/>
          <p:nvPr/>
        </p:nvSpPr>
        <p:spPr>
          <a:xfrm>
            <a:off x="1005840" y="5596128"/>
            <a:ext cx="10515600" cy="320040"/>
          </a:xfrm>
          <a:prstGeom prst="rect">
            <a:avLst/>
          </a:prstGeom>
          <a:noFill/>
          <a:ln/>
        </p:spPr>
        <p:txBody>
          <a:bodyPr wrap="square" lIns="0" tIns="0" rIns="0" bIns="0" rtlCol="0" anchor="ctr"/>
          <a:lstStyle/>
          <a:p>
            <a:pPr indent="0" marL="0">
              <a:buNone/>
            </a:pPr>
            <a:r>
              <a:rPr lang="en-US" sz="1200" dirty="0">
                <a:solidFill>
                  <a:srgbClr val="CADCFC"/>
                </a:solidFill>
                <a:latin typeface="Meiryo" pitchFamily="34" charset="0"/>
                <a:ea typeface="Meiryo" pitchFamily="34" charset="-122"/>
                <a:cs typeface="Meiryo" pitchFamily="34" charset="-120"/>
              </a:rPr>
              <a:t>「URL を開くだけで今すぐ遊べる体験版」は、SNS や記事からの導線として強力に機能する販促資産になる。</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146304" cy="146304"/>
          </a:xfrm>
          <a:prstGeom prst="rect">
            <a:avLst/>
          </a:prstGeom>
          <a:solidFill>
            <a:srgbClr val="2F5FAE"/>
          </a:solidFill>
          <a:ln/>
        </p:spPr>
      </p:sp>
      <p:sp>
        <p:nvSpPr>
          <p:cNvPr id="3" name="Text 1"/>
          <p:cNvSpPr txBox="1"/>
          <p:nvPr/>
        </p:nvSpPr>
        <p:spPr>
          <a:xfrm>
            <a:off x="896112" y="402336"/>
            <a:ext cx="8229600" cy="292608"/>
          </a:xfrm>
          <a:prstGeom prst="rect">
            <a:avLst/>
          </a:prstGeom>
          <a:noFill/>
          <a:ln/>
        </p:spPr>
        <p:txBody>
          <a:bodyPr wrap="square" lIns="0" tIns="0" rIns="0" bIns="0" rtlCol="0" anchor="ctr"/>
          <a:lstStyle/>
          <a:p>
            <a:pPr indent="0" marL="0">
              <a:buNone/>
            </a:pPr>
            <a:r>
              <a:rPr lang="en-US" sz="1200" b="1" spc="140" kern="0" dirty="0">
                <a:solidFill>
                  <a:srgbClr val="2F5FAE"/>
                </a:solidFill>
                <a:latin typeface="Meiryo" pitchFamily="34" charset="0"/>
                <a:ea typeface="Meiryo" pitchFamily="34" charset="-122"/>
                <a:cs typeface="Meiryo" pitchFamily="34" charset="-120"/>
              </a:rPr>
              <a:t>2-3  企画</a:t>
            </a:r>
            <a:endParaRPr lang="en-US" sz="1200" dirty="0"/>
          </a:p>
        </p:txBody>
      </p:sp>
      <p:sp>
        <p:nvSpPr>
          <p:cNvPr id="4" name="Text 2"/>
          <p:cNvSpPr txBox="1"/>
          <p:nvPr/>
        </p:nvSpPr>
        <p:spPr>
          <a:xfrm>
            <a:off x="640080" y="749808"/>
            <a:ext cx="10911535" cy="658368"/>
          </a:xfrm>
          <a:prstGeom prst="rect">
            <a:avLst/>
          </a:prstGeom>
          <a:noFill/>
          <a:ln/>
        </p:spPr>
        <p:txBody>
          <a:bodyPr wrap="square" lIns="0" tIns="0" rIns="0" bIns="0" rtlCol="0" anchor="ctr"/>
          <a:lstStyle/>
          <a:p>
            <a:pPr indent="0" marL="0">
              <a:buNone/>
            </a:pPr>
            <a:r>
              <a:rPr lang="en-US" sz="3000" b="1" dirty="0">
                <a:solidFill>
                  <a:srgbClr val="1A1A2E"/>
                </a:solidFill>
                <a:latin typeface="Meiryo" pitchFamily="34" charset="0"/>
                <a:ea typeface="Meiryo" pitchFamily="34" charset="-122"/>
                <a:cs typeface="Meiryo" pitchFamily="34" charset="-120"/>
              </a:rPr>
              <a:t>価格と売上の試算(すべて仮置き)</a:t>
            </a:r>
            <a:endParaRPr lang="en-US" sz="3000" dirty="0"/>
          </a:p>
        </p:txBody>
      </p:sp>
      <p:graphicFrame>
        <p:nvGraphicFramePr>
          <p:cNvPr id="5" name="Chart 0" descr=""/>
          <p:cNvGraphicFramePr/>
          <p:nvPr/>
        </p:nvGraphicFramePr>
        <p:xfrm>
          <a:off x="640080" y="1600200"/>
          <a:ext cx="6035040" cy="34290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040880" y="1600200"/>
            <a:ext cx="4507992" cy="1691640"/>
          </a:xfrm>
          <a:prstGeom prst="roundRect">
            <a:avLst>
              <a:gd name="adj" fmla="val 4324"/>
            </a:avLst>
          </a:prstGeom>
          <a:solidFill>
            <a:srgbClr val="F2F4F8"/>
          </a:solidFill>
          <a:ln/>
          <a:effectLst>
            <a:outerShdw sx="100000" sy="100000" kx="0" ky="0" algn="bl" rotWithShape="0" blurRad="101600" dist="12700" dir="5400000">
              <a:srgbClr val="9AA1B4">
                <a:alpha val="18000"/>
              </a:srgbClr>
            </a:outerShdw>
          </a:effectLst>
        </p:spPr>
      </p:sp>
      <p:sp>
        <p:nvSpPr>
          <p:cNvPr id="7" name="Text 4"/>
          <p:cNvSpPr txBox="1"/>
          <p:nvPr/>
        </p:nvSpPr>
        <p:spPr>
          <a:xfrm>
            <a:off x="7315200" y="1783080"/>
            <a:ext cx="4023360" cy="292608"/>
          </a:xfrm>
          <a:prstGeom prst="rect">
            <a:avLst/>
          </a:prstGeom>
          <a:noFill/>
          <a:ln/>
        </p:spPr>
        <p:txBody>
          <a:bodyPr wrap="square" lIns="0" tIns="0" rIns="0" bIns="0" rtlCol="0" anchor="ctr"/>
          <a:lstStyle/>
          <a:p>
            <a:pPr indent="0" marL="0">
              <a:buNone/>
            </a:pPr>
            <a:r>
              <a:rPr lang="en-US" sz="1400" b="1" dirty="0">
                <a:solidFill>
                  <a:srgbClr val="1A1A2E"/>
                </a:solidFill>
                <a:latin typeface="Meiryo" pitchFamily="34" charset="0"/>
                <a:ea typeface="Meiryo" pitchFamily="34" charset="-122"/>
                <a:cs typeface="Meiryo" pitchFamily="34" charset="-120"/>
              </a:rPr>
              <a:t>試算の前提</a:t>
            </a:r>
            <a:endParaRPr lang="en-US" sz="1400" dirty="0"/>
          </a:p>
        </p:txBody>
      </p:sp>
      <p:sp>
        <p:nvSpPr>
          <p:cNvPr id="8" name="Text 5"/>
          <p:cNvSpPr txBox="1"/>
          <p:nvPr/>
        </p:nvSpPr>
        <p:spPr>
          <a:xfrm>
            <a:off x="7315200" y="2157984"/>
            <a:ext cx="4023360" cy="914400"/>
          </a:xfrm>
          <a:prstGeom prst="rect">
            <a:avLst/>
          </a:prstGeom>
          <a:noFill/>
          <a:ln/>
        </p:spPr>
        <p:txBody>
          <a:bodyPr wrap="square" lIns="0" tIns="0" rIns="0" bIns="0" rtlCol="0" anchor="t"/>
          <a:lstStyle/>
          <a:p>
            <a:pPr marL="342900" indent="-342900">
              <a:lnSpc>
                <a:spcPts val="1700"/>
              </a:lnSpc>
              <a:spcAft>
                <a:spcPts val="300"/>
              </a:spcAft>
              <a:buSzPct val="100000"/>
              <a:buChar char="▪"/>
            </a:pPr>
            <a:r>
              <a:rPr lang="en-US" sz="1150" dirty="0">
                <a:solidFill>
                  <a:srgbClr val="3C4257"/>
                </a:solidFill>
                <a:latin typeface="Meiryo" pitchFamily="34" charset="0"/>
                <a:ea typeface="Meiryo" pitchFamily="34" charset="-122"/>
                <a:cs typeface="Meiryo" pitchFamily="34" charset="-120"/>
              </a:rPr>
              <a:t>価格 1,200 円(要市場調査)</a:t>
            </a:r>
            <a:endParaRPr lang="en-US" sz="1150" dirty="0"/>
          </a:p>
          <a:p>
            <a:pPr marL="342900" indent="-342900">
              <a:lnSpc>
                <a:spcPts val="1700"/>
              </a:lnSpc>
              <a:spcAft>
                <a:spcPts val="300"/>
              </a:spcAft>
              <a:buSzPct val="100000"/>
              <a:buChar char="▪"/>
            </a:pPr>
            <a:r>
              <a:rPr lang="en-US" sz="1150" dirty="0">
                <a:solidFill>
                  <a:srgbClr val="3C4257"/>
                </a:solidFill>
                <a:latin typeface="Meiryo" pitchFamily="34" charset="0"/>
                <a:ea typeface="Meiryo" pitchFamily="34" charset="-122"/>
                <a:cs typeface="Meiryo" pitchFamily="34" charset="-120"/>
              </a:rPr>
              <a:t>プラットフォーム手数料 30%</a:t>
            </a:r>
            <a:endParaRPr lang="en-US" sz="1150" dirty="0"/>
          </a:p>
          <a:p>
            <a:pPr marL="342900" indent="-342900">
              <a:lnSpc>
                <a:spcPts val="1700"/>
              </a:lnSpc>
              <a:spcAft>
                <a:spcPts val="300"/>
              </a:spcAft>
              <a:buSzPct val="100000"/>
              <a:buChar char="▪"/>
            </a:pPr>
            <a:r>
              <a:rPr lang="en-US" sz="1150" dirty="0">
                <a:solidFill>
                  <a:srgbClr val="3C4257"/>
                </a:solidFill>
                <a:latin typeface="Meiryo" pitchFamily="34" charset="0"/>
                <a:ea typeface="Meiryo" pitchFamily="34" charset="-122"/>
                <a:cs typeface="Meiryo" pitchFamily="34" charset="-120"/>
              </a:rPr>
              <a:t>セール・返金を見て実収は定価の 55%</a:t>
            </a:r>
            <a:endParaRPr lang="en-US" sz="1150" dirty="0"/>
          </a:p>
        </p:txBody>
      </p:sp>
      <p:sp>
        <p:nvSpPr>
          <p:cNvPr id="9" name="Shape 6"/>
          <p:cNvSpPr/>
          <p:nvPr/>
        </p:nvSpPr>
        <p:spPr>
          <a:xfrm>
            <a:off x="7040880" y="3474720"/>
            <a:ext cx="4507992" cy="1554480"/>
          </a:xfrm>
          <a:prstGeom prst="roundRect">
            <a:avLst>
              <a:gd name="adj" fmla="val 3529"/>
            </a:avLst>
          </a:prstGeom>
          <a:solidFill>
            <a:srgbClr val="FCF4E4"/>
          </a:solidFill>
          <a:ln/>
        </p:spPr>
      </p:sp>
      <p:sp>
        <p:nvSpPr>
          <p:cNvPr id="10" name="Text 7"/>
          <p:cNvSpPr txBox="1"/>
          <p:nvPr/>
        </p:nvSpPr>
        <p:spPr>
          <a:xfrm>
            <a:off x="7315200" y="3657600"/>
            <a:ext cx="4023360" cy="502920"/>
          </a:xfrm>
          <a:prstGeom prst="rect">
            <a:avLst/>
          </a:prstGeom>
          <a:noFill/>
          <a:ln/>
        </p:spPr>
        <p:txBody>
          <a:bodyPr wrap="square" lIns="0" tIns="0" rIns="0" bIns="0" rtlCol="0" anchor="ctr"/>
          <a:lstStyle/>
          <a:p>
            <a:pPr indent="0" marL="0">
              <a:buNone/>
            </a:pPr>
            <a:r>
              <a:rPr lang="en-US" sz="1300" b="1" dirty="0">
                <a:solidFill>
                  <a:srgbClr val="9A6B12"/>
                </a:solidFill>
                <a:latin typeface="Meiryo" pitchFamily="34" charset="0"/>
                <a:ea typeface="Meiryo" pitchFamily="34" charset="-122"/>
                <a:cs typeface="Meiryo" pitchFamily="34" charset="-120"/>
              </a:rPr>
              <a:t>外注しないので、先行投資は実費のみ</a:t>
            </a:r>
            <a:endParaRPr lang="en-US" sz="1300" dirty="0"/>
          </a:p>
        </p:txBody>
      </p:sp>
      <p:sp>
        <p:nvSpPr>
          <p:cNvPr id="11" name="Text 8"/>
          <p:cNvSpPr txBox="1"/>
          <p:nvPr/>
        </p:nvSpPr>
        <p:spPr>
          <a:xfrm>
            <a:off x="7315200" y="4187952"/>
            <a:ext cx="4023360" cy="640080"/>
          </a:xfrm>
          <a:prstGeom prst="rect">
            <a:avLst/>
          </a:prstGeom>
          <a:noFill/>
          <a:ln/>
        </p:spPr>
        <p:txBody>
          <a:bodyPr wrap="square" lIns="0" tIns="0" rIns="0" bIns="0" rtlCol="0" anchor="ctr"/>
          <a:lstStyle/>
          <a:p>
            <a:pPr indent="0" marL="0">
              <a:lnSpc>
                <a:spcPts val="1700"/>
              </a:lnSpc>
              <a:buNone/>
            </a:pPr>
            <a:r>
              <a:rPr lang="en-US" sz="1150" dirty="0">
                <a:solidFill>
                  <a:srgbClr val="9A6B12"/>
                </a:solidFill>
                <a:latin typeface="Meiryo" pitchFamily="34" charset="0"/>
                <a:ea typeface="Meiryo" pitchFamily="34" charset="-122"/>
                <a:cs typeface="Meiryo" pitchFamily="34" charset="-120"/>
              </a:rPr>
              <a:t>悲観シナリオでも金銭的な損失はほぼ発生しない。実質のコストは開発者の時間。</a:t>
            </a:r>
            <a:endParaRPr lang="en-US" sz="1150" dirty="0"/>
          </a:p>
        </p:txBody>
      </p:sp>
      <p:sp>
        <p:nvSpPr>
          <p:cNvPr id="12" name="Shape 9"/>
          <p:cNvSpPr/>
          <p:nvPr/>
        </p:nvSpPr>
        <p:spPr>
          <a:xfrm>
            <a:off x="640080" y="5257800"/>
            <a:ext cx="10911535" cy="960120"/>
          </a:xfrm>
          <a:prstGeom prst="roundRect">
            <a:avLst>
              <a:gd name="adj" fmla="val 5714"/>
            </a:avLst>
          </a:prstGeom>
          <a:solidFill>
            <a:srgbClr val="1A1A2E"/>
          </a:solidFill>
          <a:ln/>
        </p:spPr>
      </p:sp>
      <p:sp>
        <p:nvSpPr>
          <p:cNvPr id="13" name="Text 10"/>
          <p:cNvSpPr txBox="1"/>
          <p:nvPr/>
        </p:nvSpPr>
        <p:spPr>
          <a:xfrm>
            <a:off x="1005840" y="5413248"/>
            <a:ext cx="10515600" cy="548640"/>
          </a:xfrm>
          <a:prstGeom prst="rect">
            <a:avLst/>
          </a:prstGeom>
          <a:noFill/>
          <a:ln/>
        </p:spPr>
        <p:txBody>
          <a:bodyPr wrap="square" lIns="0" tIns="0" rIns="0" bIns="0" rtlCol="0" anchor="ctr"/>
          <a:lstStyle/>
          <a:p>
            <a:pPr indent="0" marL="0">
              <a:buNone/>
            </a:pPr>
            <a:r>
              <a:rPr lang="en-US" sz="1500" b="1" dirty="0">
                <a:solidFill>
                  <a:srgbClr val="FFD479"/>
                </a:solidFill>
                <a:latin typeface="Meiryo" pitchFamily="34" charset="0"/>
                <a:ea typeface="Meiryo" pitchFamily="34" charset="-122"/>
                <a:cs typeface="Meiryo" pitchFamily="34" charset="-120"/>
              </a:rPr>
              <a:t>判断軸は「費用を回収できるか」ではなく「6〜8 人月の時間を投じるに値する手応えがあるか」</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146304" cy="146304"/>
          </a:xfrm>
          <a:prstGeom prst="rect">
            <a:avLst/>
          </a:prstGeom>
          <a:solidFill>
            <a:srgbClr val="2F5FAE"/>
          </a:solidFill>
          <a:ln/>
        </p:spPr>
      </p:sp>
      <p:sp>
        <p:nvSpPr>
          <p:cNvPr id="3" name="Text 1"/>
          <p:cNvSpPr txBox="1"/>
          <p:nvPr/>
        </p:nvSpPr>
        <p:spPr>
          <a:xfrm>
            <a:off x="896112" y="402336"/>
            <a:ext cx="8229600" cy="292608"/>
          </a:xfrm>
          <a:prstGeom prst="rect">
            <a:avLst/>
          </a:prstGeom>
          <a:noFill/>
          <a:ln/>
        </p:spPr>
        <p:txBody>
          <a:bodyPr wrap="square" lIns="0" tIns="0" rIns="0" bIns="0" rtlCol="0" anchor="ctr"/>
          <a:lstStyle/>
          <a:p>
            <a:pPr indent="0" marL="0">
              <a:buNone/>
            </a:pPr>
            <a:r>
              <a:rPr lang="en-US" sz="1200" b="1" spc="140" kern="0" dirty="0">
                <a:solidFill>
                  <a:srgbClr val="2F5FAE"/>
                </a:solidFill>
                <a:latin typeface="Meiryo" pitchFamily="34" charset="0"/>
                <a:ea typeface="Meiryo" pitchFamily="34" charset="-122"/>
                <a:cs typeface="Meiryo" pitchFamily="34" charset="-120"/>
              </a:rPr>
              <a:t>2-4  企画</a:t>
            </a:r>
            <a:endParaRPr lang="en-US" sz="1200" dirty="0"/>
          </a:p>
        </p:txBody>
      </p:sp>
      <p:sp>
        <p:nvSpPr>
          <p:cNvPr id="4" name="Text 2"/>
          <p:cNvSpPr txBox="1"/>
          <p:nvPr/>
        </p:nvSpPr>
        <p:spPr>
          <a:xfrm>
            <a:off x="640080" y="749808"/>
            <a:ext cx="10911535" cy="658368"/>
          </a:xfrm>
          <a:prstGeom prst="rect">
            <a:avLst/>
          </a:prstGeom>
          <a:noFill/>
          <a:ln/>
        </p:spPr>
        <p:txBody>
          <a:bodyPr wrap="square" lIns="0" tIns="0" rIns="0" bIns="0" rtlCol="0" anchor="ctr"/>
          <a:lstStyle/>
          <a:p>
            <a:pPr indent="0" marL="0">
              <a:buNone/>
            </a:pPr>
            <a:r>
              <a:rPr lang="en-US" sz="3000" b="1" dirty="0">
                <a:solidFill>
                  <a:srgbClr val="1A1A2E"/>
                </a:solidFill>
                <a:latin typeface="Meiryo" pitchFamily="34" charset="0"/>
                <a:ea typeface="Meiryo" pitchFamily="34" charset="-122"/>
                <a:cs typeface="Meiryo" pitchFamily="34" charset="-120"/>
              </a:rPr>
              <a:t>製品版のスコープ ─ 現状との差分</a:t>
            </a:r>
            <a:endParaRPr lang="en-US" sz="3000" dirty="0"/>
          </a:p>
        </p:txBody>
      </p:sp>
      <p:sp>
        <p:nvSpPr>
          <p:cNvPr id="5" name="Shape 3"/>
          <p:cNvSpPr/>
          <p:nvPr/>
        </p:nvSpPr>
        <p:spPr>
          <a:xfrm>
            <a:off x="640080" y="1572768"/>
            <a:ext cx="3484778" cy="4023360"/>
          </a:xfrm>
          <a:prstGeom prst="roundRect">
            <a:avLst>
              <a:gd name="adj" fmla="val 2099"/>
            </a:avLst>
          </a:prstGeom>
          <a:solidFill>
            <a:srgbClr val="F2F4F8"/>
          </a:solidFill>
          <a:ln/>
          <a:effectLst>
            <a:outerShdw sx="100000" sy="100000" kx="0" ky="0" algn="bl" rotWithShape="0" blurRad="101600" dist="12700" dir="5400000">
              <a:srgbClr val="9AA1B4">
                <a:alpha val="18000"/>
              </a:srgbClr>
            </a:outerShdw>
          </a:effectLst>
        </p:spPr>
      </p:sp>
      <p:sp>
        <p:nvSpPr>
          <p:cNvPr id="6" name="Text 4"/>
          <p:cNvSpPr txBox="1"/>
          <p:nvPr/>
        </p:nvSpPr>
        <p:spPr>
          <a:xfrm>
            <a:off x="932688" y="1783080"/>
            <a:ext cx="2936138" cy="411480"/>
          </a:xfrm>
          <a:prstGeom prst="rect">
            <a:avLst/>
          </a:prstGeom>
          <a:noFill/>
          <a:ln/>
        </p:spPr>
        <p:txBody>
          <a:bodyPr wrap="square" lIns="0" tIns="0" rIns="0" bIns="0" rtlCol="0" anchor="ctr"/>
          <a:lstStyle/>
          <a:p>
            <a:pPr indent="0" marL="0">
              <a:buNone/>
            </a:pPr>
            <a:r>
              <a:rPr lang="en-US" sz="2200" b="1" dirty="0">
                <a:solidFill>
                  <a:srgbClr val="AE2F2F"/>
                </a:solidFill>
                <a:latin typeface="Meiryo" pitchFamily="34" charset="0"/>
                <a:ea typeface="Meiryo" pitchFamily="34" charset="-122"/>
                <a:cs typeface="Meiryo" pitchFamily="34" charset="-120"/>
              </a:rPr>
              <a:t>Must</a:t>
            </a:r>
            <a:endParaRPr lang="en-US" sz="2200" dirty="0"/>
          </a:p>
        </p:txBody>
      </p:sp>
      <p:sp>
        <p:nvSpPr>
          <p:cNvPr id="7" name="Text 5"/>
          <p:cNvSpPr txBox="1"/>
          <p:nvPr/>
        </p:nvSpPr>
        <p:spPr>
          <a:xfrm>
            <a:off x="932688" y="2212848"/>
            <a:ext cx="2936138" cy="256032"/>
          </a:xfrm>
          <a:prstGeom prst="rect">
            <a:avLst/>
          </a:prstGeom>
          <a:noFill/>
          <a:ln/>
        </p:spPr>
        <p:txBody>
          <a:bodyPr wrap="square" lIns="0" tIns="0" rIns="0" bIns="0" rtlCol="0" anchor="ctr"/>
          <a:lstStyle/>
          <a:p>
            <a:pPr indent="0" marL="0">
              <a:buNone/>
            </a:pPr>
            <a:r>
              <a:rPr lang="en-US" sz="1100" dirty="0">
                <a:solidFill>
                  <a:srgbClr val="767B91"/>
                </a:solidFill>
                <a:latin typeface="Meiryo" pitchFamily="34" charset="0"/>
                <a:ea typeface="Meiryo" pitchFamily="34" charset="-122"/>
                <a:cs typeface="Meiryo" pitchFamily="34" charset="-120"/>
              </a:rPr>
              <a:t>必ずやる</a:t>
            </a:r>
            <a:endParaRPr lang="en-US" sz="1100" dirty="0"/>
          </a:p>
        </p:txBody>
      </p:sp>
      <p:sp>
        <p:nvSpPr>
          <p:cNvPr id="8" name="Text 6"/>
          <p:cNvSpPr txBox="1"/>
          <p:nvPr/>
        </p:nvSpPr>
        <p:spPr>
          <a:xfrm>
            <a:off x="932688" y="2651760"/>
            <a:ext cx="2917850" cy="2926080"/>
          </a:xfrm>
          <a:prstGeom prst="rect">
            <a:avLst/>
          </a:prstGeom>
          <a:noFill/>
          <a:ln/>
        </p:spPr>
        <p:txBody>
          <a:bodyPr wrap="square" lIns="0" tIns="0" rIns="0" bIns="0" rtlCol="0" anchor="t"/>
          <a:lstStyle/>
          <a:p>
            <a:pPr marL="342900" indent="-342900">
              <a:lnSpc>
                <a:spcPts val="2200"/>
              </a:lnSpc>
              <a:spcAft>
                <a:spcPts val="1100"/>
              </a:spcAft>
              <a:buSzPct val="100000"/>
              <a:buChar char="▪"/>
            </a:pPr>
            <a:r>
              <a:rPr lang="en-US" sz="1200" dirty="0">
                <a:solidFill>
                  <a:srgbClr val="3C4257"/>
                </a:solidFill>
                <a:latin typeface="Meiryo" pitchFamily="34" charset="0"/>
                <a:ea typeface="Meiryo" pitchFamily="34" charset="-122"/>
                <a:cs typeface="Meiryo" pitchFamily="34" charset="-120"/>
              </a:rPr>
              <a:t>アートの内製差し替え</a:t>
            </a:r>
            <a:endParaRPr lang="en-US" sz="1200" dirty="0"/>
          </a:p>
          <a:p>
            <a:pPr marL="342900" indent="-342900">
              <a:lnSpc>
                <a:spcPts val="2200"/>
              </a:lnSpc>
              <a:spcAft>
                <a:spcPts val="1100"/>
              </a:spcAft>
              <a:buSzPct val="100000"/>
              <a:buChar char="▪"/>
            </a:pPr>
            <a:r>
              <a:rPr lang="en-US" sz="1200" dirty="0">
                <a:solidFill>
                  <a:srgbClr val="3C4257"/>
                </a:solidFill>
                <a:latin typeface="Meiryo" pitchFamily="34" charset="0"/>
                <a:ea typeface="Meiryo" pitchFamily="34" charset="-122"/>
                <a:cs typeface="Meiryo" pitchFamily="34" charset="-120"/>
              </a:rPr>
              <a:t>サウンドの内製増曲</a:t>
            </a:r>
            <a:endParaRPr lang="en-US" sz="1200" dirty="0"/>
          </a:p>
          <a:p>
            <a:pPr marL="342900" indent="-342900">
              <a:lnSpc>
                <a:spcPts val="2200"/>
              </a:lnSpc>
              <a:spcAft>
                <a:spcPts val="1100"/>
              </a:spcAft>
              <a:buSzPct val="100000"/>
              <a:buChar char="▪"/>
            </a:pPr>
            <a:r>
              <a:rPr lang="en-US" sz="1200" dirty="0">
                <a:solidFill>
                  <a:srgbClr val="3C4257"/>
                </a:solidFill>
                <a:latin typeface="Meiryo" pitchFamily="34" charset="0"/>
                <a:ea typeface="Meiryo" pitchFamily="34" charset="-122"/>
                <a:cs typeface="Meiryo" pitchFamily="34" charset="-120"/>
              </a:rPr>
              <a:t>チュートリアル</a:t>
            </a:r>
            <a:endParaRPr lang="en-US" sz="1200" dirty="0"/>
          </a:p>
          <a:p>
            <a:pPr marL="342900" indent="-342900">
              <a:lnSpc>
                <a:spcPts val="2200"/>
              </a:lnSpc>
              <a:spcAft>
                <a:spcPts val="1100"/>
              </a:spcAft>
              <a:buSzPct val="100000"/>
              <a:buChar char="▪"/>
            </a:pPr>
            <a:r>
              <a:rPr lang="en-US" sz="1200" dirty="0">
                <a:solidFill>
                  <a:srgbClr val="3C4257"/>
                </a:solidFill>
                <a:latin typeface="Meiryo" pitchFamily="34" charset="0"/>
                <a:ea typeface="Meiryo" pitchFamily="34" charset="-122"/>
                <a:cs typeface="Meiryo" pitchFamily="34" charset="-120"/>
              </a:rPr>
              <a:t>キャンペーン導線</a:t>
            </a:r>
            <a:endParaRPr lang="en-US" sz="1200" dirty="0"/>
          </a:p>
          <a:p>
            <a:pPr marL="342900" indent="-342900">
              <a:lnSpc>
                <a:spcPts val="2200"/>
              </a:lnSpc>
              <a:spcAft>
                <a:spcPts val="1100"/>
              </a:spcAft>
              <a:buSzPct val="100000"/>
              <a:buChar char="▪"/>
            </a:pPr>
            <a:r>
              <a:rPr lang="en-US" sz="1200" dirty="0">
                <a:solidFill>
                  <a:srgbClr val="3C4257"/>
                </a:solidFill>
                <a:latin typeface="Meiryo" pitchFamily="34" charset="0"/>
                <a:ea typeface="Meiryo" pitchFamily="34" charset="-122"/>
                <a:cs typeface="Meiryo" pitchFamily="34" charset="-120"/>
              </a:rPr>
              <a:t>テストマップの削除</a:t>
            </a:r>
            <a:endParaRPr lang="en-US" sz="1200" dirty="0"/>
          </a:p>
          <a:p>
            <a:pPr marL="342900" indent="-342900">
              <a:lnSpc>
                <a:spcPts val="2200"/>
              </a:lnSpc>
              <a:spcAft>
                <a:spcPts val="1100"/>
              </a:spcAft>
              <a:buSzPct val="100000"/>
              <a:buChar char="▪"/>
            </a:pPr>
            <a:r>
              <a:rPr lang="en-US" sz="1200" dirty="0">
                <a:solidFill>
                  <a:srgbClr val="3C4257"/>
                </a:solidFill>
                <a:latin typeface="Meiryo" pitchFamily="34" charset="0"/>
                <a:ea typeface="Meiryo" pitchFamily="34" charset="-122"/>
                <a:cs typeface="Meiryo" pitchFamily="34" charset="-120"/>
              </a:rPr>
              <a:t>セーブの堅牢化</a:t>
            </a:r>
            <a:endParaRPr lang="en-US" sz="1200" dirty="0"/>
          </a:p>
          <a:p>
            <a:pPr marL="342900" indent="-342900">
              <a:lnSpc>
                <a:spcPts val="2200"/>
              </a:lnSpc>
              <a:spcAft>
                <a:spcPts val="1100"/>
              </a:spcAft>
              <a:buSzPct val="100000"/>
              <a:buChar char="▪"/>
            </a:pPr>
            <a:r>
              <a:rPr lang="en-US" sz="1200" dirty="0">
                <a:solidFill>
                  <a:srgbClr val="3C4257"/>
                </a:solidFill>
                <a:latin typeface="Meiryo" pitchFamily="34" charset="0"/>
                <a:ea typeface="Meiryo" pitchFamily="34" charset="-122"/>
                <a:cs typeface="Meiryo" pitchFamily="34" charset="-120"/>
              </a:rPr>
              <a:t>法務対応(規約・表記)</a:t>
            </a:r>
            <a:endParaRPr lang="en-US" sz="1200" dirty="0"/>
          </a:p>
        </p:txBody>
      </p:sp>
      <p:sp>
        <p:nvSpPr>
          <p:cNvPr id="9" name="Shape 7"/>
          <p:cNvSpPr/>
          <p:nvPr/>
        </p:nvSpPr>
        <p:spPr>
          <a:xfrm>
            <a:off x="4353458" y="1572768"/>
            <a:ext cx="3484778" cy="4023360"/>
          </a:xfrm>
          <a:prstGeom prst="roundRect">
            <a:avLst>
              <a:gd name="adj" fmla="val 2099"/>
            </a:avLst>
          </a:prstGeom>
          <a:solidFill>
            <a:srgbClr val="F2F4F8"/>
          </a:solidFill>
          <a:ln/>
          <a:effectLst>
            <a:outerShdw sx="100000" sy="100000" kx="0" ky="0" algn="bl" rotWithShape="0" blurRad="101600" dist="12700" dir="5400000">
              <a:srgbClr val="9AA1B4">
                <a:alpha val="18000"/>
              </a:srgbClr>
            </a:outerShdw>
          </a:effectLst>
        </p:spPr>
      </p:sp>
      <p:sp>
        <p:nvSpPr>
          <p:cNvPr id="10" name="Text 8"/>
          <p:cNvSpPr txBox="1"/>
          <p:nvPr/>
        </p:nvSpPr>
        <p:spPr>
          <a:xfrm>
            <a:off x="4646066" y="1783080"/>
            <a:ext cx="2936138" cy="411480"/>
          </a:xfrm>
          <a:prstGeom prst="rect">
            <a:avLst/>
          </a:prstGeom>
          <a:noFill/>
          <a:ln/>
        </p:spPr>
        <p:txBody>
          <a:bodyPr wrap="square" lIns="0" tIns="0" rIns="0" bIns="0" rtlCol="0" anchor="ctr"/>
          <a:lstStyle/>
          <a:p>
            <a:pPr indent="0" marL="0">
              <a:buNone/>
            </a:pPr>
            <a:r>
              <a:rPr lang="en-US" sz="2200" b="1" dirty="0">
                <a:solidFill>
                  <a:srgbClr val="2F5FAE"/>
                </a:solidFill>
                <a:latin typeface="Meiryo" pitchFamily="34" charset="0"/>
                <a:ea typeface="Meiryo" pitchFamily="34" charset="-122"/>
                <a:cs typeface="Meiryo" pitchFamily="34" charset="-120"/>
              </a:rPr>
              <a:t>Should</a:t>
            </a:r>
            <a:endParaRPr lang="en-US" sz="2200" dirty="0"/>
          </a:p>
        </p:txBody>
      </p:sp>
      <p:sp>
        <p:nvSpPr>
          <p:cNvPr id="11" name="Text 9"/>
          <p:cNvSpPr txBox="1"/>
          <p:nvPr/>
        </p:nvSpPr>
        <p:spPr>
          <a:xfrm>
            <a:off x="4646066" y="2212848"/>
            <a:ext cx="2936138" cy="256032"/>
          </a:xfrm>
          <a:prstGeom prst="rect">
            <a:avLst/>
          </a:prstGeom>
          <a:noFill/>
          <a:ln/>
        </p:spPr>
        <p:txBody>
          <a:bodyPr wrap="square" lIns="0" tIns="0" rIns="0" bIns="0" rtlCol="0" anchor="ctr"/>
          <a:lstStyle/>
          <a:p>
            <a:pPr indent="0" marL="0">
              <a:buNone/>
            </a:pPr>
            <a:r>
              <a:rPr lang="en-US" sz="1100" dirty="0">
                <a:solidFill>
                  <a:srgbClr val="767B91"/>
                </a:solidFill>
                <a:latin typeface="Meiryo" pitchFamily="34" charset="0"/>
                <a:ea typeface="Meiryo" pitchFamily="34" charset="-122"/>
                <a:cs typeface="Meiryo" pitchFamily="34" charset="-120"/>
              </a:rPr>
              <a:t>やりたい</a:t>
            </a:r>
            <a:endParaRPr lang="en-US" sz="1100" dirty="0"/>
          </a:p>
        </p:txBody>
      </p:sp>
      <p:sp>
        <p:nvSpPr>
          <p:cNvPr id="12" name="Text 10"/>
          <p:cNvSpPr txBox="1"/>
          <p:nvPr/>
        </p:nvSpPr>
        <p:spPr>
          <a:xfrm>
            <a:off x="4646066" y="2651760"/>
            <a:ext cx="2917850" cy="2926080"/>
          </a:xfrm>
          <a:prstGeom prst="rect">
            <a:avLst/>
          </a:prstGeom>
          <a:noFill/>
          <a:ln/>
        </p:spPr>
        <p:txBody>
          <a:bodyPr wrap="square" lIns="0" tIns="0" rIns="0" bIns="0" rtlCol="0" anchor="t"/>
          <a:lstStyle/>
          <a:p>
            <a:pPr marL="342900" indent="-342900">
              <a:lnSpc>
                <a:spcPts val="2200"/>
              </a:lnSpc>
              <a:spcAft>
                <a:spcPts val="1100"/>
              </a:spcAft>
              <a:buSzPct val="100000"/>
              <a:buChar char="▪"/>
            </a:pPr>
            <a:r>
              <a:rPr lang="en-US" sz="1200" dirty="0">
                <a:solidFill>
                  <a:srgbClr val="3C4257"/>
                </a:solidFill>
                <a:latin typeface="Meiryo" pitchFamily="34" charset="0"/>
                <a:ea typeface="Meiryo" pitchFamily="34" charset="-122"/>
                <a:cs typeface="Meiryo" pitchFamily="34" charset="-120"/>
              </a:rPr>
              <a:t>Steam 対応(アプリ化)</a:t>
            </a:r>
            <a:endParaRPr lang="en-US" sz="1200" dirty="0"/>
          </a:p>
          <a:p>
            <a:pPr marL="342900" indent="-342900">
              <a:lnSpc>
                <a:spcPts val="2200"/>
              </a:lnSpc>
              <a:spcAft>
                <a:spcPts val="1100"/>
              </a:spcAft>
              <a:buSzPct val="100000"/>
              <a:buChar char="▪"/>
            </a:pPr>
            <a:r>
              <a:rPr lang="en-US" sz="1200" dirty="0">
                <a:solidFill>
                  <a:srgbClr val="3C4257"/>
                </a:solidFill>
                <a:latin typeface="Meiryo" pitchFamily="34" charset="0"/>
                <a:ea typeface="Meiryo" pitchFamily="34" charset="-122"/>
                <a:cs typeface="Meiryo" pitchFamily="34" charset="-120"/>
              </a:rPr>
              <a:t>実績・クラウドセーブ</a:t>
            </a:r>
            <a:endParaRPr lang="en-US" sz="1200" dirty="0"/>
          </a:p>
          <a:p>
            <a:pPr marL="342900" indent="-342900">
              <a:lnSpc>
                <a:spcPts val="2200"/>
              </a:lnSpc>
              <a:spcAft>
                <a:spcPts val="1100"/>
              </a:spcAft>
              <a:buSzPct val="100000"/>
              <a:buChar char="▪"/>
            </a:pPr>
            <a:r>
              <a:rPr lang="en-US" sz="1200" dirty="0">
                <a:solidFill>
                  <a:srgbClr val="3C4257"/>
                </a:solidFill>
                <a:latin typeface="Meiryo" pitchFamily="34" charset="0"/>
                <a:ea typeface="Meiryo" pitchFamily="34" charset="-122"/>
                <a:cs typeface="Meiryo" pitchFamily="34" charset="-120"/>
              </a:rPr>
              <a:t>バランス調整と難易度選択</a:t>
            </a:r>
            <a:endParaRPr lang="en-US" sz="1200" dirty="0"/>
          </a:p>
          <a:p>
            <a:pPr marL="342900" indent="-342900">
              <a:lnSpc>
                <a:spcPts val="2200"/>
              </a:lnSpc>
              <a:spcAft>
                <a:spcPts val="1100"/>
              </a:spcAft>
              <a:buSzPct val="100000"/>
              <a:buChar char="▪"/>
            </a:pPr>
            <a:r>
              <a:rPr lang="en-US" sz="1200" dirty="0">
                <a:solidFill>
                  <a:srgbClr val="3C4257"/>
                </a:solidFill>
                <a:latin typeface="Meiryo" pitchFamily="34" charset="0"/>
                <a:ea typeface="Meiryo" pitchFamily="34" charset="-122"/>
                <a:cs typeface="Meiryo" pitchFamily="34" charset="-120"/>
              </a:rPr>
              <a:t>分析基盤(離脱の可視化)</a:t>
            </a:r>
            <a:endParaRPr lang="en-US" sz="1200" dirty="0"/>
          </a:p>
        </p:txBody>
      </p:sp>
      <p:sp>
        <p:nvSpPr>
          <p:cNvPr id="13" name="Shape 11"/>
          <p:cNvSpPr/>
          <p:nvPr/>
        </p:nvSpPr>
        <p:spPr>
          <a:xfrm>
            <a:off x="8066837" y="1572768"/>
            <a:ext cx="3484778" cy="4023360"/>
          </a:xfrm>
          <a:prstGeom prst="roundRect">
            <a:avLst>
              <a:gd name="adj" fmla="val 2099"/>
            </a:avLst>
          </a:prstGeom>
          <a:solidFill>
            <a:srgbClr val="F2F4F8"/>
          </a:solidFill>
          <a:ln/>
          <a:effectLst>
            <a:outerShdw sx="100000" sy="100000" kx="0" ky="0" algn="bl" rotWithShape="0" blurRad="101600" dist="12700" dir="5400000">
              <a:srgbClr val="9AA1B4">
                <a:alpha val="18000"/>
              </a:srgbClr>
            </a:outerShdw>
          </a:effectLst>
        </p:spPr>
      </p:sp>
      <p:sp>
        <p:nvSpPr>
          <p:cNvPr id="14" name="Text 12"/>
          <p:cNvSpPr txBox="1"/>
          <p:nvPr/>
        </p:nvSpPr>
        <p:spPr>
          <a:xfrm>
            <a:off x="8359445" y="1783080"/>
            <a:ext cx="2936138" cy="411480"/>
          </a:xfrm>
          <a:prstGeom prst="rect">
            <a:avLst/>
          </a:prstGeom>
          <a:noFill/>
          <a:ln/>
        </p:spPr>
        <p:txBody>
          <a:bodyPr wrap="square" lIns="0" tIns="0" rIns="0" bIns="0" rtlCol="0" anchor="ctr"/>
          <a:lstStyle/>
          <a:p>
            <a:pPr indent="0" marL="0">
              <a:buNone/>
            </a:pPr>
            <a:r>
              <a:rPr lang="en-US" sz="2200" b="1" dirty="0">
                <a:solidFill>
                  <a:srgbClr val="767B91"/>
                </a:solidFill>
                <a:latin typeface="Meiryo" pitchFamily="34" charset="0"/>
                <a:ea typeface="Meiryo" pitchFamily="34" charset="-122"/>
                <a:cs typeface="Meiryo" pitchFamily="34" charset="-120"/>
              </a:rPr>
              <a:t>Could</a:t>
            </a:r>
            <a:endParaRPr lang="en-US" sz="2200" dirty="0"/>
          </a:p>
        </p:txBody>
      </p:sp>
      <p:sp>
        <p:nvSpPr>
          <p:cNvPr id="15" name="Text 13"/>
          <p:cNvSpPr txBox="1"/>
          <p:nvPr/>
        </p:nvSpPr>
        <p:spPr>
          <a:xfrm>
            <a:off x="8359445" y="2212848"/>
            <a:ext cx="2936138" cy="256032"/>
          </a:xfrm>
          <a:prstGeom prst="rect">
            <a:avLst/>
          </a:prstGeom>
          <a:noFill/>
          <a:ln/>
        </p:spPr>
        <p:txBody>
          <a:bodyPr wrap="square" lIns="0" tIns="0" rIns="0" bIns="0" rtlCol="0" anchor="ctr"/>
          <a:lstStyle/>
          <a:p>
            <a:pPr indent="0" marL="0">
              <a:buNone/>
            </a:pPr>
            <a:r>
              <a:rPr lang="en-US" sz="1100" dirty="0">
                <a:solidFill>
                  <a:srgbClr val="767B91"/>
                </a:solidFill>
                <a:latin typeface="Meiryo" pitchFamily="34" charset="0"/>
                <a:ea typeface="Meiryo" pitchFamily="34" charset="-122"/>
                <a:cs typeface="Meiryo" pitchFamily="34" charset="-120"/>
              </a:rPr>
              <a:t>余裕があれば</a:t>
            </a:r>
            <a:endParaRPr lang="en-US" sz="1100" dirty="0"/>
          </a:p>
        </p:txBody>
      </p:sp>
      <p:sp>
        <p:nvSpPr>
          <p:cNvPr id="16" name="Text 14"/>
          <p:cNvSpPr txBox="1"/>
          <p:nvPr/>
        </p:nvSpPr>
        <p:spPr>
          <a:xfrm>
            <a:off x="8359445" y="2651760"/>
            <a:ext cx="2917850" cy="2926080"/>
          </a:xfrm>
          <a:prstGeom prst="rect">
            <a:avLst/>
          </a:prstGeom>
          <a:noFill/>
          <a:ln/>
        </p:spPr>
        <p:txBody>
          <a:bodyPr wrap="square" lIns="0" tIns="0" rIns="0" bIns="0" rtlCol="0" anchor="t"/>
          <a:lstStyle/>
          <a:p>
            <a:pPr marL="342900" indent="-342900">
              <a:lnSpc>
                <a:spcPts val="2200"/>
              </a:lnSpc>
              <a:spcAft>
                <a:spcPts val="1100"/>
              </a:spcAft>
              <a:buSzPct val="100000"/>
              <a:buChar char="▪"/>
            </a:pPr>
            <a:r>
              <a:rPr lang="en-US" sz="1200" dirty="0">
                <a:solidFill>
                  <a:srgbClr val="3C4257"/>
                </a:solidFill>
                <a:latin typeface="Meiryo" pitchFamily="34" charset="0"/>
                <a:ea typeface="Meiryo" pitchFamily="34" charset="-122"/>
                <a:cs typeface="Meiryo" pitchFamily="34" charset="-120"/>
              </a:rPr>
              <a:t>英語対応(売上を数倍にしうる)</a:t>
            </a:r>
            <a:endParaRPr lang="en-US" sz="1200" dirty="0"/>
          </a:p>
          <a:p>
            <a:pPr marL="342900" indent="-342900">
              <a:lnSpc>
                <a:spcPts val="2200"/>
              </a:lnSpc>
              <a:spcAft>
                <a:spcPts val="1100"/>
              </a:spcAft>
              <a:buSzPct val="100000"/>
              <a:buChar char="▪"/>
            </a:pPr>
            <a:r>
              <a:rPr lang="en-US" sz="1200" dirty="0">
                <a:solidFill>
                  <a:srgbClr val="3C4257"/>
                </a:solidFill>
                <a:latin typeface="Meiryo" pitchFamily="34" charset="0"/>
                <a:ea typeface="Meiryo" pitchFamily="34" charset="-122"/>
                <a:cs typeface="Meiryo" pitchFamily="34" charset="-120"/>
              </a:rPr>
              <a:t>4P マップ</a:t>
            </a:r>
            <a:endParaRPr lang="en-US" sz="1200" dirty="0"/>
          </a:p>
          <a:p>
            <a:pPr marL="342900" indent="-342900">
              <a:lnSpc>
                <a:spcPts val="2200"/>
              </a:lnSpc>
              <a:spcAft>
                <a:spcPts val="1100"/>
              </a:spcAft>
              <a:buSzPct val="100000"/>
              <a:buChar char="▪"/>
            </a:pPr>
            <a:r>
              <a:rPr lang="en-US" sz="1200" dirty="0">
                <a:solidFill>
                  <a:srgbClr val="3C4257"/>
                </a:solidFill>
                <a:latin typeface="Meiryo" pitchFamily="34" charset="0"/>
                <a:ea typeface="Meiryo" pitchFamily="34" charset="-122"/>
                <a:cs typeface="Meiryo" pitchFamily="34" charset="-120"/>
              </a:rPr>
              <a:t>マップエディタ</a:t>
            </a:r>
            <a:endParaRPr lang="en-US" sz="1200" dirty="0"/>
          </a:p>
          <a:p>
            <a:pPr marL="342900" indent="-342900">
              <a:lnSpc>
                <a:spcPts val="2200"/>
              </a:lnSpc>
              <a:spcAft>
                <a:spcPts val="1100"/>
              </a:spcAft>
              <a:buSzPct val="100000"/>
              <a:buChar char="▪"/>
            </a:pPr>
            <a:r>
              <a:rPr lang="en-US" sz="1200" dirty="0">
                <a:solidFill>
                  <a:srgbClr val="3C4257"/>
                </a:solidFill>
                <a:latin typeface="Meiryo" pitchFamily="34" charset="0"/>
                <a:ea typeface="Meiryo" pitchFamily="34" charset="-122"/>
                <a:cs typeface="Meiryo" pitchFamily="34" charset="-120"/>
              </a:rPr>
              <a:t>追加マップ・指揮官の DLC</a:t>
            </a:r>
            <a:endParaRPr lang="en-US" sz="1200" dirty="0"/>
          </a:p>
        </p:txBody>
      </p:sp>
      <p:sp>
        <p:nvSpPr>
          <p:cNvPr id="17" name="Text 15"/>
          <p:cNvSpPr txBox="1"/>
          <p:nvPr/>
        </p:nvSpPr>
        <p:spPr>
          <a:xfrm>
            <a:off x="640080" y="5806440"/>
            <a:ext cx="10911535" cy="274320"/>
          </a:xfrm>
          <a:prstGeom prst="rect">
            <a:avLst/>
          </a:prstGeom>
          <a:noFill/>
          <a:ln/>
        </p:spPr>
        <p:txBody>
          <a:bodyPr wrap="square" lIns="0" tIns="0" rIns="0" bIns="0" rtlCol="0" anchor="ctr"/>
          <a:lstStyle/>
          <a:p>
            <a:pPr indent="0" marL="0">
              <a:buNone/>
            </a:pPr>
            <a:r>
              <a:rPr lang="en-US" sz="1050" dirty="0">
                <a:solidFill>
                  <a:srgbClr val="767B91"/>
                </a:solidFill>
                <a:latin typeface="Meiryo" pitchFamily="34" charset="0"/>
                <a:ea typeface="Meiryo" pitchFamily="34" charset="-122"/>
                <a:cs typeface="Meiryo" pitchFamily="34" charset="-120"/>
              </a:rPr>
              <a:t>※ オンライン対戦・ストーリー演出・3D は引き続きスコープ外</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146304" cy="146304"/>
          </a:xfrm>
          <a:prstGeom prst="rect">
            <a:avLst/>
          </a:prstGeom>
          <a:solidFill>
            <a:srgbClr val="2F5FAE"/>
          </a:solidFill>
          <a:ln/>
        </p:spPr>
      </p:sp>
      <p:sp>
        <p:nvSpPr>
          <p:cNvPr id="3" name="Text 1"/>
          <p:cNvSpPr txBox="1"/>
          <p:nvPr/>
        </p:nvSpPr>
        <p:spPr>
          <a:xfrm>
            <a:off x="896112" y="402336"/>
            <a:ext cx="8229600" cy="292608"/>
          </a:xfrm>
          <a:prstGeom prst="rect">
            <a:avLst/>
          </a:prstGeom>
          <a:noFill/>
          <a:ln/>
        </p:spPr>
        <p:txBody>
          <a:bodyPr wrap="square" lIns="0" tIns="0" rIns="0" bIns="0" rtlCol="0" anchor="ctr"/>
          <a:lstStyle/>
          <a:p>
            <a:pPr indent="0" marL="0">
              <a:buNone/>
            </a:pPr>
            <a:r>
              <a:rPr lang="en-US" sz="1200" b="1" spc="140" kern="0" dirty="0">
                <a:solidFill>
                  <a:srgbClr val="2F5FAE"/>
                </a:solidFill>
                <a:latin typeface="Meiryo" pitchFamily="34" charset="0"/>
                <a:ea typeface="Meiryo" pitchFamily="34" charset="-122"/>
                <a:cs typeface="Meiryo" pitchFamily="34" charset="-120"/>
              </a:rPr>
              <a:t>2-5  企画</a:t>
            </a:r>
            <a:endParaRPr lang="en-US" sz="1200" dirty="0"/>
          </a:p>
        </p:txBody>
      </p:sp>
      <p:sp>
        <p:nvSpPr>
          <p:cNvPr id="4" name="Text 2"/>
          <p:cNvSpPr txBox="1"/>
          <p:nvPr/>
        </p:nvSpPr>
        <p:spPr>
          <a:xfrm>
            <a:off x="640080" y="749808"/>
            <a:ext cx="10911535" cy="658368"/>
          </a:xfrm>
          <a:prstGeom prst="rect">
            <a:avLst/>
          </a:prstGeom>
          <a:noFill/>
          <a:ln/>
        </p:spPr>
        <p:txBody>
          <a:bodyPr wrap="square" lIns="0" tIns="0" rIns="0" bIns="0" rtlCol="0" anchor="ctr"/>
          <a:lstStyle/>
          <a:p>
            <a:pPr indent="0" marL="0">
              <a:buNone/>
            </a:pPr>
            <a:r>
              <a:rPr lang="en-US" sz="3000" b="1" dirty="0">
                <a:solidFill>
                  <a:srgbClr val="1A1A2E"/>
                </a:solidFill>
                <a:latin typeface="Meiryo" pitchFamily="34" charset="0"/>
                <a:ea typeface="Meiryo" pitchFamily="34" charset="-122"/>
                <a:cs typeface="Meiryo" pitchFamily="34" charset="-120"/>
              </a:rPr>
              <a:t>ロードマップ ─ 上限 9 か月・各段階で続行判断</a:t>
            </a:r>
            <a:endParaRPr lang="en-US" sz="3000" dirty="0"/>
          </a:p>
        </p:txBody>
      </p:sp>
      <p:sp>
        <p:nvSpPr>
          <p:cNvPr id="5" name="Shape 3"/>
          <p:cNvSpPr/>
          <p:nvPr/>
        </p:nvSpPr>
        <p:spPr>
          <a:xfrm>
            <a:off x="640080" y="1645920"/>
            <a:ext cx="2072579" cy="2743200"/>
          </a:xfrm>
          <a:prstGeom prst="roundRect">
            <a:avLst>
              <a:gd name="adj" fmla="val 3530"/>
            </a:avLst>
          </a:prstGeom>
          <a:solidFill>
            <a:srgbClr val="F2F4F8"/>
          </a:solidFill>
          <a:ln/>
          <a:effectLst>
            <a:outerShdw sx="100000" sy="100000" kx="0" ky="0" algn="bl" rotWithShape="0" blurRad="101600" dist="12700" dir="5400000">
              <a:srgbClr val="9AA1B4">
                <a:alpha val="18000"/>
              </a:srgbClr>
            </a:outerShdw>
          </a:effectLst>
        </p:spPr>
      </p:sp>
      <p:sp>
        <p:nvSpPr>
          <p:cNvPr id="6" name="Shape 4"/>
          <p:cNvSpPr/>
          <p:nvPr/>
        </p:nvSpPr>
        <p:spPr>
          <a:xfrm>
            <a:off x="896112" y="1847088"/>
            <a:ext cx="457200" cy="457200"/>
          </a:xfrm>
          <a:prstGeom prst="ellipse">
            <a:avLst/>
          </a:prstGeom>
          <a:solidFill>
            <a:srgbClr val="2F5FAE"/>
          </a:solidFill>
          <a:ln/>
        </p:spPr>
      </p:sp>
      <p:sp>
        <p:nvSpPr>
          <p:cNvPr id="7" name="Text 5"/>
          <p:cNvSpPr txBox="1"/>
          <p:nvPr/>
        </p:nvSpPr>
        <p:spPr>
          <a:xfrm>
            <a:off x="896112" y="1920240"/>
            <a:ext cx="457200"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1</a:t>
            </a:r>
            <a:endParaRPr lang="en-US" sz="1600" dirty="0"/>
          </a:p>
        </p:txBody>
      </p:sp>
      <p:sp>
        <p:nvSpPr>
          <p:cNvPr id="8" name="Text 6"/>
          <p:cNvSpPr txBox="1"/>
          <p:nvPr/>
        </p:nvSpPr>
        <p:spPr>
          <a:xfrm>
            <a:off x="896112" y="2450592"/>
            <a:ext cx="1615379" cy="292608"/>
          </a:xfrm>
          <a:prstGeom prst="rect">
            <a:avLst/>
          </a:prstGeom>
          <a:noFill/>
          <a:ln/>
        </p:spPr>
        <p:txBody>
          <a:bodyPr wrap="square" lIns="0" tIns="0" rIns="0" bIns="0" rtlCol="0" anchor="ctr"/>
          <a:lstStyle/>
          <a:p>
            <a:pPr indent="0" marL="0">
              <a:buNone/>
            </a:pPr>
            <a:r>
              <a:rPr lang="en-US" sz="1400" b="1" dirty="0">
                <a:solidFill>
                  <a:srgbClr val="1A1A2E"/>
                </a:solidFill>
                <a:latin typeface="Meiryo" pitchFamily="34" charset="0"/>
                <a:ea typeface="Meiryo" pitchFamily="34" charset="-122"/>
                <a:cs typeface="Meiryo" pitchFamily="34" charset="-120"/>
              </a:rPr>
              <a:t>検証</a:t>
            </a:r>
            <a:endParaRPr lang="en-US" sz="1400" dirty="0"/>
          </a:p>
        </p:txBody>
      </p:sp>
      <p:sp>
        <p:nvSpPr>
          <p:cNvPr id="9" name="Text 7"/>
          <p:cNvSpPr txBox="1"/>
          <p:nvPr/>
        </p:nvSpPr>
        <p:spPr>
          <a:xfrm>
            <a:off x="896112" y="2761488"/>
            <a:ext cx="1615379" cy="274320"/>
          </a:xfrm>
          <a:prstGeom prst="rect">
            <a:avLst/>
          </a:prstGeom>
          <a:noFill/>
          <a:ln/>
        </p:spPr>
        <p:txBody>
          <a:bodyPr wrap="square" lIns="0" tIns="0" rIns="0" bIns="0" rtlCol="0" anchor="ctr"/>
          <a:lstStyle/>
          <a:p>
            <a:pPr indent="0" marL="0">
              <a:buNone/>
            </a:pPr>
            <a:r>
              <a:rPr lang="en-US" sz="1150" b="1" dirty="0">
                <a:solidFill>
                  <a:srgbClr val="2F5FAE"/>
                </a:solidFill>
                <a:latin typeface="Meiryo" pitchFamily="34" charset="0"/>
                <a:ea typeface="Meiryo" pitchFamily="34" charset="-122"/>
                <a:cs typeface="Meiryo" pitchFamily="34" charset="-120"/>
              </a:rPr>
              <a:t>1 か月</a:t>
            </a:r>
            <a:endParaRPr lang="en-US" sz="1150" dirty="0"/>
          </a:p>
        </p:txBody>
      </p:sp>
      <p:sp>
        <p:nvSpPr>
          <p:cNvPr id="10" name="Text 8"/>
          <p:cNvSpPr txBox="1"/>
          <p:nvPr/>
        </p:nvSpPr>
        <p:spPr>
          <a:xfrm>
            <a:off x="896112" y="3127248"/>
            <a:ext cx="1615379" cy="1280160"/>
          </a:xfrm>
          <a:prstGeom prst="rect">
            <a:avLst/>
          </a:prstGeom>
          <a:noFill/>
          <a:ln/>
        </p:spPr>
        <p:txBody>
          <a:bodyPr wrap="square" lIns="0" tIns="0" rIns="0" bIns="0" rtlCol="0" anchor="ctr"/>
          <a:lstStyle/>
          <a:p>
            <a:pPr indent="0" marL="0">
              <a:lnSpc>
                <a:spcPts val="1500"/>
              </a:lnSpc>
              <a:buNone/>
            </a:pPr>
            <a:r>
              <a:rPr lang="en-US" sz="1050" dirty="0">
                <a:solidFill>
                  <a:srgbClr val="767B91"/>
                </a:solidFill>
                <a:latin typeface="Meiryo" pitchFamily="34" charset="0"/>
                <a:ea typeface="Meiryo" pitchFamily="34" charset="-122"/>
                <a:cs typeface="Meiryo" pitchFamily="34" charset="-120"/>
              </a:rPr>
              <a:t>定量テストプレイ</a:t>
            </a:r>
            <a:endParaRPr lang="en-US" sz="1050" dirty="0"/>
          </a:p>
          <a:p>
            <a:pPr indent="0" marL="0">
              <a:lnSpc>
                <a:spcPts val="1500"/>
              </a:lnSpc>
              <a:buNone/>
            </a:pPr>
            <a:r>
              <a:rPr lang="en-US" sz="1050" dirty="0">
                <a:solidFill>
                  <a:srgbClr val="767B91"/>
                </a:solidFill>
                <a:latin typeface="Meiryo" pitchFamily="34" charset="0"/>
                <a:ea typeface="Meiryo" pitchFamily="34" charset="-122"/>
                <a:cs typeface="Meiryo" pitchFamily="34" charset="-120"/>
              </a:rPr>
              <a:t>競合価格調査</a:t>
            </a:r>
            <a:endParaRPr lang="en-US" sz="1050" dirty="0"/>
          </a:p>
          <a:p>
            <a:pPr indent="0" marL="0">
              <a:lnSpc>
                <a:spcPts val="1500"/>
              </a:lnSpc>
              <a:buNone/>
            </a:pPr>
            <a:r>
              <a:rPr lang="en-US" sz="1050" dirty="0">
                <a:solidFill>
                  <a:srgbClr val="767B91"/>
                </a:solidFill>
                <a:latin typeface="Meiryo" pitchFamily="34" charset="0"/>
                <a:ea typeface="Meiryo" pitchFamily="34" charset="-122"/>
                <a:cs typeface="Meiryo" pitchFamily="34" charset="-120"/>
              </a:rPr>
              <a:t>権利帰属の整理</a:t>
            </a:r>
            <a:endParaRPr lang="en-US" sz="1050" dirty="0"/>
          </a:p>
        </p:txBody>
      </p:sp>
      <p:sp>
        <p:nvSpPr>
          <p:cNvPr id="11" name="Shape 9"/>
          <p:cNvSpPr/>
          <p:nvPr/>
        </p:nvSpPr>
        <p:spPr>
          <a:xfrm>
            <a:off x="2849819" y="1645920"/>
            <a:ext cx="2072579" cy="2743200"/>
          </a:xfrm>
          <a:prstGeom prst="roundRect">
            <a:avLst>
              <a:gd name="adj" fmla="val 3530"/>
            </a:avLst>
          </a:prstGeom>
          <a:solidFill>
            <a:srgbClr val="FCF4E4"/>
          </a:solidFill>
          <a:ln/>
          <a:effectLst>
            <a:outerShdw sx="100000" sy="100000" kx="0" ky="0" algn="bl" rotWithShape="0" blurRad="101600" dist="12700" dir="5400000">
              <a:srgbClr val="9AA1B4">
                <a:alpha val="18000"/>
              </a:srgbClr>
            </a:outerShdw>
          </a:effectLst>
        </p:spPr>
      </p:sp>
      <p:sp>
        <p:nvSpPr>
          <p:cNvPr id="12" name="Shape 10"/>
          <p:cNvSpPr/>
          <p:nvPr/>
        </p:nvSpPr>
        <p:spPr>
          <a:xfrm>
            <a:off x="3105851" y="1847088"/>
            <a:ext cx="457200" cy="457200"/>
          </a:xfrm>
          <a:prstGeom prst="ellipse">
            <a:avLst/>
          </a:prstGeom>
          <a:solidFill>
            <a:srgbClr val="9A6B12"/>
          </a:solidFill>
          <a:ln/>
        </p:spPr>
      </p:sp>
      <p:sp>
        <p:nvSpPr>
          <p:cNvPr id="13" name="Text 11"/>
          <p:cNvSpPr txBox="1"/>
          <p:nvPr/>
        </p:nvSpPr>
        <p:spPr>
          <a:xfrm>
            <a:off x="3105851" y="1920240"/>
            <a:ext cx="457200"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2</a:t>
            </a:r>
            <a:endParaRPr lang="en-US" sz="1600" dirty="0"/>
          </a:p>
        </p:txBody>
      </p:sp>
      <p:sp>
        <p:nvSpPr>
          <p:cNvPr id="14" name="Text 12"/>
          <p:cNvSpPr txBox="1"/>
          <p:nvPr/>
        </p:nvSpPr>
        <p:spPr>
          <a:xfrm>
            <a:off x="3105851" y="2450592"/>
            <a:ext cx="1615379" cy="292608"/>
          </a:xfrm>
          <a:prstGeom prst="rect">
            <a:avLst/>
          </a:prstGeom>
          <a:noFill/>
          <a:ln/>
        </p:spPr>
        <p:txBody>
          <a:bodyPr wrap="square" lIns="0" tIns="0" rIns="0" bIns="0" rtlCol="0" anchor="ctr"/>
          <a:lstStyle/>
          <a:p>
            <a:pPr indent="0" marL="0">
              <a:buNone/>
            </a:pPr>
            <a:r>
              <a:rPr lang="en-US" sz="1400" b="1" dirty="0">
                <a:solidFill>
                  <a:srgbClr val="1A1A2E"/>
                </a:solidFill>
                <a:latin typeface="Meiryo" pitchFamily="34" charset="0"/>
                <a:ea typeface="Meiryo" pitchFamily="34" charset="-122"/>
                <a:cs typeface="Meiryo" pitchFamily="34" charset="-120"/>
              </a:rPr>
              <a:t>商品化設計</a:t>
            </a:r>
            <a:endParaRPr lang="en-US" sz="1400" dirty="0"/>
          </a:p>
        </p:txBody>
      </p:sp>
      <p:sp>
        <p:nvSpPr>
          <p:cNvPr id="15" name="Text 13"/>
          <p:cNvSpPr txBox="1"/>
          <p:nvPr/>
        </p:nvSpPr>
        <p:spPr>
          <a:xfrm>
            <a:off x="3105851" y="2761488"/>
            <a:ext cx="1615379" cy="274320"/>
          </a:xfrm>
          <a:prstGeom prst="rect">
            <a:avLst/>
          </a:prstGeom>
          <a:noFill/>
          <a:ln/>
        </p:spPr>
        <p:txBody>
          <a:bodyPr wrap="square" lIns="0" tIns="0" rIns="0" bIns="0" rtlCol="0" anchor="ctr"/>
          <a:lstStyle/>
          <a:p>
            <a:pPr indent="0" marL="0">
              <a:buNone/>
            </a:pPr>
            <a:r>
              <a:rPr lang="en-US" sz="1150" b="1" dirty="0">
                <a:solidFill>
                  <a:srgbClr val="9A6B12"/>
                </a:solidFill>
                <a:latin typeface="Meiryo" pitchFamily="34" charset="0"/>
                <a:ea typeface="Meiryo" pitchFamily="34" charset="-122"/>
                <a:cs typeface="Meiryo" pitchFamily="34" charset="-120"/>
              </a:rPr>
              <a:t>1 か月</a:t>
            </a:r>
            <a:endParaRPr lang="en-US" sz="1150" dirty="0"/>
          </a:p>
        </p:txBody>
      </p:sp>
      <p:sp>
        <p:nvSpPr>
          <p:cNvPr id="16" name="Text 14"/>
          <p:cNvSpPr txBox="1"/>
          <p:nvPr/>
        </p:nvSpPr>
        <p:spPr>
          <a:xfrm>
            <a:off x="3105851" y="3127248"/>
            <a:ext cx="1615379" cy="1280160"/>
          </a:xfrm>
          <a:prstGeom prst="rect">
            <a:avLst/>
          </a:prstGeom>
          <a:noFill/>
          <a:ln/>
        </p:spPr>
        <p:txBody>
          <a:bodyPr wrap="square" lIns="0" tIns="0" rIns="0" bIns="0" rtlCol="0" anchor="ctr"/>
          <a:lstStyle/>
          <a:p>
            <a:pPr indent="0" marL="0">
              <a:lnSpc>
                <a:spcPts val="1500"/>
              </a:lnSpc>
              <a:buNone/>
            </a:pPr>
            <a:r>
              <a:rPr lang="en-US" sz="1050" dirty="0">
                <a:solidFill>
                  <a:srgbClr val="767B91"/>
                </a:solidFill>
                <a:latin typeface="Meiryo" pitchFamily="34" charset="0"/>
                <a:ea typeface="Meiryo" pitchFamily="34" charset="-122"/>
                <a:cs typeface="Meiryo" pitchFamily="34" charset="-120"/>
              </a:rPr>
              <a:t>アート試作(1 画面)</a:t>
            </a:r>
            <a:endParaRPr lang="en-US" sz="1050" dirty="0"/>
          </a:p>
          <a:p>
            <a:pPr indent="0" marL="0">
              <a:lnSpc>
                <a:spcPts val="1500"/>
              </a:lnSpc>
              <a:buNone/>
            </a:pPr>
            <a:r>
              <a:rPr lang="en-US" sz="1050" dirty="0">
                <a:solidFill>
                  <a:srgbClr val="767B91"/>
                </a:solidFill>
                <a:latin typeface="Meiryo" pitchFamily="34" charset="0"/>
                <a:ea typeface="Meiryo" pitchFamily="34" charset="-122"/>
                <a:cs typeface="Meiryo" pitchFamily="34" charset="-120"/>
              </a:rPr>
              <a:t>キャンペーン設計</a:t>
            </a:r>
            <a:endParaRPr lang="en-US" sz="1050" dirty="0"/>
          </a:p>
          <a:p>
            <a:pPr indent="0" marL="0">
              <a:lnSpc>
                <a:spcPts val="1500"/>
              </a:lnSpc>
              <a:buNone/>
            </a:pPr>
            <a:r>
              <a:rPr lang="en-US" sz="1050" dirty="0">
                <a:solidFill>
                  <a:srgbClr val="767B91"/>
                </a:solidFill>
                <a:latin typeface="Meiryo" pitchFamily="34" charset="0"/>
                <a:ea typeface="Meiryo" pitchFamily="34" charset="-122"/>
                <a:cs typeface="Meiryo" pitchFamily="34" charset="-120"/>
              </a:rPr>
              <a:t>価格・配信計画</a:t>
            </a:r>
            <a:endParaRPr lang="en-US" sz="1050" dirty="0"/>
          </a:p>
        </p:txBody>
      </p:sp>
      <p:sp>
        <p:nvSpPr>
          <p:cNvPr id="17" name="Shape 15"/>
          <p:cNvSpPr/>
          <p:nvPr/>
        </p:nvSpPr>
        <p:spPr>
          <a:xfrm>
            <a:off x="5059558" y="1645920"/>
            <a:ext cx="2072579" cy="2743200"/>
          </a:xfrm>
          <a:prstGeom prst="roundRect">
            <a:avLst>
              <a:gd name="adj" fmla="val 3530"/>
            </a:avLst>
          </a:prstGeom>
          <a:solidFill>
            <a:srgbClr val="F2F4F8"/>
          </a:solidFill>
          <a:ln/>
          <a:effectLst>
            <a:outerShdw sx="100000" sy="100000" kx="0" ky="0" algn="bl" rotWithShape="0" blurRad="101600" dist="12700" dir="5400000">
              <a:srgbClr val="9AA1B4">
                <a:alpha val="18000"/>
              </a:srgbClr>
            </a:outerShdw>
          </a:effectLst>
        </p:spPr>
      </p:sp>
      <p:sp>
        <p:nvSpPr>
          <p:cNvPr id="18" name="Shape 16"/>
          <p:cNvSpPr/>
          <p:nvPr/>
        </p:nvSpPr>
        <p:spPr>
          <a:xfrm>
            <a:off x="5315590" y="1847088"/>
            <a:ext cx="457200" cy="457200"/>
          </a:xfrm>
          <a:prstGeom prst="ellipse">
            <a:avLst/>
          </a:prstGeom>
          <a:solidFill>
            <a:srgbClr val="2F5FAE"/>
          </a:solidFill>
          <a:ln/>
        </p:spPr>
      </p:sp>
      <p:sp>
        <p:nvSpPr>
          <p:cNvPr id="19" name="Text 17"/>
          <p:cNvSpPr txBox="1"/>
          <p:nvPr/>
        </p:nvSpPr>
        <p:spPr>
          <a:xfrm>
            <a:off x="5315590" y="1920240"/>
            <a:ext cx="457200"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3</a:t>
            </a:r>
            <a:endParaRPr lang="en-US" sz="1600" dirty="0"/>
          </a:p>
        </p:txBody>
      </p:sp>
      <p:sp>
        <p:nvSpPr>
          <p:cNvPr id="20" name="Text 18"/>
          <p:cNvSpPr txBox="1"/>
          <p:nvPr/>
        </p:nvSpPr>
        <p:spPr>
          <a:xfrm>
            <a:off x="5315590" y="2450592"/>
            <a:ext cx="1615379" cy="292608"/>
          </a:xfrm>
          <a:prstGeom prst="rect">
            <a:avLst/>
          </a:prstGeom>
          <a:noFill/>
          <a:ln/>
        </p:spPr>
        <p:txBody>
          <a:bodyPr wrap="square" lIns="0" tIns="0" rIns="0" bIns="0" rtlCol="0" anchor="ctr"/>
          <a:lstStyle/>
          <a:p>
            <a:pPr indent="0" marL="0">
              <a:buNone/>
            </a:pPr>
            <a:r>
              <a:rPr lang="en-US" sz="1400" b="1" dirty="0">
                <a:solidFill>
                  <a:srgbClr val="1A1A2E"/>
                </a:solidFill>
                <a:latin typeface="Meiryo" pitchFamily="34" charset="0"/>
                <a:ea typeface="Meiryo" pitchFamily="34" charset="-122"/>
                <a:cs typeface="Meiryo" pitchFamily="34" charset="-120"/>
              </a:rPr>
              <a:t>製作</a:t>
            </a:r>
            <a:endParaRPr lang="en-US" sz="1400" dirty="0"/>
          </a:p>
        </p:txBody>
      </p:sp>
      <p:sp>
        <p:nvSpPr>
          <p:cNvPr id="21" name="Text 19"/>
          <p:cNvSpPr txBox="1"/>
          <p:nvPr/>
        </p:nvSpPr>
        <p:spPr>
          <a:xfrm>
            <a:off x="5315590" y="2761488"/>
            <a:ext cx="1615379" cy="274320"/>
          </a:xfrm>
          <a:prstGeom prst="rect">
            <a:avLst/>
          </a:prstGeom>
          <a:noFill/>
          <a:ln/>
        </p:spPr>
        <p:txBody>
          <a:bodyPr wrap="square" lIns="0" tIns="0" rIns="0" bIns="0" rtlCol="0" anchor="ctr"/>
          <a:lstStyle/>
          <a:p>
            <a:pPr indent="0" marL="0">
              <a:buNone/>
            </a:pPr>
            <a:r>
              <a:rPr lang="en-US" sz="1150" b="1" dirty="0">
                <a:solidFill>
                  <a:srgbClr val="2F5FAE"/>
                </a:solidFill>
                <a:latin typeface="Meiryo" pitchFamily="34" charset="0"/>
                <a:ea typeface="Meiryo" pitchFamily="34" charset="-122"/>
                <a:cs typeface="Meiryo" pitchFamily="34" charset="-120"/>
              </a:rPr>
              <a:t>4〜5 か月</a:t>
            </a:r>
            <a:endParaRPr lang="en-US" sz="1150" dirty="0"/>
          </a:p>
        </p:txBody>
      </p:sp>
      <p:sp>
        <p:nvSpPr>
          <p:cNvPr id="22" name="Text 20"/>
          <p:cNvSpPr txBox="1"/>
          <p:nvPr/>
        </p:nvSpPr>
        <p:spPr>
          <a:xfrm>
            <a:off x="5315590" y="3127248"/>
            <a:ext cx="1615379" cy="1280160"/>
          </a:xfrm>
          <a:prstGeom prst="rect">
            <a:avLst/>
          </a:prstGeom>
          <a:noFill/>
          <a:ln/>
        </p:spPr>
        <p:txBody>
          <a:bodyPr wrap="square" lIns="0" tIns="0" rIns="0" bIns="0" rtlCol="0" anchor="ctr"/>
          <a:lstStyle/>
          <a:p>
            <a:pPr indent="0" marL="0">
              <a:lnSpc>
                <a:spcPts val="1500"/>
              </a:lnSpc>
              <a:buNone/>
            </a:pPr>
            <a:r>
              <a:rPr lang="en-US" sz="1050" dirty="0">
                <a:solidFill>
                  <a:srgbClr val="767B91"/>
                </a:solidFill>
                <a:latin typeface="Meiryo" pitchFamily="34" charset="0"/>
                <a:ea typeface="Meiryo" pitchFamily="34" charset="-122"/>
                <a:cs typeface="Meiryo" pitchFamily="34" charset="-120"/>
              </a:rPr>
              <a:t>アート/音の差し替え</a:t>
            </a:r>
            <a:endParaRPr lang="en-US" sz="1050" dirty="0"/>
          </a:p>
          <a:p>
            <a:pPr indent="0" marL="0">
              <a:lnSpc>
                <a:spcPts val="1500"/>
              </a:lnSpc>
              <a:buNone/>
            </a:pPr>
            <a:r>
              <a:rPr lang="en-US" sz="1050" dirty="0">
                <a:solidFill>
                  <a:srgbClr val="767B91"/>
                </a:solidFill>
                <a:latin typeface="Meiryo" pitchFamily="34" charset="0"/>
                <a:ea typeface="Meiryo" pitchFamily="34" charset="-122"/>
                <a:cs typeface="Meiryo" pitchFamily="34" charset="-120"/>
              </a:rPr>
              <a:t>チュートリアル</a:t>
            </a:r>
            <a:endParaRPr lang="en-US" sz="1050" dirty="0"/>
          </a:p>
          <a:p>
            <a:pPr indent="0" marL="0">
              <a:lnSpc>
                <a:spcPts val="1500"/>
              </a:lnSpc>
              <a:buNone/>
            </a:pPr>
            <a:r>
              <a:rPr lang="en-US" sz="1050" dirty="0">
                <a:solidFill>
                  <a:srgbClr val="767B91"/>
                </a:solidFill>
                <a:latin typeface="Meiryo" pitchFamily="34" charset="0"/>
                <a:ea typeface="Meiryo" pitchFamily="34" charset="-122"/>
                <a:cs typeface="Meiryo" pitchFamily="34" charset="-120"/>
              </a:rPr>
              <a:t>Steam 対応</a:t>
            </a:r>
            <a:endParaRPr lang="en-US" sz="1050" dirty="0"/>
          </a:p>
        </p:txBody>
      </p:sp>
      <p:sp>
        <p:nvSpPr>
          <p:cNvPr id="23" name="Shape 21"/>
          <p:cNvSpPr/>
          <p:nvPr/>
        </p:nvSpPr>
        <p:spPr>
          <a:xfrm>
            <a:off x="7269297" y="1645920"/>
            <a:ext cx="2072579" cy="2743200"/>
          </a:xfrm>
          <a:prstGeom prst="roundRect">
            <a:avLst>
              <a:gd name="adj" fmla="val 3530"/>
            </a:avLst>
          </a:prstGeom>
          <a:solidFill>
            <a:srgbClr val="F2F4F8"/>
          </a:solidFill>
          <a:ln/>
          <a:effectLst>
            <a:outerShdw sx="100000" sy="100000" kx="0" ky="0" algn="bl" rotWithShape="0" blurRad="101600" dist="12700" dir="5400000">
              <a:srgbClr val="9AA1B4">
                <a:alpha val="18000"/>
              </a:srgbClr>
            </a:outerShdw>
          </a:effectLst>
        </p:spPr>
      </p:sp>
      <p:sp>
        <p:nvSpPr>
          <p:cNvPr id="24" name="Shape 22"/>
          <p:cNvSpPr/>
          <p:nvPr/>
        </p:nvSpPr>
        <p:spPr>
          <a:xfrm>
            <a:off x="7525329" y="1847088"/>
            <a:ext cx="457200" cy="457200"/>
          </a:xfrm>
          <a:prstGeom prst="ellipse">
            <a:avLst/>
          </a:prstGeom>
          <a:solidFill>
            <a:srgbClr val="2F5FAE"/>
          </a:solidFill>
          <a:ln/>
        </p:spPr>
      </p:sp>
      <p:sp>
        <p:nvSpPr>
          <p:cNvPr id="25" name="Text 23"/>
          <p:cNvSpPr txBox="1"/>
          <p:nvPr/>
        </p:nvSpPr>
        <p:spPr>
          <a:xfrm>
            <a:off x="7525329" y="1920240"/>
            <a:ext cx="457200"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4</a:t>
            </a:r>
            <a:endParaRPr lang="en-US" sz="1600" dirty="0"/>
          </a:p>
        </p:txBody>
      </p:sp>
      <p:sp>
        <p:nvSpPr>
          <p:cNvPr id="26" name="Text 24"/>
          <p:cNvSpPr txBox="1"/>
          <p:nvPr/>
        </p:nvSpPr>
        <p:spPr>
          <a:xfrm>
            <a:off x="7525329" y="2450592"/>
            <a:ext cx="1615379" cy="292608"/>
          </a:xfrm>
          <a:prstGeom prst="rect">
            <a:avLst/>
          </a:prstGeom>
          <a:noFill/>
          <a:ln/>
        </p:spPr>
        <p:txBody>
          <a:bodyPr wrap="square" lIns="0" tIns="0" rIns="0" bIns="0" rtlCol="0" anchor="ctr"/>
          <a:lstStyle/>
          <a:p>
            <a:pPr indent="0" marL="0">
              <a:buNone/>
            </a:pPr>
            <a:r>
              <a:rPr lang="en-US" sz="1400" b="1" dirty="0">
                <a:solidFill>
                  <a:srgbClr val="1A1A2E"/>
                </a:solidFill>
                <a:latin typeface="Meiryo" pitchFamily="34" charset="0"/>
                <a:ea typeface="Meiryo" pitchFamily="34" charset="-122"/>
                <a:cs typeface="Meiryo" pitchFamily="34" charset="-120"/>
              </a:rPr>
              <a:t>仕上げと審査</a:t>
            </a:r>
            <a:endParaRPr lang="en-US" sz="1400" dirty="0"/>
          </a:p>
        </p:txBody>
      </p:sp>
      <p:sp>
        <p:nvSpPr>
          <p:cNvPr id="27" name="Text 25"/>
          <p:cNvSpPr txBox="1"/>
          <p:nvPr/>
        </p:nvSpPr>
        <p:spPr>
          <a:xfrm>
            <a:off x="7525329" y="2761488"/>
            <a:ext cx="1615379" cy="274320"/>
          </a:xfrm>
          <a:prstGeom prst="rect">
            <a:avLst/>
          </a:prstGeom>
          <a:noFill/>
          <a:ln/>
        </p:spPr>
        <p:txBody>
          <a:bodyPr wrap="square" lIns="0" tIns="0" rIns="0" bIns="0" rtlCol="0" anchor="ctr"/>
          <a:lstStyle/>
          <a:p>
            <a:pPr indent="0" marL="0">
              <a:buNone/>
            </a:pPr>
            <a:r>
              <a:rPr lang="en-US" sz="1150" b="1" dirty="0">
                <a:solidFill>
                  <a:srgbClr val="2F5FAE"/>
                </a:solidFill>
                <a:latin typeface="Meiryo" pitchFamily="34" charset="0"/>
                <a:ea typeface="Meiryo" pitchFamily="34" charset="-122"/>
                <a:cs typeface="Meiryo" pitchFamily="34" charset="-120"/>
              </a:rPr>
              <a:t>1.5〜2 か月</a:t>
            </a:r>
            <a:endParaRPr lang="en-US" sz="1150" dirty="0"/>
          </a:p>
        </p:txBody>
      </p:sp>
      <p:sp>
        <p:nvSpPr>
          <p:cNvPr id="28" name="Text 26"/>
          <p:cNvSpPr txBox="1"/>
          <p:nvPr/>
        </p:nvSpPr>
        <p:spPr>
          <a:xfrm>
            <a:off x="7525329" y="3127248"/>
            <a:ext cx="1615379" cy="1280160"/>
          </a:xfrm>
          <a:prstGeom prst="rect">
            <a:avLst/>
          </a:prstGeom>
          <a:noFill/>
          <a:ln/>
        </p:spPr>
        <p:txBody>
          <a:bodyPr wrap="square" lIns="0" tIns="0" rIns="0" bIns="0" rtlCol="0" anchor="ctr"/>
          <a:lstStyle/>
          <a:p>
            <a:pPr indent="0" marL="0">
              <a:lnSpc>
                <a:spcPts val="1500"/>
              </a:lnSpc>
              <a:buNone/>
            </a:pPr>
            <a:r>
              <a:rPr lang="en-US" sz="1050" dirty="0">
                <a:solidFill>
                  <a:srgbClr val="767B91"/>
                </a:solidFill>
                <a:latin typeface="Meiryo" pitchFamily="34" charset="0"/>
                <a:ea typeface="Meiryo" pitchFamily="34" charset="-122"/>
                <a:cs typeface="Meiryo" pitchFamily="34" charset="-120"/>
              </a:rPr>
              <a:t>バランス調整・QA</a:t>
            </a:r>
            <a:endParaRPr lang="en-US" sz="1050" dirty="0"/>
          </a:p>
          <a:p>
            <a:pPr indent="0" marL="0">
              <a:lnSpc>
                <a:spcPts val="1500"/>
              </a:lnSpc>
              <a:buNone/>
            </a:pPr>
            <a:r>
              <a:rPr lang="en-US" sz="1050" dirty="0">
                <a:solidFill>
                  <a:srgbClr val="767B91"/>
                </a:solidFill>
                <a:latin typeface="Meiryo" pitchFamily="34" charset="0"/>
                <a:ea typeface="Meiryo" pitchFamily="34" charset="-122"/>
                <a:cs typeface="Meiryo" pitchFamily="34" charset="-120"/>
              </a:rPr>
              <a:t>ストアページ</a:t>
            </a:r>
            <a:endParaRPr lang="en-US" sz="1050" dirty="0"/>
          </a:p>
          <a:p>
            <a:pPr indent="0" marL="0">
              <a:lnSpc>
                <a:spcPts val="1500"/>
              </a:lnSpc>
              <a:buNone/>
            </a:pPr>
            <a:r>
              <a:rPr lang="en-US" sz="1050" dirty="0">
                <a:solidFill>
                  <a:srgbClr val="767B91"/>
                </a:solidFill>
                <a:latin typeface="Meiryo" pitchFamily="34" charset="0"/>
                <a:ea typeface="Meiryo" pitchFamily="34" charset="-122"/>
                <a:cs typeface="Meiryo" pitchFamily="34" charset="-120"/>
              </a:rPr>
              <a:t>レーティング・法務</a:t>
            </a:r>
            <a:endParaRPr lang="en-US" sz="1050" dirty="0"/>
          </a:p>
        </p:txBody>
      </p:sp>
      <p:sp>
        <p:nvSpPr>
          <p:cNvPr id="29" name="Shape 27"/>
          <p:cNvSpPr/>
          <p:nvPr/>
        </p:nvSpPr>
        <p:spPr>
          <a:xfrm>
            <a:off x="9479036" y="1645920"/>
            <a:ext cx="2072579" cy="2743200"/>
          </a:xfrm>
          <a:prstGeom prst="roundRect">
            <a:avLst>
              <a:gd name="adj" fmla="val 3530"/>
            </a:avLst>
          </a:prstGeom>
          <a:solidFill>
            <a:srgbClr val="F2F4F8"/>
          </a:solidFill>
          <a:ln/>
          <a:effectLst>
            <a:outerShdw sx="100000" sy="100000" kx="0" ky="0" algn="bl" rotWithShape="0" blurRad="101600" dist="12700" dir="5400000">
              <a:srgbClr val="9AA1B4">
                <a:alpha val="18000"/>
              </a:srgbClr>
            </a:outerShdw>
          </a:effectLst>
        </p:spPr>
      </p:sp>
      <p:sp>
        <p:nvSpPr>
          <p:cNvPr id="30" name="Shape 28"/>
          <p:cNvSpPr/>
          <p:nvPr/>
        </p:nvSpPr>
        <p:spPr>
          <a:xfrm>
            <a:off x="9735068" y="1847088"/>
            <a:ext cx="457200" cy="457200"/>
          </a:xfrm>
          <a:prstGeom prst="ellipse">
            <a:avLst/>
          </a:prstGeom>
          <a:solidFill>
            <a:srgbClr val="767B91"/>
          </a:solidFill>
          <a:ln/>
        </p:spPr>
      </p:sp>
      <p:sp>
        <p:nvSpPr>
          <p:cNvPr id="31" name="Text 29"/>
          <p:cNvSpPr txBox="1"/>
          <p:nvPr/>
        </p:nvSpPr>
        <p:spPr>
          <a:xfrm>
            <a:off x="9735068" y="1920240"/>
            <a:ext cx="457200"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5</a:t>
            </a:r>
            <a:endParaRPr lang="en-US" sz="1600" dirty="0"/>
          </a:p>
        </p:txBody>
      </p:sp>
      <p:sp>
        <p:nvSpPr>
          <p:cNvPr id="32" name="Text 30"/>
          <p:cNvSpPr txBox="1"/>
          <p:nvPr/>
        </p:nvSpPr>
        <p:spPr>
          <a:xfrm>
            <a:off x="9735068" y="2450592"/>
            <a:ext cx="1615379" cy="292608"/>
          </a:xfrm>
          <a:prstGeom prst="rect">
            <a:avLst/>
          </a:prstGeom>
          <a:noFill/>
          <a:ln/>
        </p:spPr>
        <p:txBody>
          <a:bodyPr wrap="square" lIns="0" tIns="0" rIns="0" bIns="0" rtlCol="0" anchor="ctr"/>
          <a:lstStyle/>
          <a:p>
            <a:pPr indent="0" marL="0">
              <a:buNone/>
            </a:pPr>
            <a:r>
              <a:rPr lang="en-US" sz="1400" b="1" dirty="0">
                <a:solidFill>
                  <a:srgbClr val="1A1A2E"/>
                </a:solidFill>
                <a:latin typeface="Meiryo" pitchFamily="34" charset="0"/>
                <a:ea typeface="Meiryo" pitchFamily="34" charset="-122"/>
                <a:cs typeface="Meiryo" pitchFamily="34" charset="-120"/>
              </a:rPr>
              <a:t>発売と運用</a:t>
            </a:r>
            <a:endParaRPr lang="en-US" sz="1400" dirty="0"/>
          </a:p>
        </p:txBody>
      </p:sp>
      <p:sp>
        <p:nvSpPr>
          <p:cNvPr id="33" name="Text 31"/>
          <p:cNvSpPr txBox="1"/>
          <p:nvPr/>
        </p:nvSpPr>
        <p:spPr>
          <a:xfrm>
            <a:off x="9735068" y="2761488"/>
            <a:ext cx="1615379" cy="274320"/>
          </a:xfrm>
          <a:prstGeom prst="rect">
            <a:avLst/>
          </a:prstGeom>
          <a:noFill/>
          <a:ln/>
        </p:spPr>
        <p:txBody>
          <a:bodyPr wrap="square" lIns="0" tIns="0" rIns="0" bIns="0" rtlCol="0" anchor="ctr"/>
          <a:lstStyle/>
          <a:p>
            <a:pPr indent="0" marL="0">
              <a:buNone/>
            </a:pPr>
            <a:r>
              <a:rPr lang="en-US" sz="1150" b="1" dirty="0">
                <a:solidFill>
                  <a:srgbClr val="767B91"/>
                </a:solidFill>
                <a:latin typeface="Meiryo" pitchFamily="34" charset="0"/>
                <a:ea typeface="Meiryo" pitchFamily="34" charset="-122"/>
                <a:cs typeface="Meiryo" pitchFamily="34" charset="-120"/>
              </a:rPr>
              <a:t>継続</a:t>
            </a:r>
            <a:endParaRPr lang="en-US" sz="1150" dirty="0"/>
          </a:p>
        </p:txBody>
      </p:sp>
      <p:sp>
        <p:nvSpPr>
          <p:cNvPr id="34" name="Text 32"/>
          <p:cNvSpPr txBox="1"/>
          <p:nvPr/>
        </p:nvSpPr>
        <p:spPr>
          <a:xfrm>
            <a:off x="9735068" y="3127248"/>
            <a:ext cx="1615379" cy="1280160"/>
          </a:xfrm>
          <a:prstGeom prst="rect">
            <a:avLst/>
          </a:prstGeom>
          <a:noFill/>
          <a:ln/>
        </p:spPr>
        <p:txBody>
          <a:bodyPr wrap="square" lIns="0" tIns="0" rIns="0" bIns="0" rtlCol="0" anchor="ctr"/>
          <a:lstStyle/>
          <a:p>
            <a:pPr indent="0" marL="0">
              <a:lnSpc>
                <a:spcPts val="1500"/>
              </a:lnSpc>
              <a:buNone/>
            </a:pPr>
            <a:r>
              <a:rPr lang="en-US" sz="1050" dirty="0">
                <a:solidFill>
                  <a:srgbClr val="767B91"/>
                </a:solidFill>
                <a:latin typeface="Meiryo" pitchFamily="34" charset="0"/>
                <a:ea typeface="Meiryo" pitchFamily="34" charset="-122"/>
                <a:cs typeface="Meiryo" pitchFamily="34" charset="-120"/>
              </a:rPr>
              <a:t>発売・不具合対応</a:t>
            </a:r>
            <a:endParaRPr lang="en-US" sz="1050" dirty="0"/>
          </a:p>
          <a:p>
            <a:pPr indent="0" marL="0">
              <a:lnSpc>
                <a:spcPts val="1500"/>
              </a:lnSpc>
              <a:buNone/>
            </a:pPr>
            <a:r>
              <a:rPr lang="en-US" sz="1050" dirty="0">
                <a:solidFill>
                  <a:srgbClr val="767B91"/>
                </a:solidFill>
                <a:latin typeface="Meiryo" pitchFamily="34" charset="0"/>
                <a:ea typeface="Meiryo" pitchFamily="34" charset="-122"/>
                <a:cs typeface="Meiryo" pitchFamily="34" charset="-120"/>
              </a:rPr>
              <a:t>追加マップ / DLC</a:t>
            </a:r>
            <a:endParaRPr lang="en-US" sz="1050" dirty="0"/>
          </a:p>
        </p:txBody>
      </p:sp>
      <p:sp>
        <p:nvSpPr>
          <p:cNvPr id="35" name="Shape 33"/>
          <p:cNvSpPr/>
          <p:nvPr/>
        </p:nvSpPr>
        <p:spPr>
          <a:xfrm>
            <a:off x="640080" y="4617720"/>
            <a:ext cx="10911535" cy="868680"/>
          </a:xfrm>
          <a:prstGeom prst="roundRect">
            <a:avLst>
              <a:gd name="adj" fmla="val 6316"/>
            </a:avLst>
          </a:prstGeom>
          <a:solidFill>
            <a:srgbClr val="FCF4E4"/>
          </a:solidFill>
          <a:ln/>
        </p:spPr>
      </p:sp>
      <p:sp>
        <p:nvSpPr>
          <p:cNvPr id="36" name="Text 34"/>
          <p:cNvSpPr txBox="1"/>
          <p:nvPr/>
        </p:nvSpPr>
        <p:spPr>
          <a:xfrm>
            <a:off x="1005840" y="4773168"/>
            <a:ext cx="10515600" cy="548640"/>
          </a:xfrm>
          <a:prstGeom prst="rect">
            <a:avLst/>
          </a:prstGeom>
          <a:noFill/>
          <a:ln/>
        </p:spPr>
        <p:txBody>
          <a:bodyPr wrap="square" lIns="0" tIns="0" rIns="0" bIns="0" rtlCol="0" anchor="ctr"/>
          <a:lstStyle/>
          <a:p>
            <a:pPr indent="0" marL="0">
              <a:buNone/>
            </a:pPr>
            <a:r>
              <a:rPr lang="en-US" sz="1400" b="1" dirty="0">
                <a:solidFill>
                  <a:srgbClr val="9A6B12"/>
                </a:solidFill>
                <a:latin typeface="Meiryo" pitchFamily="34" charset="0"/>
                <a:ea typeface="Meiryo" pitchFamily="34" charset="-122"/>
                <a:cs typeface="Meiryo" pitchFamily="34" charset="-120"/>
              </a:rPr>
              <a:t>期間は 9 か月で固定。遅れたら期間を延ばさず、Could → Should → キャンペーン簡略化の順にスコープを削る</a:t>
            </a:r>
            <a:endParaRPr lang="en-US" sz="1400" dirty="0"/>
          </a:p>
        </p:txBody>
      </p:sp>
      <p:sp>
        <p:nvSpPr>
          <p:cNvPr id="37" name="Shape 35"/>
          <p:cNvSpPr/>
          <p:nvPr/>
        </p:nvSpPr>
        <p:spPr>
          <a:xfrm>
            <a:off x="640080" y="5623560"/>
            <a:ext cx="10911535" cy="868680"/>
          </a:xfrm>
          <a:prstGeom prst="roundRect">
            <a:avLst>
              <a:gd name="adj" fmla="val 6316"/>
            </a:avLst>
          </a:prstGeom>
          <a:solidFill>
            <a:srgbClr val="1A1A2E"/>
          </a:solidFill>
          <a:ln/>
        </p:spPr>
      </p:sp>
      <p:sp>
        <p:nvSpPr>
          <p:cNvPr id="38" name="Text 36"/>
          <p:cNvSpPr txBox="1"/>
          <p:nvPr/>
        </p:nvSpPr>
        <p:spPr>
          <a:xfrm>
            <a:off x="1005840" y="5779008"/>
            <a:ext cx="10515600" cy="548640"/>
          </a:xfrm>
          <a:prstGeom prst="rect">
            <a:avLst/>
          </a:prstGeom>
          <a:noFill/>
          <a:ln/>
        </p:spPr>
        <p:txBody>
          <a:bodyPr wrap="square" lIns="0" tIns="0" rIns="0" bIns="0" rtlCol="0" anchor="ctr"/>
          <a:lstStyle/>
          <a:p>
            <a:pPr indent="0" marL="0">
              <a:buNone/>
            </a:pPr>
            <a:r>
              <a:rPr lang="en-US" sz="1400" b="1" dirty="0">
                <a:solidFill>
                  <a:srgbClr val="FFD479"/>
                </a:solidFill>
                <a:latin typeface="Meiryo" pitchFamily="34" charset="0"/>
                <a:ea typeface="Meiryo" pitchFamily="34" charset="-122"/>
                <a:cs typeface="Meiryo" pitchFamily="34" charset="-120"/>
              </a:rPr>
              <a:t>まず Phase 1 のみ承認いただき、結果を見て Phase 2 以降を判断したい(Phase 1 は追加費用ほぼ無し)</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146304" cy="146304"/>
          </a:xfrm>
          <a:prstGeom prst="rect">
            <a:avLst/>
          </a:prstGeom>
          <a:solidFill>
            <a:srgbClr val="2F5FAE"/>
          </a:solidFill>
          <a:ln/>
        </p:spPr>
      </p:sp>
      <p:sp>
        <p:nvSpPr>
          <p:cNvPr id="3" name="Text 1"/>
          <p:cNvSpPr txBox="1"/>
          <p:nvPr/>
        </p:nvSpPr>
        <p:spPr>
          <a:xfrm>
            <a:off x="896112" y="402336"/>
            <a:ext cx="8229600" cy="292608"/>
          </a:xfrm>
          <a:prstGeom prst="rect">
            <a:avLst/>
          </a:prstGeom>
          <a:noFill/>
          <a:ln/>
        </p:spPr>
        <p:txBody>
          <a:bodyPr wrap="square" lIns="0" tIns="0" rIns="0" bIns="0" rtlCol="0" anchor="ctr"/>
          <a:lstStyle/>
          <a:p>
            <a:pPr indent="0" marL="0">
              <a:buNone/>
            </a:pPr>
            <a:r>
              <a:rPr lang="en-US" sz="1200" b="1" spc="140" kern="0" dirty="0">
                <a:solidFill>
                  <a:srgbClr val="2F5FAE"/>
                </a:solidFill>
                <a:latin typeface="Meiryo" pitchFamily="34" charset="0"/>
                <a:ea typeface="Meiryo" pitchFamily="34" charset="-122"/>
                <a:cs typeface="Meiryo" pitchFamily="34" charset="-120"/>
              </a:rPr>
              <a:t>2-6  企画</a:t>
            </a:r>
            <a:endParaRPr lang="en-US" sz="1200" dirty="0"/>
          </a:p>
        </p:txBody>
      </p:sp>
      <p:sp>
        <p:nvSpPr>
          <p:cNvPr id="4" name="Text 2"/>
          <p:cNvSpPr txBox="1"/>
          <p:nvPr/>
        </p:nvSpPr>
        <p:spPr>
          <a:xfrm>
            <a:off x="640080" y="749808"/>
            <a:ext cx="10911535" cy="658368"/>
          </a:xfrm>
          <a:prstGeom prst="rect">
            <a:avLst/>
          </a:prstGeom>
          <a:noFill/>
          <a:ln/>
        </p:spPr>
        <p:txBody>
          <a:bodyPr wrap="square" lIns="0" tIns="0" rIns="0" bIns="0" rtlCol="0" anchor="ctr"/>
          <a:lstStyle/>
          <a:p>
            <a:pPr indent="0" marL="0">
              <a:buNone/>
            </a:pPr>
            <a:r>
              <a:rPr lang="en-US" sz="3000" b="1" dirty="0">
                <a:solidFill>
                  <a:srgbClr val="1A1A2E"/>
                </a:solidFill>
                <a:latin typeface="Meiryo" pitchFamily="34" charset="0"/>
                <a:ea typeface="Meiryo" pitchFamily="34" charset="-122"/>
                <a:cs typeface="Meiryo" pitchFamily="34" charset="-120"/>
              </a:rPr>
              <a:t>体制と費用 ─ 全工程を内製・個人体制を継続</a:t>
            </a:r>
            <a:endParaRPr lang="en-US" sz="3000" dirty="0"/>
          </a:p>
        </p:txBody>
      </p:sp>
      <p:sp>
        <p:nvSpPr>
          <p:cNvPr id="5" name="Shape 3"/>
          <p:cNvSpPr/>
          <p:nvPr/>
        </p:nvSpPr>
        <p:spPr>
          <a:xfrm>
            <a:off x="640080" y="1572768"/>
            <a:ext cx="5394960" cy="3657600"/>
          </a:xfrm>
          <a:prstGeom prst="roundRect">
            <a:avLst>
              <a:gd name="adj" fmla="val 2000"/>
            </a:avLst>
          </a:prstGeom>
          <a:solidFill>
            <a:srgbClr val="F2F4F8"/>
          </a:solidFill>
          <a:ln/>
          <a:effectLst>
            <a:outerShdw sx="100000" sy="100000" kx="0" ky="0" algn="bl" rotWithShape="0" blurRad="101600" dist="12700" dir="5400000">
              <a:srgbClr val="9AA1B4">
                <a:alpha val="18000"/>
              </a:srgbClr>
            </a:outerShdw>
          </a:effectLst>
        </p:spPr>
      </p:sp>
      <p:sp>
        <p:nvSpPr>
          <p:cNvPr id="6" name="Text 4"/>
          <p:cNvSpPr txBox="1"/>
          <p:nvPr/>
        </p:nvSpPr>
        <p:spPr>
          <a:xfrm>
            <a:off x="960120" y="1783080"/>
            <a:ext cx="4754880" cy="384048"/>
          </a:xfrm>
          <a:prstGeom prst="rect">
            <a:avLst/>
          </a:prstGeom>
          <a:noFill/>
          <a:ln/>
        </p:spPr>
        <p:txBody>
          <a:bodyPr wrap="square" lIns="0" tIns="0" rIns="0" bIns="0" rtlCol="0" anchor="ctr"/>
          <a:lstStyle/>
          <a:p>
            <a:pPr indent="0" marL="0">
              <a:buNone/>
            </a:pPr>
            <a:r>
              <a:rPr lang="en-US" sz="1800" b="1" dirty="0">
                <a:solidFill>
                  <a:srgbClr val="2F5FAE"/>
                </a:solidFill>
                <a:latin typeface="Meiryo" pitchFamily="34" charset="0"/>
                <a:ea typeface="Meiryo" pitchFamily="34" charset="-122"/>
                <a:cs typeface="Meiryo" pitchFamily="34" charset="-120"/>
              </a:rPr>
              <a:t>実費: 数万円 〜 十数万円</a:t>
            </a:r>
            <a:endParaRPr lang="en-US" sz="1800" dirty="0"/>
          </a:p>
        </p:txBody>
      </p:sp>
      <p:sp>
        <p:nvSpPr>
          <p:cNvPr id="7" name="Text 5"/>
          <p:cNvSpPr txBox="1"/>
          <p:nvPr/>
        </p:nvSpPr>
        <p:spPr>
          <a:xfrm>
            <a:off x="960120" y="2359152"/>
            <a:ext cx="2286000" cy="292608"/>
          </a:xfrm>
          <a:prstGeom prst="rect">
            <a:avLst/>
          </a:prstGeom>
          <a:noFill/>
          <a:ln/>
        </p:spPr>
        <p:txBody>
          <a:bodyPr wrap="square" lIns="0" tIns="0" rIns="0" bIns="0" rtlCol="0" anchor="ctr"/>
          <a:lstStyle/>
          <a:p>
            <a:pPr indent="0" marL="0">
              <a:buNone/>
            </a:pPr>
            <a:r>
              <a:rPr lang="en-US" sz="1200" dirty="0">
                <a:solidFill>
                  <a:srgbClr val="3C4257"/>
                </a:solidFill>
                <a:latin typeface="Meiryo" pitchFamily="34" charset="0"/>
                <a:ea typeface="Meiryo" pitchFamily="34" charset="-122"/>
                <a:cs typeface="Meiryo" pitchFamily="34" charset="-120"/>
              </a:rPr>
              <a:t>Steam 登録料</a:t>
            </a:r>
            <a:endParaRPr lang="en-US" sz="1200" dirty="0"/>
          </a:p>
        </p:txBody>
      </p:sp>
      <p:sp>
        <p:nvSpPr>
          <p:cNvPr id="8" name="Text 6"/>
          <p:cNvSpPr txBox="1"/>
          <p:nvPr/>
        </p:nvSpPr>
        <p:spPr>
          <a:xfrm>
            <a:off x="3291840" y="2359152"/>
            <a:ext cx="2468880" cy="292608"/>
          </a:xfrm>
          <a:prstGeom prst="rect">
            <a:avLst/>
          </a:prstGeom>
          <a:noFill/>
          <a:ln/>
        </p:spPr>
        <p:txBody>
          <a:bodyPr wrap="square" lIns="0" tIns="0" rIns="0" bIns="0" rtlCol="0" anchor="ctr"/>
          <a:lstStyle/>
          <a:p>
            <a:pPr indent="0" marL="0">
              <a:buNone/>
            </a:pPr>
            <a:r>
              <a:rPr lang="en-US" sz="1200" b="1" dirty="0">
                <a:solidFill>
                  <a:srgbClr val="1A1A2E"/>
                </a:solidFill>
                <a:latin typeface="Meiryo" pitchFamily="34" charset="0"/>
                <a:ea typeface="Meiryo" pitchFamily="34" charset="-122"/>
                <a:cs typeface="Meiryo" pitchFamily="34" charset="-120"/>
              </a:rPr>
              <a:t>100 USD / 作品</a:t>
            </a:r>
            <a:endParaRPr lang="en-US" sz="1200" dirty="0"/>
          </a:p>
        </p:txBody>
      </p:sp>
      <p:sp>
        <p:nvSpPr>
          <p:cNvPr id="9" name="Shape 7"/>
          <p:cNvSpPr/>
          <p:nvPr/>
        </p:nvSpPr>
        <p:spPr>
          <a:xfrm>
            <a:off x="960120" y="2743200"/>
            <a:ext cx="4754880" cy="0"/>
          </a:xfrm>
          <a:prstGeom prst="line">
            <a:avLst/>
          </a:prstGeom>
          <a:noFill/>
          <a:ln w="12700">
            <a:solidFill>
              <a:srgbClr val="DCE0E9"/>
            </a:solidFill>
            <a:prstDash val="solid"/>
          </a:ln>
        </p:spPr>
      </p:sp>
      <p:sp>
        <p:nvSpPr>
          <p:cNvPr id="10" name="Text 8"/>
          <p:cNvSpPr txBox="1"/>
          <p:nvPr/>
        </p:nvSpPr>
        <p:spPr>
          <a:xfrm>
            <a:off x="960120" y="2907792"/>
            <a:ext cx="2286000" cy="292608"/>
          </a:xfrm>
          <a:prstGeom prst="rect">
            <a:avLst/>
          </a:prstGeom>
          <a:noFill/>
          <a:ln/>
        </p:spPr>
        <p:txBody>
          <a:bodyPr wrap="square" lIns="0" tIns="0" rIns="0" bIns="0" rtlCol="0" anchor="ctr"/>
          <a:lstStyle/>
          <a:p>
            <a:pPr indent="0" marL="0">
              <a:buNone/>
            </a:pPr>
            <a:r>
              <a:rPr lang="en-US" sz="1200" dirty="0">
                <a:solidFill>
                  <a:srgbClr val="3C4257"/>
                </a:solidFill>
                <a:latin typeface="Meiryo" pitchFamily="34" charset="0"/>
                <a:ea typeface="Meiryo" pitchFamily="34" charset="-122"/>
                <a:cs typeface="Meiryo" pitchFamily="34" charset="-120"/>
              </a:rPr>
              <a:t>レーティング取得</a:t>
            </a:r>
            <a:endParaRPr lang="en-US" sz="1200" dirty="0"/>
          </a:p>
        </p:txBody>
      </p:sp>
      <p:sp>
        <p:nvSpPr>
          <p:cNvPr id="11" name="Text 9"/>
          <p:cNvSpPr txBox="1"/>
          <p:nvPr/>
        </p:nvSpPr>
        <p:spPr>
          <a:xfrm>
            <a:off x="3291840" y="2907792"/>
            <a:ext cx="2468880" cy="292608"/>
          </a:xfrm>
          <a:prstGeom prst="rect">
            <a:avLst/>
          </a:prstGeom>
          <a:noFill/>
          <a:ln/>
        </p:spPr>
        <p:txBody>
          <a:bodyPr wrap="square" lIns="0" tIns="0" rIns="0" bIns="0" rtlCol="0" anchor="ctr"/>
          <a:lstStyle/>
          <a:p>
            <a:pPr indent="0" marL="0">
              <a:buNone/>
            </a:pPr>
            <a:r>
              <a:rPr lang="en-US" sz="1200" b="1" dirty="0">
                <a:solidFill>
                  <a:srgbClr val="1A1A2E"/>
                </a:solidFill>
                <a:latin typeface="Meiryo" pitchFamily="34" charset="0"/>
                <a:ea typeface="Meiryo" pitchFamily="34" charset="-122"/>
                <a:cs typeface="Meiryo" pitchFamily="34" charset="-120"/>
              </a:rPr>
              <a:t>要確認(Steam は無料の見込み)</a:t>
            </a:r>
            <a:endParaRPr lang="en-US" sz="1200" dirty="0"/>
          </a:p>
        </p:txBody>
      </p:sp>
      <p:sp>
        <p:nvSpPr>
          <p:cNvPr id="12" name="Shape 10"/>
          <p:cNvSpPr/>
          <p:nvPr/>
        </p:nvSpPr>
        <p:spPr>
          <a:xfrm>
            <a:off x="960120" y="3291840"/>
            <a:ext cx="4754880" cy="0"/>
          </a:xfrm>
          <a:prstGeom prst="line">
            <a:avLst/>
          </a:prstGeom>
          <a:noFill/>
          <a:ln w="12700">
            <a:solidFill>
              <a:srgbClr val="DCE0E9"/>
            </a:solidFill>
            <a:prstDash val="solid"/>
          </a:ln>
        </p:spPr>
      </p:sp>
      <p:sp>
        <p:nvSpPr>
          <p:cNvPr id="13" name="Text 11"/>
          <p:cNvSpPr txBox="1"/>
          <p:nvPr/>
        </p:nvSpPr>
        <p:spPr>
          <a:xfrm>
            <a:off x="960120" y="3456432"/>
            <a:ext cx="2286000" cy="292608"/>
          </a:xfrm>
          <a:prstGeom prst="rect">
            <a:avLst/>
          </a:prstGeom>
          <a:noFill/>
          <a:ln/>
        </p:spPr>
        <p:txBody>
          <a:bodyPr wrap="square" lIns="0" tIns="0" rIns="0" bIns="0" rtlCol="0" anchor="ctr"/>
          <a:lstStyle/>
          <a:p>
            <a:pPr indent="0" marL="0">
              <a:buNone/>
            </a:pPr>
            <a:r>
              <a:rPr lang="en-US" sz="1200" dirty="0">
                <a:solidFill>
                  <a:srgbClr val="3C4257"/>
                </a:solidFill>
                <a:latin typeface="Meiryo" pitchFamily="34" charset="0"/>
                <a:ea typeface="Meiryo" pitchFamily="34" charset="-122"/>
                <a:cs typeface="Meiryo" pitchFamily="34" charset="-120"/>
              </a:rPr>
              <a:t>QA / テスター謝礼</a:t>
            </a:r>
            <a:endParaRPr lang="en-US" sz="1200" dirty="0"/>
          </a:p>
        </p:txBody>
      </p:sp>
      <p:sp>
        <p:nvSpPr>
          <p:cNvPr id="14" name="Text 12"/>
          <p:cNvSpPr txBox="1"/>
          <p:nvPr/>
        </p:nvSpPr>
        <p:spPr>
          <a:xfrm>
            <a:off x="3291840" y="3456432"/>
            <a:ext cx="2468880" cy="292608"/>
          </a:xfrm>
          <a:prstGeom prst="rect">
            <a:avLst/>
          </a:prstGeom>
          <a:noFill/>
          <a:ln/>
        </p:spPr>
        <p:txBody>
          <a:bodyPr wrap="square" lIns="0" tIns="0" rIns="0" bIns="0" rtlCol="0" anchor="ctr"/>
          <a:lstStyle/>
          <a:p>
            <a:pPr indent="0" marL="0">
              <a:buNone/>
            </a:pPr>
            <a:r>
              <a:rPr lang="en-US" sz="1200" b="1" dirty="0">
                <a:solidFill>
                  <a:srgbClr val="1A1A2E"/>
                </a:solidFill>
                <a:latin typeface="Meiryo" pitchFamily="34" charset="0"/>
                <a:ea typeface="Meiryo" pitchFamily="34" charset="-122"/>
                <a:cs typeface="Meiryo" pitchFamily="34" charset="-120"/>
              </a:rPr>
              <a:t>0 〜 10 万円</a:t>
            </a:r>
            <a:endParaRPr lang="en-US" sz="1200" dirty="0"/>
          </a:p>
        </p:txBody>
      </p:sp>
      <p:sp>
        <p:nvSpPr>
          <p:cNvPr id="15" name="Shape 13"/>
          <p:cNvSpPr/>
          <p:nvPr/>
        </p:nvSpPr>
        <p:spPr>
          <a:xfrm>
            <a:off x="960120" y="3840480"/>
            <a:ext cx="4754880" cy="0"/>
          </a:xfrm>
          <a:prstGeom prst="line">
            <a:avLst/>
          </a:prstGeom>
          <a:noFill/>
          <a:ln w="12700">
            <a:solidFill>
              <a:srgbClr val="DCE0E9"/>
            </a:solidFill>
            <a:prstDash val="solid"/>
          </a:ln>
        </p:spPr>
      </p:sp>
      <p:sp>
        <p:nvSpPr>
          <p:cNvPr id="16" name="Text 14"/>
          <p:cNvSpPr txBox="1"/>
          <p:nvPr/>
        </p:nvSpPr>
        <p:spPr>
          <a:xfrm>
            <a:off x="960120" y="4005072"/>
            <a:ext cx="2286000" cy="292608"/>
          </a:xfrm>
          <a:prstGeom prst="rect">
            <a:avLst/>
          </a:prstGeom>
          <a:noFill/>
          <a:ln/>
        </p:spPr>
        <p:txBody>
          <a:bodyPr wrap="square" lIns="0" tIns="0" rIns="0" bIns="0" rtlCol="0" anchor="ctr"/>
          <a:lstStyle/>
          <a:p>
            <a:pPr indent="0" marL="0">
              <a:buNone/>
            </a:pPr>
            <a:r>
              <a:rPr lang="en-US" sz="1200" dirty="0">
                <a:solidFill>
                  <a:srgbClr val="3C4257"/>
                </a:solidFill>
                <a:latin typeface="Meiryo" pitchFamily="34" charset="0"/>
                <a:ea typeface="Meiryo" pitchFamily="34" charset="-122"/>
                <a:cs typeface="Meiryo" pitchFamily="34" charset="-120"/>
              </a:rPr>
              <a:t>ツール・フォント等</a:t>
            </a:r>
            <a:endParaRPr lang="en-US" sz="1200" dirty="0"/>
          </a:p>
        </p:txBody>
      </p:sp>
      <p:sp>
        <p:nvSpPr>
          <p:cNvPr id="17" name="Text 15"/>
          <p:cNvSpPr txBox="1"/>
          <p:nvPr/>
        </p:nvSpPr>
        <p:spPr>
          <a:xfrm>
            <a:off x="3291840" y="4005072"/>
            <a:ext cx="2468880" cy="292608"/>
          </a:xfrm>
          <a:prstGeom prst="rect">
            <a:avLst/>
          </a:prstGeom>
          <a:noFill/>
          <a:ln/>
        </p:spPr>
        <p:txBody>
          <a:bodyPr wrap="square" lIns="0" tIns="0" rIns="0" bIns="0" rtlCol="0" anchor="ctr"/>
          <a:lstStyle/>
          <a:p>
            <a:pPr indent="0" marL="0">
              <a:buNone/>
            </a:pPr>
            <a:r>
              <a:rPr lang="en-US" sz="1200" b="1" dirty="0">
                <a:solidFill>
                  <a:srgbClr val="1A1A2E"/>
                </a:solidFill>
                <a:latin typeface="Meiryo" pitchFamily="34" charset="0"/>
                <a:ea typeface="Meiryo" pitchFamily="34" charset="-122"/>
                <a:cs typeface="Meiryo" pitchFamily="34" charset="-120"/>
              </a:rPr>
              <a:t>数千円 〜 数万円</a:t>
            </a:r>
            <a:endParaRPr lang="en-US" sz="1200" dirty="0"/>
          </a:p>
        </p:txBody>
      </p:sp>
      <p:sp>
        <p:nvSpPr>
          <p:cNvPr id="18" name="Shape 16"/>
          <p:cNvSpPr/>
          <p:nvPr/>
        </p:nvSpPr>
        <p:spPr>
          <a:xfrm>
            <a:off x="960120" y="4389120"/>
            <a:ext cx="4754880" cy="0"/>
          </a:xfrm>
          <a:prstGeom prst="line">
            <a:avLst/>
          </a:prstGeom>
          <a:noFill/>
          <a:ln w="12700">
            <a:solidFill>
              <a:srgbClr val="DCE0E9"/>
            </a:solidFill>
            <a:prstDash val="solid"/>
          </a:ln>
        </p:spPr>
      </p:sp>
      <p:sp>
        <p:nvSpPr>
          <p:cNvPr id="19" name="Text 17"/>
          <p:cNvSpPr txBox="1"/>
          <p:nvPr/>
        </p:nvSpPr>
        <p:spPr>
          <a:xfrm>
            <a:off x="960120" y="4553712"/>
            <a:ext cx="2286000" cy="292608"/>
          </a:xfrm>
          <a:prstGeom prst="rect">
            <a:avLst/>
          </a:prstGeom>
          <a:noFill/>
          <a:ln/>
        </p:spPr>
        <p:txBody>
          <a:bodyPr wrap="square" lIns="0" tIns="0" rIns="0" bIns="0" rtlCol="0" anchor="ctr"/>
          <a:lstStyle/>
          <a:p>
            <a:pPr indent="0" marL="0">
              <a:buNone/>
            </a:pPr>
            <a:r>
              <a:rPr lang="en-US" sz="1200" dirty="0">
                <a:solidFill>
                  <a:srgbClr val="3C4257"/>
                </a:solidFill>
                <a:latin typeface="Meiryo" pitchFamily="34" charset="0"/>
                <a:ea typeface="Meiryo" pitchFamily="34" charset="-122"/>
                <a:cs typeface="Meiryo" pitchFamily="34" charset="-120"/>
              </a:rPr>
              <a:t>法務(規約整備)</a:t>
            </a:r>
            <a:endParaRPr lang="en-US" sz="1200" dirty="0"/>
          </a:p>
        </p:txBody>
      </p:sp>
      <p:sp>
        <p:nvSpPr>
          <p:cNvPr id="20" name="Text 18"/>
          <p:cNvSpPr txBox="1"/>
          <p:nvPr/>
        </p:nvSpPr>
        <p:spPr>
          <a:xfrm>
            <a:off x="3291840" y="4553712"/>
            <a:ext cx="2468880" cy="292608"/>
          </a:xfrm>
          <a:prstGeom prst="rect">
            <a:avLst/>
          </a:prstGeom>
          <a:noFill/>
          <a:ln/>
        </p:spPr>
        <p:txBody>
          <a:bodyPr wrap="square" lIns="0" tIns="0" rIns="0" bIns="0" rtlCol="0" anchor="ctr"/>
          <a:lstStyle/>
          <a:p>
            <a:pPr indent="0" marL="0">
              <a:buNone/>
            </a:pPr>
            <a:r>
              <a:rPr lang="en-US" sz="1200" b="1" dirty="0">
                <a:solidFill>
                  <a:srgbClr val="1A1A2E"/>
                </a:solidFill>
                <a:latin typeface="Meiryo" pitchFamily="34" charset="0"/>
                <a:ea typeface="Meiryo" pitchFamily="34" charset="-122"/>
                <a:cs typeface="Meiryo" pitchFamily="34" charset="-120"/>
              </a:rPr>
              <a:t>社内支援で対応いただければ 0</a:t>
            </a:r>
            <a:endParaRPr lang="en-US" sz="1200" dirty="0"/>
          </a:p>
        </p:txBody>
      </p:sp>
      <p:sp>
        <p:nvSpPr>
          <p:cNvPr id="21" name="Shape 19"/>
          <p:cNvSpPr/>
          <p:nvPr/>
        </p:nvSpPr>
        <p:spPr>
          <a:xfrm>
            <a:off x="6309360" y="1572768"/>
            <a:ext cx="5239512" cy="3657600"/>
          </a:xfrm>
          <a:prstGeom prst="roundRect">
            <a:avLst>
              <a:gd name="adj" fmla="val 2000"/>
            </a:avLst>
          </a:prstGeom>
          <a:solidFill>
            <a:srgbClr val="1A1A2E"/>
          </a:solidFill>
          <a:ln/>
          <a:effectLst>
            <a:outerShdw sx="100000" sy="100000" kx="0" ky="0" algn="bl" rotWithShape="0" blurRad="101600" dist="12700" dir="5400000">
              <a:srgbClr val="9AA1B4">
                <a:alpha val="18000"/>
              </a:srgbClr>
            </a:outerShdw>
          </a:effectLst>
        </p:spPr>
      </p:sp>
      <p:sp>
        <p:nvSpPr>
          <p:cNvPr id="22" name="Text 20"/>
          <p:cNvSpPr txBox="1"/>
          <p:nvPr/>
        </p:nvSpPr>
        <p:spPr>
          <a:xfrm>
            <a:off x="6629400" y="1783080"/>
            <a:ext cx="4572000" cy="384048"/>
          </a:xfrm>
          <a:prstGeom prst="rect">
            <a:avLst/>
          </a:prstGeom>
          <a:noFill/>
          <a:ln/>
        </p:spPr>
        <p:txBody>
          <a:bodyPr wrap="square" lIns="0" tIns="0" rIns="0" bIns="0" rtlCol="0" anchor="ctr"/>
          <a:lstStyle/>
          <a:p>
            <a:pPr indent="0" marL="0">
              <a:buNone/>
            </a:pPr>
            <a:r>
              <a:rPr lang="en-US" sz="1800" b="1" dirty="0">
                <a:solidFill>
                  <a:srgbClr val="FFD479"/>
                </a:solidFill>
                <a:latin typeface="Meiryo" pitchFamily="34" charset="0"/>
                <a:ea typeface="Meiryo" pitchFamily="34" charset="-122"/>
                <a:cs typeface="Meiryo" pitchFamily="34" charset="-120"/>
              </a:rPr>
              <a:t>時間: 約 6 〜 8 人月</a:t>
            </a:r>
            <a:endParaRPr lang="en-US" sz="1800" dirty="0"/>
          </a:p>
        </p:txBody>
      </p:sp>
      <p:sp>
        <p:nvSpPr>
          <p:cNvPr id="23" name="Text 21"/>
          <p:cNvSpPr txBox="1"/>
          <p:nvPr/>
        </p:nvSpPr>
        <p:spPr>
          <a:xfrm>
            <a:off x="6629400" y="2176272"/>
            <a:ext cx="4572000" cy="274320"/>
          </a:xfrm>
          <a:prstGeom prst="rect">
            <a:avLst/>
          </a:prstGeom>
          <a:noFill/>
          <a:ln/>
        </p:spPr>
        <p:txBody>
          <a:bodyPr wrap="square" lIns="0" tIns="0" rIns="0" bIns="0" rtlCol="0" anchor="ctr"/>
          <a:lstStyle/>
          <a:p>
            <a:pPr indent="0" marL="0">
              <a:buNone/>
            </a:pPr>
            <a:r>
              <a:rPr lang="en-US" sz="1100" dirty="0">
                <a:solidFill>
                  <a:srgbClr val="CADCFC"/>
                </a:solidFill>
                <a:latin typeface="Meiryo" pitchFamily="34" charset="0"/>
                <a:ea typeface="Meiryo" pitchFamily="34" charset="-122"/>
                <a:cs typeface="Meiryo" pitchFamily="34" charset="-120"/>
              </a:rPr>
              <a:t>外注しないため、これが実質の最大コスト</a:t>
            </a:r>
            <a:endParaRPr lang="en-US" sz="1100" dirty="0"/>
          </a:p>
        </p:txBody>
      </p:sp>
      <p:sp>
        <p:nvSpPr>
          <p:cNvPr id="24" name="Text 22"/>
          <p:cNvSpPr txBox="1"/>
          <p:nvPr/>
        </p:nvSpPr>
        <p:spPr>
          <a:xfrm>
            <a:off x="6629400" y="2697480"/>
            <a:ext cx="2926080" cy="292608"/>
          </a:xfrm>
          <a:prstGeom prst="rect">
            <a:avLst/>
          </a:prstGeom>
          <a:noFill/>
          <a:ln/>
        </p:spPr>
        <p:txBody>
          <a:bodyPr wrap="square" lIns="0" tIns="0" rIns="0" bIns="0" rtlCol="0" anchor="ctr"/>
          <a:lstStyle/>
          <a:p>
            <a:pPr indent="0" marL="0">
              <a:buNone/>
            </a:pPr>
            <a:r>
              <a:rPr lang="en-US" sz="1200" dirty="0">
                <a:solidFill>
                  <a:srgbClr val="CADCFC"/>
                </a:solidFill>
                <a:latin typeface="Meiryo" pitchFamily="34" charset="0"/>
                <a:ea typeface="Meiryo" pitchFamily="34" charset="-122"/>
                <a:cs typeface="Meiryo" pitchFamily="34" charset="-120"/>
              </a:rPr>
              <a:t>アートの内製</a:t>
            </a:r>
            <a:endParaRPr lang="en-US" sz="1200" dirty="0"/>
          </a:p>
        </p:txBody>
      </p:sp>
      <p:sp>
        <p:nvSpPr>
          <p:cNvPr id="25" name="Text 23"/>
          <p:cNvSpPr txBox="1"/>
          <p:nvPr/>
        </p:nvSpPr>
        <p:spPr>
          <a:xfrm>
            <a:off x="9601200" y="2697480"/>
            <a:ext cx="1645920" cy="292608"/>
          </a:xfrm>
          <a:prstGeom prst="rect">
            <a:avLst/>
          </a:prstGeom>
          <a:noFill/>
          <a:ln/>
        </p:spPr>
        <p:txBody>
          <a:bodyPr wrap="square" lIns="0" tIns="0" rIns="0" bIns="0" rtlCol="0" anchor="ctr"/>
          <a:lstStyle/>
          <a:p>
            <a:pPr algn="r" indent="0" marL="0">
              <a:buNone/>
            </a:pPr>
            <a:r>
              <a:rPr lang="en-US" sz="1200" b="1" dirty="0">
                <a:solidFill>
                  <a:srgbClr val="FFFFFF"/>
                </a:solidFill>
                <a:latin typeface="Meiryo" pitchFamily="34" charset="0"/>
                <a:ea typeface="Meiryo" pitchFamily="34" charset="-122"/>
                <a:cs typeface="Meiryo" pitchFamily="34" charset="-120"/>
              </a:rPr>
              <a:t>2 〜 3 人月</a:t>
            </a:r>
            <a:endParaRPr lang="en-US" sz="1200" dirty="0"/>
          </a:p>
        </p:txBody>
      </p:sp>
      <p:sp>
        <p:nvSpPr>
          <p:cNvPr id="26" name="Text 24"/>
          <p:cNvSpPr txBox="1"/>
          <p:nvPr/>
        </p:nvSpPr>
        <p:spPr>
          <a:xfrm>
            <a:off x="6629400" y="3227832"/>
            <a:ext cx="2926080" cy="292608"/>
          </a:xfrm>
          <a:prstGeom prst="rect">
            <a:avLst/>
          </a:prstGeom>
          <a:noFill/>
          <a:ln/>
        </p:spPr>
        <p:txBody>
          <a:bodyPr wrap="square" lIns="0" tIns="0" rIns="0" bIns="0" rtlCol="0" anchor="ctr"/>
          <a:lstStyle/>
          <a:p>
            <a:pPr indent="0" marL="0">
              <a:buNone/>
            </a:pPr>
            <a:r>
              <a:rPr lang="en-US" sz="1200" dirty="0">
                <a:solidFill>
                  <a:srgbClr val="CADCFC"/>
                </a:solidFill>
                <a:latin typeface="Meiryo" pitchFamily="34" charset="0"/>
                <a:ea typeface="Meiryo" pitchFamily="34" charset="-122"/>
                <a:cs typeface="Meiryo" pitchFamily="34" charset="-120"/>
              </a:rPr>
              <a:t>サウンドの内製</a:t>
            </a:r>
            <a:endParaRPr lang="en-US" sz="1200" dirty="0"/>
          </a:p>
        </p:txBody>
      </p:sp>
      <p:sp>
        <p:nvSpPr>
          <p:cNvPr id="27" name="Text 25"/>
          <p:cNvSpPr txBox="1"/>
          <p:nvPr/>
        </p:nvSpPr>
        <p:spPr>
          <a:xfrm>
            <a:off x="9601200" y="3227832"/>
            <a:ext cx="1645920" cy="292608"/>
          </a:xfrm>
          <a:prstGeom prst="rect">
            <a:avLst/>
          </a:prstGeom>
          <a:noFill/>
          <a:ln/>
        </p:spPr>
        <p:txBody>
          <a:bodyPr wrap="square" lIns="0" tIns="0" rIns="0" bIns="0" rtlCol="0" anchor="ctr"/>
          <a:lstStyle/>
          <a:p>
            <a:pPr algn="r" indent="0" marL="0">
              <a:buNone/>
            </a:pPr>
            <a:r>
              <a:rPr lang="en-US" sz="1200" b="1" dirty="0">
                <a:solidFill>
                  <a:srgbClr val="FFFFFF"/>
                </a:solidFill>
                <a:latin typeface="Meiryo" pitchFamily="34" charset="0"/>
                <a:ea typeface="Meiryo" pitchFamily="34" charset="-122"/>
                <a:cs typeface="Meiryo" pitchFamily="34" charset="-120"/>
              </a:rPr>
              <a:t>1 人月</a:t>
            </a:r>
            <a:endParaRPr lang="en-US" sz="1200" dirty="0"/>
          </a:p>
        </p:txBody>
      </p:sp>
      <p:sp>
        <p:nvSpPr>
          <p:cNvPr id="28" name="Text 26"/>
          <p:cNvSpPr txBox="1"/>
          <p:nvPr/>
        </p:nvSpPr>
        <p:spPr>
          <a:xfrm>
            <a:off x="6629400" y="3758184"/>
            <a:ext cx="2926080" cy="292608"/>
          </a:xfrm>
          <a:prstGeom prst="rect">
            <a:avLst/>
          </a:prstGeom>
          <a:noFill/>
          <a:ln/>
        </p:spPr>
        <p:txBody>
          <a:bodyPr wrap="square" lIns="0" tIns="0" rIns="0" bIns="0" rtlCol="0" anchor="ctr"/>
          <a:lstStyle/>
          <a:p>
            <a:pPr indent="0" marL="0">
              <a:buNone/>
            </a:pPr>
            <a:r>
              <a:rPr lang="en-US" sz="1200" dirty="0">
                <a:solidFill>
                  <a:srgbClr val="CADCFC"/>
                </a:solidFill>
                <a:latin typeface="Meiryo" pitchFamily="34" charset="0"/>
                <a:ea typeface="Meiryo" pitchFamily="34" charset="-122"/>
                <a:cs typeface="Meiryo" pitchFamily="34" charset="-120"/>
              </a:rPr>
              <a:t>実装(機能追加)</a:t>
            </a:r>
            <a:endParaRPr lang="en-US" sz="1200" dirty="0"/>
          </a:p>
        </p:txBody>
      </p:sp>
      <p:sp>
        <p:nvSpPr>
          <p:cNvPr id="29" name="Text 27"/>
          <p:cNvSpPr txBox="1"/>
          <p:nvPr/>
        </p:nvSpPr>
        <p:spPr>
          <a:xfrm>
            <a:off x="9601200" y="3758184"/>
            <a:ext cx="1645920" cy="292608"/>
          </a:xfrm>
          <a:prstGeom prst="rect">
            <a:avLst/>
          </a:prstGeom>
          <a:noFill/>
          <a:ln/>
        </p:spPr>
        <p:txBody>
          <a:bodyPr wrap="square" lIns="0" tIns="0" rIns="0" bIns="0" rtlCol="0" anchor="ctr"/>
          <a:lstStyle/>
          <a:p>
            <a:pPr algn="r" indent="0" marL="0">
              <a:buNone/>
            </a:pPr>
            <a:r>
              <a:rPr lang="en-US" sz="1200" b="1" dirty="0">
                <a:solidFill>
                  <a:srgbClr val="FFFFFF"/>
                </a:solidFill>
                <a:latin typeface="Meiryo" pitchFamily="34" charset="0"/>
                <a:ea typeface="Meiryo" pitchFamily="34" charset="-122"/>
                <a:cs typeface="Meiryo" pitchFamily="34" charset="-120"/>
              </a:rPr>
              <a:t>2 〜 3 人月</a:t>
            </a:r>
            <a:endParaRPr lang="en-US" sz="1200" dirty="0"/>
          </a:p>
        </p:txBody>
      </p:sp>
      <p:sp>
        <p:nvSpPr>
          <p:cNvPr id="30" name="Text 28"/>
          <p:cNvSpPr txBox="1"/>
          <p:nvPr/>
        </p:nvSpPr>
        <p:spPr>
          <a:xfrm>
            <a:off x="6629400" y="4288536"/>
            <a:ext cx="2926080" cy="292608"/>
          </a:xfrm>
          <a:prstGeom prst="rect">
            <a:avLst/>
          </a:prstGeom>
          <a:noFill/>
          <a:ln/>
        </p:spPr>
        <p:txBody>
          <a:bodyPr wrap="square" lIns="0" tIns="0" rIns="0" bIns="0" rtlCol="0" anchor="ctr"/>
          <a:lstStyle/>
          <a:p>
            <a:pPr indent="0" marL="0">
              <a:buNone/>
            </a:pPr>
            <a:r>
              <a:rPr lang="en-US" sz="1200" dirty="0">
                <a:solidFill>
                  <a:srgbClr val="CADCFC"/>
                </a:solidFill>
                <a:latin typeface="Meiryo" pitchFamily="34" charset="0"/>
                <a:ea typeface="Meiryo" pitchFamily="34" charset="-122"/>
                <a:cs typeface="Meiryo" pitchFamily="34" charset="-120"/>
              </a:rPr>
              <a:t>QA・ストア・法務・販促</a:t>
            </a:r>
            <a:endParaRPr lang="en-US" sz="1200" dirty="0"/>
          </a:p>
        </p:txBody>
      </p:sp>
      <p:sp>
        <p:nvSpPr>
          <p:cNvPr id="31" name="Text 29"/>
          <p:cNvSpPr txBox="1"/>
          <p:nvPr/>
        </p:nvSpPr>
        <p:spPr>
          <a:xfrm>
            <a:off x="9601200" y="4288536"/>
            <a:ext cx="1645920" cy="292608"/>
          </a:xfrm>
          <a:prstGeom prst="rect">
            <a:avLst/>
          </a:prstGeom>
          <a:noFill/>
          <a:ln/>
        </p:spPr>
        <p:txBody>
          <a:bodyPr wrap="square" lIns="0" tIns="0" rIns="0" bIns="0" rtlCol="0" anchor="ctr"/>
          <a:lstStyle/>
          <a:p>
            <a:pPr algn="r" indent="0" marL="0">
              <a:buNone/>
            </a:pPr>
            <a:r>
              <a:rPr lang="en-US" sz="1200" b="1" dirty="0">
                <a:solidFill>
                  <a:srgbClr val="FFFFFF"/>
                </a:solidFill>
                <a:latin typeface="Meiryo" pitchFamily="34" charset="0"/>
                <a:ea typeface="Meiryo" pitchFamily="34" charset="-122"/>
                <a:cs typeface="Meiryo" pitchFamily="34" charset="-120"/>
              </a:rPr>
              <a:t>1 〜 2 人月</a:t>
            </a:r>
            <a:endParaRPr lang="en-US" sz="1200" dirty="0"/>
          </a:p>
        </p:txBody>
      </p:sp>
      <p:sp>
        <p:nvSpPr>
          <p:cNvPr id="32" name="Text 30"/>
          <p:cNvSpPr txBox="1"/>
          <p:nvPr/>
        </p:nvSpPr>
        <p:spPr>
          <a:xfrm>
            <a:off x="6629400" y="4892040"/>
            <a:ext cx="4572000" cy="274320"/>
          </a:xfrm>
          <a:prstGeom prst="rect">
            <a:avLst/>
          </a:prstGeom>
          <a:noFill/>
          <a:ln/>
        </p:spPr>
        <p:txBody>
          <a:bodyPr wrap="square" lIns="0" tIns="0" rIns="0" bIns="0" rtlCol="0" anchor="ctr"/>
          <a:lstStyle/>
          <a:p>
            <a:pPr indent="0" marL="0">
              <a:buNone/>
            </a:pPr>
            <a:r>
              <a:rPr lang="en-US" sz="1100" dirty="0">
                <a:solidFill>
                  <a:srgbClr val="FFD479"/>
                </a:solidFill>
                <a:latin typeface="Meiryo" pitchFamily="34" charset="0"/>
                <a:ea typeface="Meiryo" pitchFamily="34" charset="-122"/>
                <a:cs typeface="Meiryo" pitchFamily="34" charset="-120"/>
              </a:rPr>
              <a:t>個人稼働で月 0.8 〜 0.9 人月。暦では 7.5 〜 9 か月</a:t>
            </a:r>
            <a:endParaRPr lang="en-US" sz="1100" dirty="0"/>
          </a:p>
        </p:txBody>
      </p:sp>
      <p:sp>
        <p:nvSpPr>
          <p:cNvPr id="33" name="Shape 31"/>
          <p:cNvSpPr/>
          <p:nvPr/>
        </p:nvSpPr>
        <p:spPr>
          <a:xfrm>
            <a:off x="640080" y="5413248"/>
            <a:ext cx="10911535" cy="960120"/>
          </a:xfrm>
          <a:prstGeom prst="roundRect">
            <a:avLst>
              <a:gd name="adj" fmla="val 5714"/>
            </a:avLst>
          </a:prstGeom>
          <a:solidFill>
            <a:srgbClr val="FCF4E4"/>
          </a:solidFill>
          <a:ln/>
        </p:spPr>
      </p:sp>
      <p:sp>
        <p:nvSpPr>
          <p:cNvPr id="34" name="Text 32"/>
          <p:cNvSpPr txBox="1"/>
          <p:nvPr/>
        </p:nvSpPr>
        <p:spPr>
          <a:xfrm>
            <a:off x="1005840" y="5577840"/>
            <a:ext cx="10515600" cy="594360"/>
          </a:xfrm>
          <a:prstGeom prst="rect">
            <a:avLst/>
          </a:prstGeom>
          <a:noFill/>
          <a:ln/>
        </p:spPr>
        <p:txBody>
          <a:bodyPr wrap="square" lIns="0" tIns="0" rIns="0" bIns="0" rtlCol="0" anchor="ctr"/>
          <a:lstStyle/>
          <a:p>
            <a:pPr indent="0" marL="0">
              <a:buNone/>
            </a:pPr>
            <a:r>
              <a:rPr lang="en-US" sz="1600" b="1" dirty="0">
                <a:solidFill>
                  <a:srgbClr val="9A6B12"/>
                </a:solidFill>
                <a:latin typeface="Meiryo" pitchFamily="34" charset="0"/>
                <a:ea typeface="Meiryo" pitchFamily="34" charset="-122"/>
                <a:cs typeface="Meiryo" pitchFamily="34" charset="-120"/>
              </a:rPr>
              <a:t>お願いしたいのは予算の承認ではなく、権利関係の整理・法務支援・時間の確保</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8991295" y="4572000"/>
            <a:ext cx="274320" cy="274320"/>
          </a:xfrm>
          <a:prstGeom prst="rect">
            <a:avLst/>
          </a:prstGeom>
          <a:solidFill>
            <a:srgbClr val="CADCFC">
              <a:alpha val="12000"/>
            </a:srgbClr>
          </a:solidFill>
          <a:ln/>
        </p:spPr>
      </p:sp>
      <p:sp>
        <p:nvSpPr>
          <p:cNvPr id="3" name="Shape 1"/>
          <p:cNvSpPr/>
          <p:nvPr/>
        </p:nvSpPr>
        <p:spPr>
          <a:xfrm>
            <a:off x="9320479" y="4572000"/>
            <a:ext cx="274320" cy="274320"/>
          </a:xfrm>
          <a:prstGeom prst="rect">
            <a:avLst/>
          </a:prstGeom>
          <a:solidFill>
            <a:srgbClr val="AE2F2F"/>
          </a:solidFill>
          <a:ln/>
        </p:spPr>
      </p:sp>
      <p:sp>
        <p:nvSpPr>
          <p:cNvPr id="4" name="Shape 2"/>
          <p:cNvSpPr/>
          <p:nvPr/>
        </p:nvSpPr>
        <p:spPr>
          <a:xfrm>
            <a:off x="9649663" y="4572000"/>
            <a:ext cx="274320" cy="274320"/>
          </a:xfrm>
          <a:prstGeom prst="rect">
            <a:avLst/>
          </a:prstGeom>
          <a:solidFill>
            <a:srgbClr val="CADCFC">
              <a:alpha val="12000"/>
            </a:srgbClr>
          </a:solidFill>
          <a:ln/>
        </p:spPr>
      </p:sp>
      <p:sp>
        <p:nvSpPr>
          <p:cNvPr id="5" name="Shape 3"/>
          <p:cNvSpPr/>
          <p:nvPr/>
        </p:nvSpPr>
        <p:spPr>
          <a:xfrm>
            <a:off x="9978847" y="4572000"/>
            <a:ext cx="274320" cy="274320"/>
          </a:xfrm>
          <a:prstGeom prst="rect">
            <a:avLst/>
          </a:prstGeom>
          <a:solidFill>
            <a:srgbClr val="CADCFC">
              <a:alpha val="12000"/>
            </a:srgbClr>
          </a:solidFill>
          <a:ln/>
        </p:spPr>
      </p:sp>
      <p:sp>
        <p:nvSpPr>
          <p:cNvPr id="6" name="Shape 4"/>
          <p:cNvSpPr/>
          <p:nvPr/>
        </p:nvSpPr>
        <p:spPr>
          <a:xfrm>
            <a:off x="10308031" y="4572000"/>
            <a:ext cx="274320" cy="274320"/>
          </a:xfrm>
          <a:prstGeom prst="rect">
            <a:avLst/>
          </a:prstGeom>
          <a:solidFill>
            <a:srgbClr val="CADCFC">
              <a:alpha val="12000"/>
            </a:srgbClr>
          </a:solidFill>
          <a:ln/>
        </p:spPr>
      </p:sp>
      <p:sp>
        <p:nvSpPr>
          <p:cNvPr id="7" name="Shape 5"/>
          <p:cNvSpPr/>
          <p:nvPr/>
        </p:nvSpPr>
        <p:spPr>
          <a:xfrm>
            <a:off x="10637215" y="4572000"/>
            <a:ext cx="274320" cy="274320"/>
          </a:xfrm>
          <a:prstGeom prst="rect">
            <a:avLst/>
          </a:prstGeom>
          <a:solidFill>
            <a:srgbClr val="CADCFC">
              <a:alpha val="12000"/>
            </a:srgbClr>
          </a:solidFill>
          <a:ln/>
        </p:spPr>
      </p:sp>
      <p:sp>
        <p:nvSpPr>
          <p:cNvPr id="8" name="Shape 6"/>
          <p:cNvSpPr/>
          <p:nvPr/>
        </p:nvSpPr>
        <p:spPr>
          <a:xfrm>
            <a:off x="10966399" y="4572000"/>
            <a:ext cx="274320" cy="274320"/>
          </a:xfrm>
          <a:prstGeom prst="rect">
            <a:avLst/>
          </a:prstGeom>
          <a:solidFill>
            <a:srgbClr val="CADCFC">
              <a:alpha val="12000"/>
            </a:srgbClr>
          </a:solidFill>
          <a:ln/>
        </p:spPr>
      </p:sp>
      <p:sp>
        <p:nvSpPr>
          <p:cNvPr id="9" name="Shape 7"/>
          <p:cNvSpPr/>
          <p:nvPr/>
        </p:nvSpPr>
        <p:spPr>
          <a:xfrm>
            <a:off x="11295583" y="4572000"/>
            <a:ext cx="274320" cy="274320"/>
          </a:xfrm>
          <a:prstGeom prst="rect">
            <a:avLst/>
          </a:prstGeom>
          <a:solidFill>
            <a:srgbClr val="CADCFC">
              <a:alpha val="12000"/>
            </a:srgbClr>
          </a:solidFill>
          <a:ln/>
        </p:spPr>
      </p:sp>
      <p:sp>
        <p:nvSpPr>
          <p:cNvPr id="10" name="Shape 8"/>
          <p:cNvSpPr/>
          <p:nvPr/>
        </p:nvSpPr>
        <p:spPr>
          <a:xfrm>
            <a:off x="8991295" y="4901184"/>
            <a:ext cx="274320" cy="274320"/>
          </a:xfrm>
          <a:prstGeom prst="rect">
            <a:avLst/>
          </a:prstGeom>
          <a:solidFill>
            <a:srgbClr val="CADCFC">
              <a:alpha val="12000"/>
            </a:srgbClr>
          </a:solidFill>
          <a:ln/>
        </p:spPr>
      </p:sp>
      <p:sp>
        <p:nvSpPr>
          <p:cNvPr id="11" name="Shape 9"/>
          <p:cNvSpPr/>
          <p:nvPr/>
        </p:nvSpPr>
        <p:spPr>
          <a:xfrm>
            <a:off x="9320479" y="4901184"/>
            <a:ext cx="274320" cy="274320"/>
          </a:xfrm>
          <a:prstGeom prst="rect">
            <a:avLst/>
          </a:prstGeom>
          <a:solidFill>
            <a:srgbClr val="CADCFC">
              <a:alpha val="12000"/>
            </a:srgbClr>
          </a:solidFill>
          <a:ln/>
        </p:spPr>
      </p:sp>
      <p:sp>
        <p:nvSpPr>
          <p:cNvPr id="12" name="Shape 10"/>
          <p:cNvSpPr/>
          <p:nvPr/>
        </p:nvSpPr>
        <p:spPr>
          <a:xfrm>
            <a:off x="9649663" y="4901184"/>
            <a:ext cx="274320" cy="274320"/>
          </a:xfrm>
          <a:prstGeom prst="rect">
            <a:avLst/>
          </a:prstGeom>
          <a:solidFill>
            <a:srgbClr val="CADCFC">
              <a:alpha val="12000"/>
            </a:srgbClr>
          </a:solidFill>
          <a:ln/>
        </p:spPr>
      </p:sp>
      <p:sp>
        <p:nvSpPr>
          <p:cNvPr id="13" name="Shape 11"/>
          <p:cNvSpPr/>
          <p:nvPr/>
        </p:nvSpPr>
        <p:spPr>
          <a:xfrm>
            <a:off x="9978847" y="4901184"/>
            <a:ext cx="274320" cy="274320"/>
          </a:xfrm>
          <a:prstGeom prst="rect">
            <a:avLst/>
          </a:prstGeom>
          <a:solidFill>
            <a:srgbClr val="FFD479"/>
          </a:solidFill>
          <a:ln/>
        </p:spPr>
      </p:sp>
      <p:sp>
        <p:nvSpPr>
          <p:cNvPr id="14" name="Shape 12"/>
          <p:cNvSpPr/>
          <p:nvPr/>
        </p:nvSpPr>
        <p:spPr>
          <a:xfrm>
            <a:off x="10308031" y="4901184"/>
            <a:ext cx="274320" cy="274320"/>
          </a:xfrm>
          <a:prstGeom prst="rect">
            <a:avLst/>
          </a:prstGeom>
          <a:solidFill>
            <a:srgbClr val="CADCFC">
              <a:alpha val="12000"/>
            </a:srgbClr>
          </a:solidFill>
          <a:ln/>
        </p:spPr>
      </p:sp>
      <p:sp>
        <p:nvSpPr>
          <p:cNvPr id="15" name="Shape 13"/>
          <p:cNvSpPr/>
          <p:nvPr/>
        </p:nvSpPr>
        <p:spPr>
          <a:xfrm>
            <a:off x="10637215" y="4901184"/>
            <a:ext cx="274320" cy="274320"/>
          </a:xfrm>
          <a:prstGeom prst="rect">
            <a:avLst/>
          </a:prstGeom>
          <a:solidFill>
            <a:srgbClr val="CADCFC">
              <a:alpha val="12000"/>
            </a:srgbClr>
          </a:solidFill>
          <a:ln/>
        </p:spPr>
      </p:sp>
      <p:sp>
        <p:nvSpPr>
          <p:cNvPr id="16" name="Shape 14"/>
          <p:cNvSpPr/>
          <p:nvPr/>
        </p:nvSpPr>
        <p:spPr>
          <a:xfrm>
            <a:off x="10966399" y="4901184"/>
            <a:ext cx="274320" cy="274320"/>
          </a:xfrm>
          <a:prstGeom prst="rect">
            <a:avLst/>
          </a:prstGeom>
          <a:solidFill>
            <a:srgbClr val="CADCFC">
              <a:alpha val="12000"/>
            </a:srgbClr>
          </a:solidFill>
          <a:ln/>
        </p:spPr>
      </p:sp>
      <p:sp>
        <p:nvSpPr>
          <p:cNvPr id="17" name="Shape 15"/>
          <p:cNvSpPr/>
          <p:nvPr/>
        </p:nvSpPr>
        <p:spPr>
          <a:xfrm>
            <a:off x="11295583" y="4901184"/>
            <a:ext cx="274320" cy="274320"/>
          </a:xfrm>
          <a:prstGeom prst="rect">
            <a:avLst/>
          </a:prstGeom>
          <a:solidFill>
            <a:srgbClr val="CADCFC">
              <a:alpha val="12000"/>
            </a:srgbClr>
          </a:solidFill>
          <a:ln/>
        </p:spPr>
      </p:sp>
      <p:sp>
        <p:nvSpPr>
          <p:cNvPr id="18" name="Shape 16"/>
          <p:cNvSpPr/>
          <p:nvPr/>
        </p:nvSpPr>
        <p:spPr>
          <a:xfrm>
            <a:off x="8991295" y="5230368"/>
            <a:ext cx="274320" cy="274320"/>
          </a:xfrm>
          <a:prstGeom prst="rect">
            <a:avLst/>
          </a:prstGeom>
          <a:solidFill>
            <a:srgbClr val="CADCFC">
              <a:alpha val="12000"/>
            </a:srgbClr>
          </a:solidFill>
          <a:ln/>
        </p:spPr>
      </p:sp>
      <p:sp>
        <p:nvSpPr>
          <p:cNvPr id="19" name="Shape 17"/>
          <p:cNvSpPr/>
          <p:nvPr/>
        </p:nvSpPr>
        <p:spPr>
          <a:xfrm>
            <a:off x="9320479" y="5230368"/>
            <a:ext cx="274320" cy="274320"/>
          </a:xfrm>
          <a:prstGeom prst="rect">
            <a:avLst/>
          </a:prstGeom>
          <a:solidFill>
            <a:srgbClr val="CADCFC">
              <a:alpha val="12000"/>
            </a:srgbClr>
          </a:solidFill>
          <a:ln/>
        </p:spPr>
      </p:sp>
      <p:sp>
        <p:nvSpPr>
          <p:cNvPr id="20" name="Shape 18"/>
          <p:cNvSpPr/>
          <p:nvPr/>
        </p:nvSpPr>
        <p:spPr>
          <a:xfrm>
            <a:off x="9649663" y="5230368"/>
            <a:ext cx="274320" cy="274320"/>
          </a:xfrm>
          <a:prstGeom prst="rect">
            <a:avLst/>
          </a:prstGeom>
          <a:solidFill>
            <a:srgbClr val="CADCFC">
              <a:alpha val="12000"/>
            </a:srgbClr>
          </a:solidFill>
          <a:ln/>
        </p:spPr>
      </p:sp>
      <p:sp>
        <p:nvSpPr>
          <p:cNvPr id="21" name="Shape 19"/>
          <p:cNvSpPr/>
          <p:nvPr/>
        </p:nvSpPr>
        <p:spPr>
          <a:xfrm>
            <a:off x="9978847" y="5230368"/>
            <a:ext cx="274320" cy="274320"/>
          </a:xfrm>
          <a:prstGeom prst="rect">
            <a:avLst/>
          </a:prstGeom>
          <a:solidFill>
            <a:srgbClr val="CADCFC">
              <a:alpha val="12000"/>
            </a:srgbClr>
          </a:solidFill>
          <a:ln/>
        </p:spPr>
      </p:sp>
      <p:sp>
        <p:nvSpPr>
          <p:cNvPr id="22" name="Shape 20"/>
          <p:cNvSpPr/>
          <p:nvPr/>
        </p:nvSpPr>
        <p:spPr>
          <a:xfrm>
            <a:off x="10308031" y="5230368"/>
            <a:ext cx="274320" cy="274320"/>
          </a:xfrm>
          <a:prstGeom prst="rect">
            <a:avLst/>
          </a:prstGeom>
          <a:solidFill>
            <a:srgbClr val="CADCFC">
              <a:alpha val="12000"/>
            </a:srgbClr>
          </a:solidFill>
          <a:ln/>
        </p:spPr>
      </p:sp>
      <p:sp>
        <p:nvSpPr>
          <p:cNvPr id="23" name="Shape 21"/>
          <p:cNvSpPr/>
          <p:nvPr/>
        </p:nvSpPr>
        <p:spPr>
          <a:xfrm>
            <a:off x="10637215" y="5230368"/>
            <a:ext cx="274320" cy="274320"/>
          </a:xfrm>
          <a:prstGeom prst="rect">
            <a:avLst/>
          </a:prstGeom>
          <a:solidFill>
            <a:srgbClr val="CADCFC">
              <a:alpha val="12000"/>
            </a:srgbClr>
          </a:solidFill>
          <a:ln/>
        </p:spPr>
      </p:sp>
      <p:sp>
        <p:nvSpPr>
          <p:cNvPr id="24" name="Shape 22"/>
          <p:cNvSpPr/>
          <p:nvPr/>
        </p:nvSpPr>
        <p:spPr>
          <a:xfrm>
            <a:off x="10966399" y="5230368"/>
            <a:ext cx="274320" cy="274320"/>
          </a:xfrm>
          <a:prstGeom prst="rect">
            <a:avLst/>
          </a:prstGeom>
          <a:solidFill>
            <a:srgbClr val="CADCFC">
              <a:alpha val="12000"/>
            </a:srgbClr>
          </a:solidFill>
          <a:ln/>
        </p:spPr>
      </p:sp>
      <p:sp>
        <p:nvSpPr>
          <p:cNvPr id="25" name="Shape 23"/>
          <p:cNvSpPr/>
          <p:nvPr/>
        </p:nvSpPr>
        <p:spPr>
          <a:xfrm>
            <a:off x="11295583" y="5230368"/>
            <a:ext cx="274320" cy="274320"/>
          </a:xfrm>
          <a:prstGeom prst="rect">
            <a:avLst/>
          </a:prstGeom>
          <a:solidFill>
            <a:srgbClr val="CADCFC">
              <a:alpha val="12000"/>
            </a:srgbClr>
          </a:solidFill>
          <a:ln/>
        </p:spPr>
      </p:sp>
      <p:sp>
        <p:nvSpPr>
          <p:cNvPr id="26" name="Shape 24"/>
          <p:cNvSpPr/>
          <p:nvPr/>
        </p:nvSpPr>
        <p:spPr>
          <a:xfrm>
            <a:off x="8991295" y="5559552"/>
            <a:ext cx="274320" cy="274320"/>
          </a:xfrm>
          <a:prstGeom prst="rect">
            <a:avLst/>
          </a:prstGeom>
          <a:solidFill>
            <a:srgbClr val="CADCFC">
              <a:alpha val="12000"/>
            </a:srgbClr>
          </a:solidFill>
          <a:ln/>
        </p:spPr>
      </p:sp>
      <p:sp>
        <p:nvSpPr>
          <p:cNvPr id="27" name="Shape 25"/>
          <p:cNvSpPr/>
          <p:nvPr/>
        </p:nvSpPr>
        <p:spPr>
          <a:xfrm>
            <a:off x="9320479" y="5559552"/>
            <a:ext cx="274320" cy="274320"/>
          </a:xfrm>
          <a:prstGeom prst="rect">
            <a:avLst/>
          </a:prstGeom>
          <a:solidFill>
            <a:srgbClr val="CADCFC">
              <a:alpha val="12000"/>
            </a:srgbClr>
          </a:solidFill>
          <a:ln/>
        </p:spPr>
      </p:sp>
      <p:sp>
        <p:nvSpPr>
          <p:cNvPr id="28" name="Shape 26"/>
          <p:cNvSpPr/>
          <p:nvPr/>
        </p:nvSpPr>
        <p:spPr>
          <a:xfrm>
            <a:off x="9649663" y="5559552"/>
            <a:ext cx="274320" cy="274320"/>
          </a:xfrm>
          <a:prstGeom prst="rect">
            <a:avLst/>
          </a:prstGeom>
          <a:solidFill>
            <a:srgbClr val="CADCFC">
              <a:alpha val="12000"/>
            </a:srgbClr>
          </a:solidFill>
          <a:ln/>
        </p:spPr>
      </p:sp>
      <p:sp>
        <p:nvSpPr>
          <p:cNvPr id="29" name="Shape 27"/>
          <p:cNvSpPr/>
          <p:nvPr/>
        </p:nvSpPr>
        <p:spPr>
          <a:xfrm>
            <a:off x="9978847" y="5559552"/>
            <a:ext cx="274320" cy="274320"/>
          </a:xfrm>
          <a:prstGeom prst="rect">
            <a:avLst/>
          </a:prstGeom>
          <a:solidFill>
            <a:srgbClr val="CADCFC">
              <a:alpha val="12000"/>
            </a:srgbClr>
          </a:solidFill>
          <a:ln/>
        </p:spPr>
      </p:sp>
      <p:sp>
        <p:nvSpPr>
          <p:cNvPr id="30" name="Shape 28"/>
          <p:cNvSpPr/>
          <p:nvPr/>
        </p:nvSpPr>
        <p:spPr>
          <a:xfrm>
            <a:off x="10308031" y="5559552"/>
            <a:ext cx="274320" cy="274320"/>
          </a:xfrm>
          <a:prstGeom prst="rect">
            <a:avLst/>
          </a:prstGeom>
          <a:solidFill>
            <a:srgbClr val="CADCFC">
              <a:alpha val="12000"/>
            </a:srgbClr>
          </a:solidFill>
          <a:ln/>
        </p:spPr>
      </p:sp>
      <p:sp>
        <p:nvSpPr>
          <p:cNvPr id="31" name="Shape 29"/>
          <p:cNvSpPr/>
          <p:nvPr/>
        </p:nvSpPr>
        <p:spPr>
          <a:xfrm>
            <a:off x="10637215" y="5559552"/>
            <a:ext cx="274320" cy="274320"/>
          </a:xfrm>
          <a:prstGeom prst="rect">
            <a:avLst/>
          </a:prstGeom>
          <a:solidFill>
            <a:srgbClr val="CADCFC">
              <a:alpha val="12000"/>
            </a:srgbClr>
          </a:solidFill>
          <a:ln/>
        </p:spPr>
      </p:sp>
      <p:sp>
        <p:nvSpPr>
          <p:cNvPr id="32" name="Shape 30"/>
          <p:cNvSpPr/>
          <p:nvPr/>
        </p:nvSpPr>
        <p:spPr>
          <a:xfrm>
            <a:off x="10966399" y="5559552"/>
            <a:ext cx="274320" cy="274320"/>
          </a:xfrm>
          <a:prstGeom prst="rect">
            <a:avLst/>
          </a:prstGeom>
          <a:solidFill>
            <a:srgbClr val="2F5FAE"/>
          </a:solidFill>
          <a:ln/>
        </p:spPr>
      </p:sp>
      <p:sp>
        <p:nvSpPr>
          <p:cNvPr id="33" name="Shape 31"/>
          <p:cNvSpPr/>
          <p:nvPr/>
        </p:nvSpPr>
        <p:spPr>
          <a:xfrm>
            <a:off x="11295583" y="5559552"/>
            <a:ext cx="274320" cy="274320"/>
          </a:xfrm>
          <a:prstGeom prst="rect">
            <a:avLst/>
          </a:prstGeom>
          <a:solidFill>
            <a:srgbClr val="CADCFC">
              <a:alpha val="12000"/>
            </a:srgbClr>
          </a:solidFill>
          <a:ln/>
        </p:spPr>
      </p:sp>
      <p:sp>
        <p:nvSpPr>
          <p:cNvPr id="34" name="Shape 32"/>
          <p:cNvSpPr/>
          <p:nvPr/>
        </p:nvSpPr>
        <p:spPr>
          <a:xfrm>
            <a:off x="8991295" y="5888736"/>
            <a:ext cx="274320" cy="274320"/>
          </a:xfrm>
          <a:prstGeom prst="rect">
            <a:avLst/>
          </a:prstGeom>
          <a:solidFill>
            <a:srgbClr val="CADCFC">
              <a:alpha val="12000"/>
            </a:srgbClr>
          </a:solidFill>
          <a:ln/>
        </p:spPr>
      </p:sp>
      <p:sp>
        <p:nvSpPr>
          <p:cNvPr id="35" name="Shape 33"/>
          <p:cNvSpPr/>
          <p:nvPr/>
        </p:nvSpPr>
        <p:spPr>
          <a:xfrm>
            <a:off x="9320479" y="5888736"/>
            <a:ext cx="274320" cy="274320"/>
          </a:xfrm>
          <a:prstGeom prst="rect">
            <a:avLst/>
          </a:prstGeom>
          <a:solidFill>
            <a:srgbClr val="CADCFC">
              <a:alpha val="12000"/>
            </a:srgbClr>
          </a:solidFill>
          <a:ln/>
        </p:spPr>
      </p:sp>
      <p:sp>
        <p:nvSpPr>
          <p:cNvPr id="36" name="Shape 34"/>
          <p:cNvSpPr/>
          <p:nvPr/>
        </p:nvSpPr>
        <p:spPr>
          <a:xfrm>
            <a:off x="9649663" y="5888736"/>
            <a:ext cx="274320" cy="274320"/>
          </a:xfrm>
          <a:prstGeom prst="rect">
            <a:avLst/>
          </a:prstGeom>
          <a:solidFill>
            <a:srgbClr val="CADCFC">
              <a:alpha val="12000"/>
            </a:srgbClr>
          </a:solidFill>
          <a:ln/>
        </p:spPr>
      </p:sp>
      <p:sp>
        <p:nvSpPr>
          <p:cNvPr id="37" name="Shape 35"/>
          <p:cNvSpPr/>
          <p:nvPr/>
        </p:nvSpPr>
        <p:spPr>
          <a:xfrm>
            <a:off x="9978847" y="5888736"/>
            <a:ext cx="274320" cy="274320"/>
          </a:xfrm>
          <a:prstGeom prst="rect">
            <a:avLst/>
          </a:prstGeom>
          <a:solidFill>
            <a:srgbClr val="CADCFC">
              <a:alpha val="12000"/>
            </a:srgbClr>
          </a:solidFill>
          <a:ln/>
        </p:spPr>
      </p:sp>
      <p:sp>
        <p:nvSpPr>
          <p:cNvPr id="38" name="Shape 36"/>
          <p:cNvSpPr/>
          <p:nvPr/>
        </p:nvSpPr>
        <p:spPr>
          <a:xfrm>
            <a:off x="10308031" y="5888736"/>
            <a:ext cx="274320" cy="274320"/>
          </a:xfrm>
          <a:prstGeom prst="rect">
            <a:avLst/>
          </a:prstGeom>
          <a:solidFill>
            <a:srgbClr val="CADCFC">
              <a:alpha val="12000"/>
            </a:srgbClr>
          </a:solidFill>
          <a:ln/>
        </p:spPr>
      </p:sp>
      <p:sp>
        <p:nvSpPr>
          <p:cNvPr id="39" name="Shape 37"/>
          <p:cNvSpPr/>
          <p:nvPr/>
        </p:nvSpPr>
        <p:spPr>
          <a:xfrm>
            <a:off x="10637215" y="5888736"/>
            <a:ext cx="274320" cy="274320"/>
          </a:xfrm>
          <a:prstGeom prst="rect">
            <a:avLst/>
          </a:prstGeom>
          <a:solidFill>
            <a:srgbClr val="CADCFC">
              <a:alpha val="12000"/>
            </a:srgbClr>
          </a:solidFill>
          <a:ln/>
        </p:spPr>
      </p:sp>
      <p:sp>
        <p:nvSpPr>
          <p:cNvPr id="40" name="Shape 38"/>
          <p:cNvSpPr/>
          <p:nvPr/>
        </p:nvSpPr>
        <p:spPr>
          <a:xfrm>
            <a:off x="10966399" y="5888736"/>
            <a:ext cx="274320" cy="274320"/>
          </a:xfrm>
          <a:prstGeom prst="rect">
            <a:avLst/>
          </a:prstGeom>
          <a:solidFill>
            <a:srgbClr val="CADCFC">
              <a:alpha val="12000"/>
            </a:srgbClr>
          </a:solidFill>
          <a:ln/>
        </p:spPr>
      </p:sp>
      <p:sp>
        <p:nvSpPr>
          <p:cNvPr id="41" name="Shape 39"/>
          <p:cNvSpPr/>
          <p:nvPr/>
        </p:nvSpPr>
        <p:spPr>
          <a:xfrm>
            <a:off x="11295583" y="5888736"/>
            <a:ext cx="274320" cy="274320"/>
          </a:xfrm>
          <a:prstGeom prst="rect">
            <a:avLst/>
          </a:prstGeom>
          <a:solidFill>
            <a:srgbClr val="2F5FAE"/>
          </a:solidFill>
          <a:ln/>
        </p:spPr>
      </p:sp>
      <p:sp>
        <p:nvSpPr>
          <p:cNvPr id="42" name="Text 40"/>
          <p:cNvSpPr txBox="1"/>
          <p:nvPr/>
        </p:nvSpPr>
        <p:spPr>
          <a:xfrm>
            <a:off x="640080" y="1874520"/>
            <a:ext cx="1828800" cy="1280160"/>
          </a:xfrm>
          <a:prstGeom prst="rect">
            <a:avLst/>
          </a:prstGeom>
          <a:noFill/>
          <a:ln/>
        </p:spPr>
        <p:txBody>
          <a:bodyPr wrap="square" lIns="0" tIns="0" rIns="0" bIns="0" rtlCol="0" anchor="ctr"/>
          <a:lstStyle/>
          <a:p>
            <a:pPr indent="0" marL="0">
              <a:buNone/>
            </a:pPr>
            <a:r>
              <a:rPr lang="en-US" sz="6400" b="1" dirty="0">
                <a:solidFill>
                  <a:srgbClr val="FFD479"/>
                </a:solidFill>
                <a:latin typeface="Meiryo" pitchFamily="34" charset="0"/>
                <a:ea typeface="Meiryo" pitchFamily="34" charset="-122"/>
                <a:cs typeface="Meiryo" pitchFamily="34" charset="-120"/>
              </a:rPr>
              <a:t>3</a:t>
            </a:r>
            <a:endParaRPr lang="en-US" sz="6400" dirty="0"/>
          </a:p>
        </p:txBody>
      </p:sp>
      <p:sp>
        <p:nvSpPr>
          <p:cNvPr id="43" name="Text 41"/>
          <p:cNvSpPr txBox="1"/>
          <p:nvPr/>
        </p:nvSpPr>
        <p:spPr>
          <a:xfrm>
            <a:off x="2011680" y="2084832"/>
            <a:ext cx="5486400" cy="365760"/>
          </a:xfrm>
          <a:prstGeom prst="rect">
            <a:avLst/>
          </a:prstGeom>
          <a:noFill/>
          <a:ln/>
        </p:spPr>
        <p:txBody>
          <a:bodyPr wrap="square" lIns="0" tIns="0" rIns="0" bIns="0" rtlCol="0" anchor="ctr"/>
          <a:lstStyle/>
          <a:p>
            <a:pPr indent="0" marL="0">
              <a:buNone/>
            </a:pPr>
            <a:r>
              <a:rPr lang="en-US" sz="1200" b="1" spc="160" kern="0" dirty="0">
                <a:solidFill>
                  <a:srgbClr val="CADCFC"/>
                </a:solidFill>
                <a:latin typeface="Meiryo" pitchFamily="34" charset="0"/>
                <a:ea typeface="Meiryo" pitchFamily="34" charset="-122"/>
                <a:cs typeface="Meiryo" pitchFamily="34" charset="-120"/>
              </a:rPr>
              <a:t>RISKS &amp; ISSUES</a:t>
            </a:r>
            <a:endParaRPr lang="en-US" sz="1200" dirty="0"/>
          </a:p>
        </p:txBody>
      </p:sp>
      <p:sp>
        <p:nvSpPr>
          <p:cNvPr id="44" name="Text 42"/>
          <p:cNvSpPr txBox="1"/>
          <p:nvPr/>
        </p:nvSpPr>
        <p:spPr>
          <a:xfrm>
            <a:off x="1965960" y="2395728"/>
            <a:ext cx="7315200" cy="731520"/>
          </a:xfrm>
          <a:prstGeom prst="rect">
            <a:avLst/>
          </a:prstGeom>
          <a:noFill/>
          <a:ln/>
        </p:spPr>
        <p:txBody>
          <a:bodyPr wrap="square" lIns="0" tIns="0" rIns="0" bIns="0" rtlCol="0" anchor="ctr"/>
          <a:lstStyle/>
          <a:p>
            <a:pPr indent="0" marL="0">
              <a:buNone/>
            </a:pPr>
            <a:r>
              <a:rPr lang="en-US" sz="3400" b="1" dirty="0">
                <a:solidFill>
                  <a:srgbClr val="FFFFFF"/>
                </a:solidFill>
                <a:latin typeface="Meiryo" pitchFamily="34" charset="0"/>
                <a:ea typeface="Meiryo" pitchFamily="34" charset="-122"/>
                <a:cs typeface="Meiryo" pitchFamily="34" charset="-120"/>
              </a:rPr>
              <a:t>課題</a:t>
            </a:r>
            <a:endParaRPr lang="en-US" sz="3400" dirty="0"/>
          </a:p>
        </p:txBody>
      </p:sp>
      <p:sp>
        <p:nvSpPr>
          <p:cNvPr id="45" name="Text 43"/>
          <p:cNvSpPr txBox="1"/>
          <p:nvPr/>
        </p:nvSpPr>
        <p:spPr>
          <a:xfrm>
            <a:off x="2011680" y="3246120"/>
            <a:ext cx="7680960" cy="548640"/>
          </a:xfrm>
          <a:prstGeom prst="rect">
            <a:avLst/>
          </a:prstGeom>
          <a:noFill/>
          <a:ln/>
        </p:spPr>
        <p:txBody>
          <a:bodyPr wrap="square" lIns="0" tIns="0" rIns="0" bIns="0" rtlCol="0" anchor="ctr"/>
          <a:lstStyle/>
          <a:p>
            <a:pPr indent="0" marL="0">
              <a:lnSpc>
                <a:spcPts val="2000"/>
              </a:lnSpc>
              <a:buNone/>
            </a:pPr>
            <a:r>
              <a:rPr lang="en-US" sz="1300" dirty="0">
                <a:solidFill>
                  <a:srgbClr val="CADCFC"/>
                </a:solidFill>
                <a:latin typeface="Meiryo" pitchFamily="34" charset="0"/>
                <a:ea typeface="Meiryo" pitchFamily="34" charset="-122"/>
                <a:cs typeface="Meiryo" pitchFamily="34" charset="-120"/>
              </a:rPr>
              <a:t>解かなければ商品にならないもの</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146304" cy="146304"/>
          </a:xfrm>
          <a:prstGeom prst="rect">
            <a:avLst/>
          </a:prstGeom>
          <a:solidFill>
            <a:srgbClr val="AE2F2F"/>
          </a:solidFill>
          <a:ln/>
        </p:spPr>
      </p:sp>
      <p:sp>
        <p:nvSpPr>
          <p:cNvPr id="3" name="Text 1"/>
          <p:cNvSpPr txBox="1"/>
          <p:nvPr/>
        </p:nvSpPr>
        <p:spPr>
          <a:xfrm>
            <a:off x="896112" y="402336"/>
            <a:ext cx="8229600" cy="292608"/>
          </a:xfrm>
          <a:prstGeom prst="rect">
            <a:avLst/>
          </a:prstGeom>
          <a:noFill/>
          <a:ln/>
        </p:spPr>
        <p:txBody>
          <a:bodyPr wrap="square" lIns="0" tIns="0" rIns="0" bIns="0" rtlCol="0" anchor="ctr"/>
          <a:lstStyle/>
          <a:p>
            <a:pPr indent="0" marL="0">
              <a:buNone/>
            </a:pPr>
            <a:r>
              <a:rPr lang="en-US" sz="1200" b="1" spc="140" kern="0" dirty="0">
                <a:solidFill>
                  <a:srgbClr val="AE2F2F"/>
                </a:solidFill>
                <a:latin typeface="Meiryo" pitchFamily="34" charset="0"/>
                <a:ea typeface="Meiryo" pitchFamily="34" charset="-122"/>
                <a:cs typeface="Meiryo" pitchFamily="34" charset="-120"/>
              </a:rPr>
              <a:t>3-1  課題</a:t>
            </a:r>
            <a:endParaRPr lang="en-US" sz="1200" dirty="0"/>
          </a:p>
        </p:txBody>
      </p:sp>
      <p:sp>
        <p:nvSpPr>
          <p:cNvPr id="4" name="Text 2"/>
          <p:cNvSpPr txBox="1"/>
          <p:nvPr/>
        </p:nvSpPr>
        <p:spPr>
          <a:xfrm>
            <a:off x="640080" y="749808"/>
            <a:ext cx="10911535" cy="658368"/>
          </a:xfrm>
          <a:prstGeom prst="rect">
            <a:avLst/>
          </a:prstGeom>
          <a:noFill/>
          <a:ln/>
        </p:spPr>
        <p:txBody>
          <a:bodyPr wrap="square" lIns="0" tIns="0" rIns="0" bIns="0" rtlCol="0" anchor="ctr"/>
          <a:lstStyle/>
          <a:p>
            <a:pPr indent="0" marL="0">
              <a:buNone/>
            </a:pPr>
            <a:r>
              <a:rPr lang="en-US" sz="3000" b="1" dirty="0">
                <a:solidFill>
                  <a:srgbClr val="1A1A2E"/>
                </a:solidFill>
                <a:latin typeface="Meiryo" pitchFamily="34" charset="0"/>
                <a:ea typeface="Meiryo" pitchFamily="34" charset="-122"/>
                <a:cs typeface="Meiryo" pitchFamily="34" charset="-120"/>
              </a:rPr>
              <a:t>権利・法務 ─ 最優先で決着させるべき論点</a:t>
            </a:r>
            <a:endParaRPr lang="en-US" sz="3000" dirty="0"/>
          </a:p>
        </p:txBody>
      </p:sp>
      <p:sp>
        <p:nvSpPr>
          <p:cNvPr id="5" name="Shape 3"/>
          <p:cNvSpPr/>
          <p:nvPr/>
        </p:nvSpPr>
        <p:spPr>
          <a:xfrm>
            <a:off x="640080" y="1572768"/>
            <a:ext cx="10911535" cy="1234440"/>
          </a:xfrm>
          <a:prstGeom prst="roundRect">
            <a:avLst>
              <a:gd name="adj" fmla="val 4444"/>
            </a:avLst>
          </a:prstGeom>
          <a:solidFill>
            <a:srgbClr val="1A1A2E"/>
          </a:solidFill>
          <a:ln/>
        </p:spPr>
      </p:sp>
      <p:sp>
        <p:nvSpPr>
          <p:cNvPr id="6" name="Shape 4"/>
          <p:cNvSpPr/>
          <p:nvPr/>
        </p:nvSpPr>
        <p:spPr>
          <a:xfrm>
            <a:off x="1005840" y="1883664"/>
            <a:ext cx="146304" cy="146304"/>
          </a:xfrm>
          <a:prstGeom prst="rect">
            <a:avLst/>
          </a:prstGeom>
          <a:solidFill>
            <a:srgbClr val="AE2F2F"/>
          </a:solidFill>
          <a:ln/>
        </p:spPr>
      </p:sp>
      <p:sp>
        <p:nvSpPr>
          <p:cNvPr id="7" name="Text 5"/>
          <p:cNvSpPr txBox="1"/>
          <p:nvPr/>
        </p:nvSpPr>
        <p:spPr>
          <a:xfrm>
            <a:off x="1261872" y="1773936"/>
            <a:ext cx="10058400" cy="384048"/>
          </a:xfrm>
          <a:prstGeom prst="rect">
            <a:avLst/>
          </a:prstGeom>
          <a:noFill/>
          <a:ln/>
        </p:spPr>
        <p:txBody>
          <a:bodyPr wrap="square" lIns="0" tIns="0" rIns="0" bIns="0" rtlCol="0" anchor="ctr"/>
          <a:lstStyle/>
          <a:p>
            <a:pPr indent="0" marL="0">
              <a:buNone/>
            </a:pPr>
            <a:r>
              <a:rPr lang="en-US" sz="1800" b="1" dirty="0">
                <a:solidFill>
                  <a:srgbClr val="FFD479"/>
                </a:solidFill>
                <a:latin typeface="Meiryo" pitchFamily="34" charset="0"/>
                <a:ea typeface="Meiryo" pitchFamily="34" charset="-122"/>
                <a:cs typeface="Meiryo" pitchFamily="34" charset="-120"/>
              </a:rPr>
              <a:t>L-1  IP(著作権)の権利帰属</a:t>
            </a:r>
            <a:endParaRPr lang="en-US" sz="1800" dirty="0"/>
          </a:p>
        </p:txBody>
      </p:sp>
      <p:sp>
        <p:nvSpPr>
          <p:cNvPr id="8" name="Text 6"/>
          <p:cNvSpPr txBox="1"/>
          <p:nvPr/>
        </p:nvSpPr>
        <p:spPr>
          <a:xfrm>
            <a:off x="1261872" y="2212848"/>
            <a:ext cx="10241280" cy="548640"/>
          </a:xfrm>
          <a:prstGeom prst="rect">
            <a:avLst/>
          </a:prstGeom>
          <a:noFill/>
          <a:ln/>
        </p:spPr>
        <p:txBody>
          <a:bodyPr wrap="square" lIns="0" tIns="0" rIns="0" bIns="0" rtlCol="0" anchor="ctr"/>
          <a:lstStyle/>
          <a:p>
            <a:pPr indent="0" marL="0">
              <a:lnSpc>
                <a:spcPts val="1800"/>
              </a:lnSpc>
              <a:buNone/>
            </a:pPr>
            <a:r>
              <a:rPr lang="en-US" sz="1250" dirty="0">
                <a:solidFill>
                  <a:srgbClr val="CADCFC"/>
                </a:solidFill>
                <a:latin typeface="Meiryo" pitchFamily="34" charset="0"/>
                <a:ea typeface="Meiryo" pitchFamily="34" charset="-122"/>
                <a:cs typeface="Meiryo" pitchFamily="34" charset="-120"/>
              </a:rPr>
              <a:t>個人の時間で開発してきた成果物を、会社の事業として販売するのか、個人の資産として扱うのか。</a:t>
            </a:r>
            <a:endParaRPr lang="en-US" sz="1250" dirty="0"/>
          </a:p>
          <a:p>
            <a:pPr indent="0" marL="0">
              <a:lnSpc>
                <a:spcPts val="1800"/>
              </a:lnSpc>
              <a:buNone/>
            </a:pPr>
            <a:r>
              <a:rPr lang="en-US" sz="1250" dirty="0">
                <a:solidFill>
                  <a:srgbClr val="CADCFC"/>
                </a:solidFill>
                <a:latin typeface="Meiryo" pitchFamily="34" charset="0"/>
                <a:ea typeface="Meiryo" pitchFamily="34" charset="-122"/>
                <a:cs typeface="Meiryo" pitchFamily="34" charset="-120"/>
              </a:rPr>
              <a:t>職務発明規程・副業規程の確認を含め、着手前に確定させる必要がある。</a:t>
            </a:r>
            <a:endParaRPr lang="en-US" sz="12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40080" y="2971800"/>
          <a:ext cx="10911535" cy="914400"/>
        </p:xfrm>
        <a:graphic>
          <a:graphicData uri="http://schemas.openxmlformats.org/drawingml/2006/table">
            <a:tbl>
              <a:tblPr/>
              <a:tblGrid>
                <a:gridCol w="640080"/>
                <a:gridCol w="2286000"/>
                <a:gridCol w="7982712"/>
              </a:tblGrid>
              <a:tr h="329184">
                <a:tc>
                  <a:txBody>
                    <a:bodyPr/>
                    <a:lstStyle/>
                    <a:p>
                      <a:pPr indent="0" marL="0">
                        <a:buNone/>
                      </a:pPr>
                      <a:r>
                        <a:rPr lang="en-US" sz="1150" b="1" dirty="0">
                          <a:solidFill>
                            <a:srgbClr val="FFFFFF"/>
                          </a:solidFill>
                          <a:latin typeface="Meiryo" pitchFamily="34" charset="0"/>
                          <a:ea typeface="Meiryo" pitchFamily="34" charset="-122"/>
                          <a:cs typeface="Meiryo" pitchFamily="34" charset="-120"/>
                        </a:rPr>
                        <a:t>#</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1A1A2E"/>
                    </a:solidFill>
                  </a:tcPr>
                </a:tc>
                <a:tc>
                  <a:txBody>
                    <a:bodyPr/>
                    <a:lstStyle/>
                    <a:p>
                      <a:pPr indent="0" marL="0">
                        <a:buNone/>
                      </a:pPr>
                      <a:r>
                        <a:rPr lang="en-US" sz="1150" b="1" dirty="0">
                          <a:solidFill>
                            <a:srgbClr val="FFFFFF"/>
                          </a:solidFill>
                          <a:latin typeface="Meiryo" pitchFamily="34" charset="0"/>
                          <a:ea typeface="Meiryo" pitchFamily="34" charset="-122"/>
                          <a:cs typeface="Meiryo" pitchFamily="34" charset="-120"/>
                        </a:rPr>
                        <a:t>論点</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1A1A2E"/>
                    </a:solidFill>
                  </a:tcPr>
                </a:tc>
                <a:tc>
                  <a:txBody>
                    <a:bodyPr/>
                    <a:lstStyle/>
                    <a:p>
                      <a:pPr indent="0" marL="0">
                        <a:buNone/>
                      </a:pPr>
                      <a:r>
                        <a:rPr lang="en-US" sz="1150" b="1" dirty="0">
                          <a:solidFill>
                            <a:srgbClr val="FFFFFF"/>
                          </a:solidFill>
                          <a:latin typeface="Meiryo" pitchFamily="34" charset="0"/>
                          <a:ea typeface="Meiryo" pitchFamily="34" charset="-122"/>
                          <a:cs typeface="Meiryo" pitchFamily="34" charset="-120"/>
                        </a:rPr>
                        <a:t>内容と対応</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1A1A2E"/>
                    </a:solidFill>
                  </a:tcPr>
                </a:tc>
              </a:tr>
              <a:tr h="530352">
                <a:tc>
                  <a:txBody>
                    <a:bodyPr/>
                    <a:lstStyle/>
                    <a:p>
                      <a:pPr indent="0" marL="0">
                        <a:buNone/>
                      </a:pPr>
                      <a:r>
                        <a:rPr lang="en-US" sz="1150" dirty="0">
                          <a:solidFill>
                            <a:srgbClr val="3C4257"/>
                          </a:solidFill>
                          <a:latin typeface="Meiryo" pitchFamily="34" charset="0"/>
                          <a:ea typeface="Meiryo" pitchFamily="34" charset="-122"/>
                          <a:cs typeface="Meiryo" pitchFamily="34" charset="-120"/>
                        </a:rPr>
                        <a:t>L-2</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Meiryo" pitchFamily="34" charset="0"/>
                          <a:ea typeface="Meiryo" pitchFamily="34" charset="-122"/>
                          <a:cs typeface="Meiryo" pitchFamily="34" charset="-120"/>
                        </a:rPr>
                        <a:t>既存作品との類似</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Meiryo" pitchFamily="34" charset="0"/>
                          <a:ea typeface="Meiryo" pitchFamily="34" charset="-122"/>
                          <a:cs typeface="Meiryo" pitchFamily="34" charset="-120"/>
                        </a:rPr>
                        <a:t>ゲームシステムはアイデアで保護対象外。名称・ビジュアル・データはすべてオリジナルのため実質リスクは低い</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FFFFFF"/>
                    </a:solidFill>
                  </a:tcPr>
                </a:tc>
              </a:tr>
              <a:tr h="438912">
                <a:tc>
                  <a:txBody>
                    <a:bodyPr/>
                    <a:lstStyle/>
                    <a:p>
                      <a:pPr indent="0" marL="0">
                        <a:buNone/>
                      </a:pPr>
                      <a:r>
                        <a:rPr lang="en-US" sz="1150" dirty="0">
                          <a:solidFill>
                            <a:srgbClr val="3C4257"/>
                          </a:solidFill>
                          <a:latin typeface="Meiryo" pitchFamily="34" charset="0"/>
                          <a:ea typeface="Meiryo" pitchFamily="34" charset="-122"/>
                          <a:cs typeface="Meiryo" pitchFamily="34" charset="-120"/>
                        </a:rPr>
                        <a:t>L-3</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Meiryo" pitchFamily="34" charset="0"/>
                          <a:ea typeface="Meiryo" pitchFamily="34" charset="-122"/>
                          <a:cs typeface="Meiryo" pitchFamily="34" charset="-120"/>
                        </a:rPr>
                        <a:t>タイトルの商標</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Meiryo" pitchFamily="34" charset="0"/>
                          <a:ea typeface="Meiryo" pitchFamily="34" charset="-122"/>
                          <a:cs typeface="Meiryo" pitchFamily="34" charset="-120"/>
                        </a:rPr>
                        <a:t>「グリッドウォーズ」は仮題。商標調査は必須で、改題は早いほど傷が浅い</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FFFFFF"/>
                    </a:solidFill>
                  </a:tcPr>
                </a:tc>
              </a:tr>
              <a:tr h="438912">
                <a:tc>
                  <a:txBody>
                    <a:bodyPr/>
                    <a:lstStyle/>
                    <a:p>
                      <a:pPr indent="0" marL="0">
                        <a:buNone/>
                      </a:pPr>
                      <a:r>
                        <a:rPr lang="en-US" sz="1150" dirty="0">
                          <a:solidFill>
                            <a:srgbClr val="3C4257"/>
                          </a:solidFill>
                          <a:latin typeface="Meiryo" pitchFamily="34" charset="0"/>
                          <a:ea typeface="Meiryo" pitchFamily="34" charset="-122"/>
                          <a:cs typeface="Meiryo" pitchFamily="34" charset="-120"/>
                        </a:rPr>
                        <a:t>L-4</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Meiryo" pitchFamily="34" charset="0"/>
                          <a:ea typeface="Meiryo" pitchFamily="34" charset="-122"/>
                          <a:cs typeface="Meiryo" pitchFamily="34" charset="-120"/>
                        </a:rPr>
                        <a:t>レーティング</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Meiryo" pitchFamily="34" charset="0"/>
                          <a:ea typeface="Meiryo" pitchFamily="34" charset="-122"/>
                          <a:cs typeface="Meiryo" pitchFamily="34" charset="-120"/>
                        </a:rPr>
                        <a:t>戦争を扱うため年齢区分の取得が必要。配信先により要件が異なる</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FFFFFF"/>
                    </a:solidFill>
                  </a:tcPr>
                </a:tc>
              </a:tr>
              <a:tr h="438912">
                <a:tc>
                  <a:txBody>
                    <a:bodyPr/>
                    <a:lstStyle/>
                    <a:p>
                      <a:pPr indent="0" marL="0">
                        <a:buNone/>
                      </a:pPr>
                      <a:r>
                        <a:rPr lang="en-US" sz="1150" dirty="0">
                          <a:solidFill>
                            <a:srgbClr val="3C4257"/>
                          </a:solidFill>
                          <a:latin typeface="Meiryo" pitchFamily="34" charset="0"/>
                          <a:ea typeface="Meiryo" pitchFamily="34" charset="-122"/>
                          <a:cs typeface="Meiryo" pitchFamily="34" charset="-120"/>
                        </a:rPr>
                        <a:t>L-5</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Meiryo" pitchFamily="34" charset="0"/>
                          <a:ea typeface="Meiryo" pitchFamily="34" charset="-122"/>
                          <a:cs typeface="Meiryo" pitchFamily="34" charset="-120"/>
                        </a:rPr>
                        <a:t>OSS ライセンス表記</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Meiryo" pitchFamily="34" charset="0"/>
                          <a:ea typeface="Meiryo" pitchFamily="34" charset="-122"/>
                          <a:cs typeface="Meiryo" pitchFamily="34" charset="-120"/>
                        </a:rPr>
                        <a:t>Phaser は MIT で商用可。クレジット画面への表記義務がある</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FFFFFF"/>
                    </a:solidFill>
                  </a:tcPr>
                </a:tc>
              </a:tr>
              <a:tr h="438912">
                <a:tc>
                  <a:txBody>
                    <a:bodyPr/>
                    <a:lstStyle/>
                    <a:p>
                      <a:pPr indent="0" marL="0">
                        <a:buNone/>
                      </a:pPr>
                      <a:r>
                        <a:rPr lang="en-US" sz="1150" dirty="0">
                          <a:solidFill>
                            <a:srgbClr val="3C4257"/>
                          </a:solidFill>
                          <a:latin typeface="Meiryo" pitchFamily="34" charset="0"/>
                          <a:ea typeface="Meiryo" pitchFamily="34" charset="-122"/>
                          <a:cs typeface="Meiryo" pitchFamily="34" charset="-120"/>
                        </a:rPr>
                        <a:t>L-6</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Meiryo" pitchFamily="34" charset="0"/>
                          <a:ea typeface="Meiryo" pitchFamily="34" charset="-122"/>
                          <a:cs typeface="Meiryo" pitchFamily="34" charset="-120"/>
                        </a:rPr>
                        <a:t>規約・ポリシー</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Meiryo" pitchFamily="34" charset="0"/>
                          <a:ea typeface="Meiryo" pitchFamily="34" charset="-122"/>
                          <a:cs typeface="Meiryo" pitchFamily="34" charset="-120"/>
                        </a:rPr>
                        <a:t>利用規約・プライバシーポリシー・特定商取引法に基づく表記の整備</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FFFFFF"/>
                    </a:solidFill>
                  </a:tcPr>
                </a:tc>
              </a:tr>
              <a:tr h="530352">
                <a:tc>
                  <a:txBody>
                    <a:bodyPr/>
                    <a:lstStyle/>
                    <a:p>
                      <a:pPr indent="0" marL="0">
                        <a:buNone/>
                      </a:pPr>
                      <a:r>
                        <a:rPr lang="en-US" sz="1150" dirty="0">
                          <a:solidFill>
                            <a:srgbClr val="3C4257"/>
                          </a:solidFill>
                          <a:latin typeface="Meiryo" pitchFamily="34" charset="0"/>
                          <a:ea typeface="Meiryo" pitchFamily="34" charset="-122"/>
                          <a:cs typeface="Meiryo" pitchFamily="34" charset="-120"/>
                        </a:rPr>
                        <a:t>L-7</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Meiryo" pitchFamily="34" charset="0"/>
                          <a:ea typeface="Meiryo" pitchFamily="34" charset="-122"/>
                          <a:cs typeface="Meiryo" pitchFamily="34" charset="-120"/>
                        </a:rPr>
                        <a:t>外部素材の権利処理</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Meiryo" pitchFamily="34" charset="0"/>
                          <a:ea typeface="Meiryo" pitchFamily="34" charset="-122"/>
                          <a:cs typeface="Meiryo" pitchFamily="34" charset="-120"/>
                        </a:rPr>
                        <a:t>現時点で外注の予定はないが、方針転換で外部素材を使う場合は商用利用可否の確認が必須</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146304" cy="146304"/>
          </a:xfrm>
          <a:prstGeom prst="rect">
            <a:avLst/>
          </a:prstGeom>
          <a:solidFill>
            <a:srgbClr val="AE2F2F"/>
          </a:solidFill>
          <a:ln/>
        </p:spPr>
      </p:sp>
      <p:sp>
        <p:nvSpPr>
          <p:cNvPr id="3" name="Text 1"/>
          <p:cNvSpPr txBox="1"/>
          <p:nvPr/>
        </p:nvSpPr>
        <p:spPr>
          <a:xfrm>
            <a:off x="896112" y="402336"/>
            <a:ext cx="8229600" cy="292608"/>
          </a:xfrm>
          <a:prstGeom prst="rect">
            <a:avLst/>
          </a:prstGeom>
          <a:noFill/>
          <a:ln/>
        </p:spPr>
        <p:txBody>
          <a:bodyPr wrap="square" lIns="0" tIns="0" rIns="0" bIns="0" rtlCol="0" anchor="ctr"/>
          <a:lstStyle/>
          <a:p>
            <a:pPr indent="0" marL="0">
              <a:buNone/>
            </a:pPr>
            <a:r>
              <a:rPr lang="en-US" sz="1200" b="1" spc="140" kern="0" dirty="0">
                <a:solidFill>
                  <a:srgbClr val="AE2F2F"/>
                </a:solidFill>
                <a:latin typeface="Meiryo" pitchFamily="34" charset="0"/>
                <a:ea typeface="Meiryo" pitchFamily="34" charset="-122"/>
                <a:cs typeface="Meiryo" pitchFamily="34" charset="-120"/>
              </a:rPr>
              <a:t>3-2  課題</a:t>
            </a:r>
            <a:endParaRPr lang="en-US" sz="1200" dirty="0"/>
          </a:p>
        </p:txBody>
      </p:sp>
      <p:sp>
        <p:nvSpPr>
          <p:cNvPr id="4" name="Text 2"/>
          <p:cNvSpPr txBox="1"/>
          <p:nvPr/>
        </p:nvSpPr>
        <p:spPr>
          <a:xfrm>
            <a:off x="640080" y="749808"/>
            <a:ext cx="10911535" cy="658368"/>
          </a:xfrm>
          <a:prstGeom prst="rect">
            <a:avLst/>
          </a:prstGeom>
          <a:noFill/>
          <a:ln/>
        </p:spPr>
        <p:txBody>
          <a:bodyPr wrap="square" lIns="0" tIns="0" rIns="0" bIns="0" rtlCol="0" anchor="ctr"/>
          <a:lstStyle/>
          <a:p>
            <a:pPr indent="0" marL="0">
              <a:buNone/>
            </a:pPr>
            <a:r>
              <a:rPr lang="en-US" sz="3000" b="1" dirty="0">
                <a:solidFill>
                  <a:srgbClr val="1A1A2E"/>
                </a:solidFill>
                <a:latin typeface="Meiryo" pitchFamily="34" charset="0"/>
                <a:ea typeface="Meiryo" pitchFamily="34" charset="-122"/>
                <a:cs typeface="Meiryo" pitchFamily="34" charset="-120"/>
              </a:rPr>
              <a:t>プロダクト品質と技術 ─ 最大の障壁は「見た目」</a:t>
            </a:r>
            <a:endParaRPr lang="en-US" sz="3000" dirty="0"/>
          </a:p>
        </p:txBody>
      </p:sp>
      <p:sp>
        <p:nvSpPr>
          <p:cNvPr id="5" name="Shape 3"/>
          <p:cNvSpPr/>
          <p:nvPr/>
        </p:nvSpPr>
        <p:spPr>
          <a:xfrm>
            <a:off x="640080" y="1572768"/>
            <a:ext cx="10911535" cy="1920240"/>
          </a:xfrm>
          <a:prstGeom prst="roundRect">
            <a:avLst>
              <a:gd name="adj" fmla="val 2857"/>
            </a:avLst>
          </a:prstGeom>
          <a:solidFill>
            <a:srgbClr val="FCF4E4"/>
          </a:solidFill>
          <a:ln/>
        </p:spPr>
      </p:sp>
      <p:sp>
        <p:nvSpPr>
          <p:cNvPr id="6" name="Text 4"/>
          <p:cNvSpPr txBox="1"/>
          <p:nvPr/>
        </p:nvSpPr>
        <p:spPr>
          <a:xfrm>
            <a:off x="1005840" y="1755648"/>
            <a:ext cx="10424160" cy="384048"/>
          </a:xfrm>
          <a:prstGeom prst="rect">
            <a:avLst/>
          </a:prstGeom>
          <a:noFill/>
          <a:ln/>
        </p:spPr>
        <p:txBody>
          <a:bodyPr wrap="square" lIns="0" tIns="0" rIns="0" bIns="0" rtlCol="0" anchor="ctr"/>
          <a:lstStyle/>
          <a:p>
            <a:pPr indent="0" marL="0">
              <a:buNone/>
            </a:pPr>
            <a:r>
              <a:rPr lang="en-US" sz="1900" b="1" dirty="0">
                <a:solidFill>
                  <a:srgbClr val="9A6B12"/>
                </a:solidFill>
                <a:latin typeface="Meiryo" pitchFamily="34" charset="0"/>
                <a:ea typeface="Meiryo" pitchFamily="34" charset="-122"/>
                <a:cs typeface="Meiryo" pitchFamily="34" charset="-120"/>
              </a:rPr>
              <a:t>P-1  見た目が「商品」に見えない</a:t>
            </a:r>
            <a:endParaRPr lang="en-US" sz="1900" dirty="0"/>
          </a:p>
        </p:txBody>
      </p:sp>
      <p:sp>
        <p:nvSpPr>
          <p:cNvPr id="7" name="Text 5"/>
          <p:cNvSpPr txBox="1"/>
          <p:nvPr/>
        </p:nvSpPr>
        <p:spPr>
          <a:xfrm>
            <a:off x="1005840" y="2212848"/>
            <a:ext cx="10424160" cy="548640"/>
          </a:xfrm>
          <a:prstGeom prst="rect">
            <a:avLst/>
          </a:prstGeom>
          <a:noFill/>
          <a:ln/>
        </p:spPr>
        <p:txBody>
          <a:bodyPr wrap="square" lIns="0" tIns="0" rIns="0" bIns="0" rtlCol="0" anchor="ctr"/>
          <a:lstStyle/>
          <a:p>
            <a:pPr indent="0" marL="0">
              <a:lnSpc>
                <a:spcPts val="1800"/>
              </a:lnSpc>
              <a:buNone/>
            </a:pPr>
            <a:r>
              <a:rPr lang="en-US" sz="1250" dirty="0">
                <a:solidFill>
                  <a:srgbClr val="9A6B12"/>
                </a:solidFill>
                <a:latin typeface="Meiryo" pitchFamily="34" charset="0"/>
                <a:ea typeface="Meiryo" pitchFamily="34" charset="-122"/>
                <a:cs typeface="Meiryo" pitchFamily="34" charset="-120"/>
              </a:rPr>
              <a:t>グラフィックはコード描画のシルエットのみ。中身が良くてもストアのスクリーンショットで選ばれない。</a:t>
            </a:r>
            <a:endParaRPr lang="en-US" sz="1250" dirty="0"/>
          </a:p>
          <a:p>
            <a:pPr indent="0" marL="0">
              <a:lnSpc>
                <a:spcPts val="1800"/>
              </a:lnSpc>
              <a:buNone/>
            </a:pPr>
            <a:r>
              <a:rPr lang="en-US" sz="1250" dirty="0">
                <a:solidFill>
                  <a:srgbClr val="9A6B12"/>
                </a:solidFill>
                <a:latin typeface="Meiryo" pitchFamily="34" charset="0"/>
                <a:ea typeface="Meiryo" pitchFamily="34" charset="-122"/>
                <a:cs typeface="Meiryo" pitchFamily="34" charset="-120"/>
              </a:rPr>
              <a:t>外注しない方針のため、内製で到達できる水準がそのまま商品性の上限になる。</a:t>
            </a:r>
            <a:endParaRPr lang="en-US" sz="1250" dirty="0"/>
          </a:p>
        </p:txBody>
      </p:sp>
      <p:sp>
        <p:nvSpPr>
          <p:cNvPr id="8" name="Text 6"/>
          <p:cNvSpPr txBox="1"/>
          <p:nvPr/>
        </p:nvSpPr>
        <p:spPr>
          <a:xfrm>
            <a:off x="1005840" y="2816352"/>
            <a:ext cx="10424160" cy="548640"/>
          </a:xfrm>
          <a:prstGeom prst="rect">
            <a:avLst/>
          </a:prstGeom>
          <a:noFill/>
          <a:ln/>
        </p:spPr>
        <p:txBody>
          <a:bodyPr wrap="square" lIns="0" tIns="0" rIns="0" bIns="0" rtlCol="0" anchor="ctr"/>
          <a:lstStyle/>
          <a:p>
            <a:pPr indent="0" marL="0">
              <a:lnSpc>
                <a:spcPts val="1800"/>
              </a:lnSpc>
              <a:buNone/>
            </a:pPr>
            <a:r>
              <a:rPr lang="en-US" sz="1200" b="1" dirty="0">
                <a:solidFill>
                  <a:srgbClr val="1A1A2E"/>
                </a:solidFill>
                <a:latin typeface="Meiryo" pitchFamily="34" charset="0"/>
                <a:ea typeface="Meiryo" pitchFamily="34" charset="-122"/>
                <a:cs typeface="Meiryo" pitchFamily="34" charset="-120"/>
              </a:rPr>
              <a:t>対応: </a:t>
            </a:r>
            <a:pPr indent="0" marL="0">
              <a:lnSpc>
                <a:spcPts val="1800"/>
              </a:lnSpc>
              <a:buNone/>
            </a:pPr>
            <a:r>
              <a:rPr lang="en-US" sz="1200" dirty="0">
                <a:solidFill>
                  <a:srgbClr val="1A1A2E"/>
                </a:solidFill>
                <a:latin typeface="Meiryo" pitchFamily="34" charset="0"/>
                <a:ea typeface="Meiryo" pitchFamily="34" charset="-122"/>
                <a:cs typeface="Meiryo" pitchFamily="34" charset="-120"/>
              </a:rPr>
              <a:t>コード描画を「作風」として設計し直す → Phase 2 で 1 画面ぶんの試作 → 外部の目で判定。届かなければ、商用利用可のアセット購入・部分外注・無料公開の継続へ方針転換する。</a:t>
            </a:r>
            <a:endParaRPr lang="en-US" sz="1200" dirty="0"/>
          </a:p>
        </p:txBody>
      </p:sp>
      <p:sp>
        <p:nvSpPr>
          <p:cNvPr id="9" name="Shape 7"/>
          <p:cNvSpPr/>
          <p:nvPr/>
        </p:nvSpPr>
        <p:spPr>
          <a:xfrm>
            <a:off x="640080" y="3703320"/>
            <a:ext cx="5318608" cy="2331720"/>
          </a:xfrm>
          <a:prstGeom prst="roundRect">
            <a:avLst>
              <a:gd name="adj" fmla="val 3137"/>
            </a:avLst>
          </a:prstGeom>
          <a:solidFill>
            <a:srgbClr val="F2F4F8"/>
          </a:solidFill>
          <a:ln/>
          <a:effectLst>
            <a:outerShdw sx="100000" sy="100000" kx="0" ky="0" algn="bl" rotWithShape="0" blurRad="101600" dist="12700" dir="5400000">
              <a:srgbClr val="9AA1B4">
                <a:alpha val="18000"/>
              </a:srgbClr>
            </a:outerShdw>
          </a:effectLst>
        </p:spPr>
      </p:sp>
      <p:sp>
        <p:nvSpPr>
          <p:cNvPr id="10" name="Text 8"/>
          <p:cNvSpPr txBox="1"/>
          <p:nvPr/>
        </p:nvSpPr>
        <p:spPr>
          <a:xfrm>
            <a:off x="932688" y="3913632"/>
            <a:ext cx="4769968" cy="320040"/>
          </a:xfrm>
          <a:prstGeom prst="rect">
            <a:avLst/>
          </a:prstGeom>
          <a:noFill/>
          <a:ln/>
        </p:spPr>
        <p:txBody>
          <a:bodyPr wrap="square" lIns="0" tIns="0" rIns="0" bIns="0" rtlCol="0" anchor="ctr"/>
          <a:lstStyle/>
          <a:p>
            <a:pPr indent="0" marL="0">
              <a:buNone/>
            </a:pPr>
            <a:r>
              <a:rPr lang="en-US" sz="1500" b="1" dirty="0">
                <a:solidFill>
                  <a:srgbClr val="1A1A2E"/>
                </a:solidFill>
                <a:latin typeface="Meiryo" pitchFamily="34" charset="0"/>
                <a:ea typeface="Meiryo" pitchFamily="34" charset="-122"/>
                <a:cs typeface="Meiryo" pitchFamily="34" charset="-120"/>
              </a:rPr>
              <a:t>プロダクト品質</a:t>
            </a:r>
            <a:endParaRPr lang="en-US" sz="1500" dirty="0"/>
          </a:p>
        </p:txBody>
      </p:sp>
      <p:sp>
        <p:nvSpPr>
          <p:cNvPr id="11" name="Text 9"/>
          <p:cNvSpPr txBox="1"/>
          <p:nvPr/>
        </p:nvSpPr>
        <p:spPr>
          <a:xfrm>
            <a:off x="932688" y="4370832"/>
            <a:ext cx="4751680" cy="1554480"/>
          </a:xfrm>
          <a:prstGeom prst="rect">
            <a:avLst/>
          </a:prstGeom>
          <a:noFill/>
          <a:ln/>
        </p:spPr>
        <p:txBody>
          <a:bodyPr wrap="square" lIns="0" tIns="0" rIns="0" bIns="0" rtlCol="0" anchor="t"/>
          <a:lstStyle/>
          <a:p>
            <a:pPr marL="342900" indent="-342900">
              <a:lnSpc>
                <a:spcPts val="1900"/>
              </a:lnSpc>
              <a:spcAft>
                <a:spcPts val="700"/>
              </a:spcAft>
              <a:buSzPct val="100000"/>
              <a:buChar char="▪"/>
            </a:pPr>
            <a:r>
              <a:rPr lang="en-US" sz="1150" dirty="0">
                <a:solidFill>
                  <a:srgbClr val="3C4257"/>
                </a:solidFill>
                <a:latin typeface="Meiryo" pitchFamily="34" charset="0"/>
                <a:ea typeface="Meiryo" pitchFamily="34" charset="-122"/>
                <a:cs typeface="Meiryo" pitchFamily="34" charset="-120"/>
              </a:rPr>
              <a:t>P-2 サウンドの厚み(曲数が足りない)</a:t>
            </a:r>
            <a:endParaRPr lang="en-US" sz="1150" dirty="0"/>
          </a:p>
          <a:p>
            <a:pPr marL="342900" indent="-342900">
              <a:lnSpc>
                <a:spcPts val="1900"/>
              </a:lnSpc>
              <a:spcAft>
                <a:spcPts val="700"/>
              </a:spcAft>
              <a:buSzPct val="100000"/>
              <a:buChar char="▪"/>
            </a:pPr>
            <a:r>
              <a:rPr lang="en-US" sz="1150" dirty="0">
                <a:solidFill>
                  <a:srgbClr val="3C4257"/>
                </a:solidFill>
                <a:latin typeface="Meiryo" pitchFamily="34" charset="0"/>
                <a:ea typeface="Meiryo" pitchFamily="34" charset="-122"/>
                <a:cs typeface="Meiryo" pitchFamily="34" charset="-120"/>
              </a:rPr>
              <a:t>P-3 チュートリアルがない ─ 有料では初回離脱に直結</a:t>
            </a:r>
            <a:endParaRPr lang="en-US" sz="1150" dirty="0"/>
          </a:p>
          <a:p>
            <a:pPr marL="342900" indent="-342900">
              <a:lnSpc>
                <a:spcPts val="1900"/>
              </a:lnSpc>
              <a:spcAft>
                <a:spcPts val="700"/>
              </a:spcAft>
              <a:buSzPct val="100000"/>
              <a:buChar char="▪"/>
            </a:pPr>
            <a:r>
              <a:rPr lang="en-US" sz="1150" dirty="0">
                <a:solidFill>
                  <a:srgbClr val="3C4257"/>
                </a:solidFill>
                <a:latin typeface="Meiryo" pitchFamily="34" charset="0"/>
                <a:ea typeface="Meiryo" pitchFamily="34" charset="-122"/>
                <a:cs typeface="Meiryo" pitchFamily="34" charset="-120"/>
              </a:rPr>
              <a:t>P-5 難易度が明示されていない</a:t>
            </a:r>
            <a:endParaRPr lang="en-US" sz="1150" dirty="0"/>
          </a:p>
          <a:p>
            <a:pPr marL="342900" indent="-342900">
              <a:lnSpc>
                <a:spcPts val="1900"/>
              </a:lnSpc>
              <a:spcAft>
                <a:spcPts val="700"/>
              </a:spcAft>
              <a:buSzPct val="100000"/>
              <a:buChar char="▪"/>
            </a:pPr>
            <a:r>
              <a:rPr lang="en-US" sz="1150" dirty="0">
                <a:solidFill>
                  <a:srgbClr val="3C4257"/>
                </a:solidFill>
                <a:latin typeface="Meiryo" pitchFamily="34" charset="0"/>
                <a:ea typeface="Meiryo" pitchFamily="34" charset="-122"/>
                <a:cs typeface="Meiryo" pitchFamily="34" charset="-120"/>
              </a:rPr>
              <a:t>P-7 日本語のみ ─ 海外市場を取りこぼす</a:t>
            </a:r>
            <a:endParaRPr lang="en-US" sz="1150" dirty="0"/>
          </a:p>
        </p:txBody>
      </p:sp>
      <p:sp>
        <p:nvSpPr>
          <p:cNvPr id="12" name="Shape 10"/>
          <p:cNvSpPr/>
          <p:nvPr/>
        </p:nvSpPr>
        <p:spPr>
          <a:xfrm>
            <a:off x="6233008" y="3703320"/>
            <a:ext cx="5318608" cy="2331720"/>
          </a:xfrm>
          <a:prstGeom prst="roundRect">
            <a:avLst>
              <a:gd name="adj" fmla="val 3137"/>
            </a:avLst>
          </a:prstGeom>
          <a:solidFill>
            <a:srgbClr val="F2F4F8"/>
          </a:solidFill>
          <a:ln/>
          <a:effectLst>
            <a:outerShdw sx="100000" sy="100000" kx="0" ky="0" algn="bl" rotWithShape="0" blurRad="101600" dist="12700" dir="5400000">
              <a:srgbClr val="9AA1B4">
                <a:alpha val="18000"/>
              </a:srgbClr>
            </a:outerShdw>
          </a:effectLst>
        </p:spPr>
      </p:sp>
      <p:sp>
        <p:nvSpPr>
          <p:cNvPr id="13" name="Text 11"/>
          <p:cNvSpPr txBox="1"/>
          <p:nvPr/>
        </p:nvSpPr>
        <p:spPr>
          <a:xfrm>
            <a:off x="6525616" y="3913632"/>
            <a:ext cx="4769968" cy="320040"/>
          </a:xfrm>
          <a:prstGeom prst="rect">
            <a:avLst/>
          </a:prstGeom>
          <a:noFill/>
          <a:ln/>
        </p:spPr>
        <p:txBody>
          <a:bodyPr wrap="square" lIns="0" tIns="0" rIns="0" bIns="0" rtlCol="0" anchor="ctr"/>
          <a:lstStyle/>
          <a:p>
            <a:pPr indent="0" marL="0">
              <a:buNone/>
            </a:pPr>
            <a:r>
              <a:rPr lang="en-US" sz="1500" b="1" dirty="0">
                <a:solidFill>
                  <a:srgbClr val="1A1A2E"/>
                </a:solidFill>
                <a:latin typeface="Meiryo" pitchFamily="34" charset="0"/>
                <a:ea typeface="Meiryo" pitchFamily="34" charset="-122"/>
                <a:cs typeface="Meiryo" pitchFamily="34" charset="-120"/>
              </a:rPr>
              <a:t>技術</a:t>
            </a:r>
            <a:endParaRPr lang="en-US" sz="1500" dirty="0"/>
          </a:p>
        </p:txBody>
      </p:sp>
      <p:sp>
        <p:nvSpPr>
          <p:cNvPr id="14" name="Text 12"/>
          <p:cNvSpPr txBox="1"/>
          <p:nvPr/>
        </p:nvSpPr>
        <p:spPr>
          <a:xfrm>
            <a:off x="6525616" y="4370832"/>
            <a:ext cx="4751680" cy="1554480"/>
          </a:xfrm>
          <a:prstGeom prst="rect">
            <a:avLst/>
          </a:prstGeom>
          <a:noFill/>
          <a:ln/>
        </p:spPr>
        <p:txBody>
          <a:bodyPr wrap="square" lIns="0" tIns="0" rIns="0" bIns="0" rtlCol="0" anchor="t"/>
          <a:lstStyle/>
          <a:p>
            <a:pPr marL="342900" indent="-342900">
              <a:lnSpc>
                <a:spcPts val="1900"/>
              </a:lnSpc>
              <a:spcAft>
                <a:spcPts val="700"/>
              </a:spcAft>
              <a:buSzPct val="100000"/>
              <a:buChar char="▪"/>
            </a:pPr>
            <a:r>
              <a:rPr lang="en-US" sz="1150" dirty="0">
                <a:solidFill>
                  <a:srgbClr val="3C4257"/>
                </a:solidFill>
                <a:latin typeface="Meiryo" pitchFamily="34" charset="0"/>
                <a:ea typeface="Meiryo" pitchFamily="34" charset="-122"/>
                <a:cs typeface="Meiryo" pitchFamily="34" charset="-120"/>
              </a:rPr>
              <a:t>T-1 セーブが localStorage・中断 1 件のみ ─ 有料ではクレーム直結</a:t>
            </a:r>
            <a:endParaRPr lang="en-US" sz="1150" dirty="0"/>
          </a:p>
          <a:p>
            <a:pPr marL="342900" indent="-342900">
              <a:lnSpc>
                <a:spcPts val="1900"/>
              </a:lnSpc>
              <a:spcAft>
                <a:spcPts val="700"/>
              </a:spcAft>
              <a:buSzPct val="100000"/>
              <a:buChar char="▪"/>
            </a:pPr>
            <a:r>
              <a:rPr lang="en-US" sz="1150" dirty="0">
                <a:solidFill>
                  <a:srgbClr val="3C4257"/>
                </a:solidFill>
                <a:latin typeface="Meiryo" pitchFamily="34" charset="0"/>
                <a:ea typeface="Meiryo" pitchFamily="34" charset="-122"/>
                <a:cs typeface="Meiryo" pitchFamily="34" charset="-120"/>
              </a:rPr>
              <a:t>T-2 Steam 配信にはデスクトップアプリ化が必要</a:t>
            </a:r>
            <a:endParaRPr lang="en-US" sz="1150" dirty="0"/>
          </a:p>
          <a:p>
            <a:pPr marL="342900" indent="-342900">
              <a:lnSpc>
                <a:spcPts val="1900"/>
              </a:lnSpc>
              <a:spcAft>
                <a:spcPts val="700"/>
              </a:spcAft>
              <a:buSzPct val="100000"/>
              <a:buChar char="▪"/>
            </a:pPr>
            <a:r>
              <a:rPr lang="en-US" sz="1150" dirty="0">
                <a:solidFill>
                  <a:srgbClr val="3C4257"/>
                </a:solidFill>
                <a:latin typeface="Meiryo" pitchFamily="34" charset="0"/>
                <a:ea typeface="Meiryo" pitchFamily="34" charset="-122"/>
                <a:cs typeface="Meiryo" pitchFamily="34" charset="-120"/>
              </a:rPr>
              <a:t>T-5 UI の自動テストがない(ロジックのみ 1,076 件)</a:t>
            </a:r>
            <a:endParaRPr lang="en-US" sz="1150" dirty="0"/>
          </a:p>
          <a:p>
            <a:pPr marL="342900" indent="-342900">
              <a:lnSpc>
                <a:spcPts val="1900"/>
              </a:lnSpc>
              <a:spcAft>
                <a:spcPts val="700"/>
              </a:spcAft>
              <a:buSzPct val="100000"/>
              <a:buChar char="▪"/>
            </a:pPr>
            <a:r>
              <a:rPr lang="en-US" sz="1150" dirty="0">
                <a:solidFill>
                  <a:srgbClr val="3C4257"/>
                </a:solidFill>
                <a:latin typeface="Meiryo" pitchFamily="34" charset="0"/>
                <a:ea typeface="Meiryo" pitchFamily="34" charset="-122"/>
                <a:cs typeface="Meiryo" pitchFamily="34" charset="-120"/>
              </a:rPr>
              <a:t>T-7 テストマップ削除の後始末(テストの共通フィクスチャ)</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146304" cy="146304"/>
          </a:xfrm>
          <a:prstGeom prst="rect">
            <a:avLst/>
          </a:prstGeom>
          <a:solidFill>
            <a:srgbClr val="AE2F2F"/>
          </a:solidFill>
          <a:ln/>
        </p:spPr>
      </p:sp>
      <p:sp>
        <p:nvSpPr>
          <p:cNvPr id="3" name="Text 1"/>
          <p:cNvSpPr txBox="1"/>
          <p:nvPr/>
        </p:nvSpPr>
        <p:spPr>
          <a:xfrm>
            <a:off x="896112" y="402336"/>
            <a:ext cx="8229600" cy="292608"/>
          </a:xfrm>
          <a:prstGeom prst="rect">
            <a:avLst/>
          </a:prstGeom>
          <a:noFill/>
          <a:ln/>
        </p:spPr>
        <p:txBody>
          <a:bodyPr wrap="square" lIns="0" tIns="0" rIns="0" bIns="0" rtlCol="0" anchor="ctr"/>
          <a:lstStyle/>
          <a:p>
            <a:pPr indent="0" marL="0">
              <a:buNone/>
            </a:pPr>
            <a:r>
              <a:rPr lang="en-US" sz="1200" b="1" spc="140" kern="0" dirty="0">
                <a:solidFill>
                  <a:srgbClr val="AE2F2F"/>
                </a:solidFill>
                <a:latin typeface="Meiryo" pitchFamily="34" charset="0"/>
                <a:ea typeface="Meiryo" pitchFamily="34" charset="-122"/>
                <a:cs typeface="Meiryo" pitchFamily="34" charset="-120"/>
              </a:rPr>
              <a:t>3-3  課題</a:t>
            </a:r>
            <a:endParaRPr lang="en-US" sz="1200" dirty="0"/>
          </a:p>
        </p:txBody>
      </p:sp>
      <p:sp>
        <p:nvSpPr>
          <p:cNvPr id="4" name="Text 2"/>
          <p:cNvSpPr txBox="1"/>
          <p:nvPr/>
        </p:nvSpPr>
        <p:spPr>
          <a:xfrm>
            <a:off x="640080" y="749808"/>
            <a:ext cx="10911535" cy="658368"/>
          </a:xfrm>
          <a:prstGeom prst="rect">
            <a:avLst/>
          </a:prstGeom>
          <a:noFill/>
          <a:ln/>
        </p:spPr>
        <p:txBody>
          <a:bodyPr wrap="square" lIns="0" tIns="0" rIns="0" bIns="0" rtlCol="0" anchor="ctr"/>
          <a:lstStyle/>
          <a:p>
            <a:pPr indent="0" marL="0">
              <a:buNone/>
            </a:pPr>
            <a:r>
              <a:rPr lang="en-US" sz="3000" b="1" dirty="0">
                <a:solidFill>
                  <a:srgbClr val="1A1A2E"/>
                </a:solidFill>
                <a:latin typeface="Meiryo" pitchFamily="34" charset="0"/>
                <a:ea typeface="Meiryo" pitchFamily="34" charset="-122"/>
                <a:cs typeface="Meiryo" pitchFamily="34" charset="-120"/>
              </a:rPr>
              <a:t>事業・体制と主要リスク</a:t>
            </a:r>
            <a:endParaRPr lang="en-US" sz="3000" dirty="0"/>
          </a:p>
        </p:txBody>
      </p:sp>
      <p:sp>
        <p:nvSpPr>
          <p:cNvPr id="5" name="Shape 3"/>
          <p:cNvSpPr/>
          <p:nvPr/>
        </p:nvSpPr>
        <p:spPr>
          <a:xfrm>
            <a:off x="640080" y="1572768"/>
            <a:ext cx="5318608" cy="2148840"/>
          </a:xfrm>
          <a:prstGeom prst="roundRect">
            <a:avLst>
              <a:gd name="adj" fmla="val 3404"/>
            </a:avLst>
          </a:prstGeom>
          <a:solidFill>
            <a:srgbClr val="F2F4F8"/>
          </a:solidFill>
          <a:ln/>
          <a:effectLst>
            <a:outerShdw sx="100000" sy="100000" kx="0" ky="0" algn="bl" rotWithShape="0" blurRad="101600" dist="12700" dir="5400000">
              <a:srgbClr val="9AA1B4">
                <a:alpha val="18000"/>
              </a:srgbClr>
            </a:outerShdw>
          </a:effectLst>
        </p:spPr>
      </p:sp>
      <p:sp>
        <p:nvSpPr>
          <p:cNvPr id="6" name="Text 4"/>
          <p:cNvSpPr txBox="1"/>
          <p:nvPr/>
        </p:nvSpPr>
        <p:spPr>
          <a:xfrm>
            <a:off x="932688" y="1755648"/>
            <a:ext cx="4769968" cy="320040"/>
          </a:xfrm>
          <a:prstGeom prst="rect">
            <a:avLst/>
          </a:prstGeom>
          <a:noFill/>
          <a:ln/>
        </p:spPr>
        <p:txBody>
          <a:bodyPr wrap="square" lIns="0" tIns="0" rIns="0" bIns="0" rtlCol="0" anchor="ctr"/>
          <a:lstStyle/>
          <a:p>
            <a:pPr indent="0" marL="0">
              <a:buNone/>
            </a:pPr>
            <a:r>
              <a:rPr lang="en-US" sz="1500" b="1" dirty="0">
                <a:solidFill>
                  <a:srgbClr val="1A1A2E"/>
                </a:solidFill>
                <a:latin typeface="Meiryo" pitchFamily="34" charset="0"/>
                <a:ea typeface="Meiryo" pitchFamily="34" charset="-122"/>
                <a:cs typeface="Meiryo" pitchFamily="34" charset="-120"/>
              </a:rPr>
              <a:t>事業・運営</a:t>
            </a:r>
            <a:endParaRPr lang="en-US" sz="1500" dirty="0"/>
          </a:p>
        </p:txBody>
      </p:sp>
      <p:sp>
        <p:nvSpPr>
          <p:cNvPr id="7" name="Text 5"/>
          <p:cNvSpPr txBox="1"/>
          <p:nvPr/>
        </p:nvSpPr>
        <p:spPr>
          <a:xfrm>
            <a:off x="932688" y="2212848"/>
            <a:ext cx="4751680" cy="1463040"/>
          </a:xfrm>
          <a:prstGeom prst="rect">
            <a:avLst/>
          </a:prstGeom>
          <a:noFill/>
          <a:ln/>
        </p:spPr>
        <p:txBody>
          <a:bodyPr wrap="square" lIns="0" tIns="0" rIns="0" bIns="0" rtlCol="0" anchor="t"/>
          <a:lstStyle/>
          <a:p>
            <a:pPr marL="342900" indent="-342900">
              <a:lnSpc>
                <a:spcPts val="1900"/>
              </a:lnSpc>
              <a:spcAft>
                <a:spcPts val="700"/>
              </a:spcAft>
              <a:buSzPct val="100000"/>
              <a:buChar char="▪"/>
            </a:pPr>
            <a:r>
              <a:rPr lang="en-US" sz="1150" dirty="0">
                <a:solidFill>
                  <a:srgbClr val="3C4257"/>
                </a:solidFill>
                <a:latin typeface="Meiryo" pitchFamily="34" charset="0"/>
                <a:ea typeface="Meiryo" pitchFamily="34" charset="-122"/>
                <a:cs typeface="Meiryo" pitchFamily="34" charset="-120"/>
              </a:rPr>
              <a:t>B-1 収益の不確実性が大きい</a:t>
            </a:r>
            <a:endParaRPr lang="en-US" sz="1150" dirty="0"/>
          </a:p>
          <a:p>
            <a:pPr marL="342900" indent="-342900">
              <a:lnSpc>
                <a:spcPts val="1900"/>
              </a:lnSpc>
              <a:spcAft>
                <a:spcPts val="700"/>
              </a:spcAft>
              <a:buSzPct val="100000"/>
              <a:buChar char="▪"/>
            </a:pPr>
            <a:r>
              <a:rPr lang="en-US" sz="1150" dirty="0">
                <a:solidFill>
                  <a:srgbClr val="3C4257"/>
                </a:solidFill>
                <a:latin typeface="Meiryo" pitchFamily="34" charset="0"/>
                <a:ea typeface="Meiryo" pitchFamily="34" charset="-122"/>
                <a:cs typeface="Meiryo" pitchFamily="34" charset="-120"/>
              </a:rPr>
              <a:t>B-2 販促の担い手・工数が未定(売上を左右する)</a:t>
            </a:r>
            <a:endParaRPr lang="en-US" sz="1150" dirty="0"/>
          </a:p>
          <a:p>
            <a:pPr marL="342900" indent="-342900">
              <a:lnSpc>
                <a:spcPts val="1900"/>
              </a:lnSpc>
              <a:spcAft>
                <a:spcPts val="700"/>
              </a:spcAft>
              <a:buSzPct val="100000"/>
              <a:buChar char="▪"/>
            </a:pPr>
            <a:r>
              <a:rPr lang="en-US" sz="1150" dirty="0">
                <a:solidFill>
                  <a:srgbClr val="3C4257"/>
                </a:solidFill>
                <a:latin typeface="Meiryo" pitchFamily="34" charset="0"/>
                <a:ea typeface="Meiryo" pitchFamily="34" charset="-122"/>
                <a:cs typeface="Meiryo" pitchFamily="34" charset="-120"/>
              </a:rPr>
              <a:t>B-3 発売後の問い合わせ・返金対応の運用が未定</a:t>
            </a:r>
            <a:endParaRPr lang="en-US" sz="1150" dirty="0"/>
          </a:p>
          <a:p>
            <a:pPr marL="342900" indent="-342900">
              <a:lnSpc>
                <a:spcPts val="1900"/>
              </a:lnSpc>
              <a:spcAft>
                <a:spcPts val="700"/>
              </a:spcAft>
              <a:buSzPct val="100000"/>
              <a:buChar char="▪"/>
            </a:pPr>
            <a:r>
              <a:rPr lang="en-US" sz="1150" dirty="0">
                <a:solidFill>
                  <a:srgbClr val="3C4257"/>
                </a:solidFill>
                <a:latin typeface="Meiryo" pitchFamily="34" charset="0"/>
                <a:ea typeface="Meiryo" pitchFamily="34" charset="-122"/>
                <a:cs typeface="Meiryo" pitchFamily="34" charset="-120"/>
              </a:rPr>
              <a:t>B-4 販売主体(法人/個人)により経理・税務が変わる</a:t>
            </a:r>
            <a:endParaRPr lang="en-US" sz="1150" dirty="0"/>
          </a:p>
        </p:txBody>
      </p:sp>
      <p:sp>
        <p:nvSpPr>
          <p:cNvPr id="8" name="Shape 6"/>
          <p:cNvSpPr/>
          <p:nvPr/>
        </p:nvSpPr>
        <p:spPr>
          <a:xfrm>
            <a:off x="6233008" y="1572768"/>
            <a:ext cx="5318608" cy="2148840"/>
          </a:xfrm>
          <a:prstGeom prst="roundRect">
            <a:avLst>
              <a:gd name="adj" fmla="val 3404"/>
            </a:avLst>
          </a:prstGeom>
          <a:solidFill>
            <a:srgbClr val="F2F4F8"/>
          </a:solidFill>
          <a:ln/>
          <a:effectLst>
            <a:outerShdw sx="100000" sy="100000" kx="0" ky="0" algn="bl" rotWithShape="0" blurRad="101600" dist="12700" dir="5400000">
              <a:srgbClr val="9AA1B4">
                <a:alpha val="18000"/>
              </a:srgbClr>
            </a:outerShdw>
          </a:effectLst>
        </p:spPr>
      </p:sp>
      <p:sp>
        <p:nvSpPr>
          <p:cNvPr id="9" name="Text 7"/>
          <p:cNvSpPr txBox="1"/>
          <p:nvPr/>
        </p:nvSpPr>
        <p:spPr>
          <a:xfrm>
            <a:off x="6525616" y="1755648"/>
            <a:ext cx="4769968" cy="320040"/>
          </a:xfrm>
          <a:prstGeom prst="rect">
            <a:avLst/>
          </a:prstGeom>
          <a:noFill/>
          <a:ln/>
        </p:spPr>
        <p:txBody>
          <a:bodyPr wrap="square" lIns="0" tIns="0" rIns="0" bIns="0" rtlCol="0" anchor="ctr"/>
          <a:lstStyle/>
          <a:p>
            <a:pPr indent="0" marL="0">
              <a:buNone/>
            </a:pPr>
            <a:r>
              <a:rPr lang="en-US" sz="1500" b="1" dirty="0">
                <a:solidFill>
                  <a:srgbClr val="1A1A2E"/>
                </a:solidFill>
                <a:latin typeface="Meiryo" pitchFamily="34" charset="0"/>
                <a:ea typeface="Meiryo" pitchFamily="34" charset="-122"/>
                <a:cs typeface="Meiryo" pitchFamily="34" charset="-120"/>
              </a:rPr>
              <a:t>体制(個人体制を継続する前提)</a:t>
            </a:r>
            <a:endParaRPr lang="en-US" sz="1500" dirty="0"/>
          </a:p>
        </p:txBody>
      </p:sp>
      <p:sp>
        <p:nvSpPr>
          <p:cNvPr id="10" name="Text 8"/>
          <p:cNvSpPr txBox="1"/>
          <p:nvPr/>
        </p:nvSpPr>
        <p:spPr>
          <a:xfrm>
            <a:off x="6525616" y="2212848"/>
            <a:ext cx="4751680" cy="1463040"/>
          </a:xfrm>
          <a:prstGeom prst="rect">
            <a:avLst/>
          </a:prstGeom>
          <a:noFill/>
          <a:ln/>
        </p:spPr>
        <p:txBody>
          <a:bodyPr wrap="square" lIns="0" tIns="0" rIns="0" bIns="0" rtlCol="0" anchor="t"/>
          <a:lstStyle/>
          <a:p>
            <a:pPr marL="342900" indent="-342900">
              <a:lnSpc>
                <a:spcPts val="1900"/>
              </a:lnSpc>
              <a:spcAft>
                <a:spcPts val="700"/>
              </a:spcAft>
              <a:buSzPct val="100000"/>
              <a:buChar char="▪"/>
            </a:pPr>
            <a:r>
              <a:rPr lang="en-US" sz="1150" dirty="0">
                <a:solidFill>
                  <a:srgbClr val="3C4257"/>
                </a:solidFill>
                <a:latin typeface="Meiryo" pitchFamily="34" charset="0"/>
                <a:ea typeface="Meiryo" pitchFamily="34" charset="-122"/>
                <a:cs typeface="Meiryo" pitchFamily="34" charset="-120"/>
              </a:rPr>
              <a:t>O-2 6〜8 人月を暦 9 か月に収める ─ 遅れは即スコープ削減</a:t>
            </a:r>
            <a:endParaRPr lang="en-US" sz="1150" dirty="0"/>
          </a:p>
          <a:p>
            <a:pPr marL="342900" indent="-342900">
              <a:lnSpc>
                <a:spcPts val="1900"/>
              </a:lnSpc>
              <a:spcAft>
                <a:spcPts val="700"/>
              </a:spcAft>
              <a:buSzPct val="100000"/>
              <a:buChar char="▪"/>
            </a:pPr>
            <a:r>
              <a:rPr lang="en-US" sz="1150" dirty="0">
                <a:solidFill>
                  <a:srgbClr val="3C4257"/>
                </a:solidFill>
                <a:latin typeface="Meiryo" pitchFamily="34" charset="0"/>
                <a:ea typeface="Meiryo" pitchFamily="34" charset="-122"/>
                <a:cs typeface="Meiryo" pitchFamily="34" charset="-120"/>
              </a:rPr>
              <a:t>O-3 企画・実装・絵・音・販促を 1 名で担う(絵と販促は未経験)</a:t>
            </a:r>
            <a:endParaRPr lang="en-US" sz="1150" dirty="0"/>
          </a:p>
          <a:p>
            <a:pPr marL="342900" indent="-342900">
              <a:lnSpc>
                <a:spcPts val="1900"/>
              </a:lnSpc>
              <a:spcAft>
                <a:spcPts val="700"/>
              </a:spcAft>
              <a:buSzPct val="100000"/>
              <a:buChar char="▪"/>
            </a:pPr>
            <a:r>
              <a:rPr lang="en-US" sz="1150" dirty="0">
                <a:solidFill>
                  <a:srgbClr val="3C4257"/>
                </a:solidFill>
                <a:latin typeface="Meiryo" pitchFamily="34" charset="0"/>
                <a:ea typeface="Meiryo" pitchFamily="34" charset="-122"/>
                <a:cs typeface="Meiryo" pitchFamily="34" charset="-120"/>
              </a:rPr>
              <a:t>O-4 品質を身内の目でしか測れない → 社外テスターで判定</a:t>
            </a:r>
            <a:endParaRPr lang="en-US" sz="11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40080" y="3931920"/>
          <a:ext cx="10911535" cy="914400"/>
        </p:xfrm>
        <a:graphic>
          <a:graphicData uri="http://schemas.openxmlformats.org/drawingml/2006/table">
            <a:tbl>
              <a:tblPr/>
              <a:tblGrid>
                <a:gridCol w="3840480"/>
                <a:gridCol w="685800"/>
                <a:gridCol w="777240"/>
                <a:gridCol w="5605272"/>
              </a:tblGrid>
              <a:tr h="329184">
                <a:tc>
                  <a:txBody>
                    <a:bodyPr/>
                    <a:lstStyle/>
                    <a:p>
                      <a:pPr indent="0" marL="0">
                        <a:buNone/>
                      </a:pPr>
                      <a:r>
                        <a:rPr lang="en-US" sz="1150" b="1" dirty="0">
                          <a:solidFill>
                            <a:srgbClr val="FFFFFF"/>
                          </a:solidFill>
                          <a:latin typeface="Meiryo" pitchFamily="34" charset="0"/>
                          <a:ea typeface="Meiryo" pitchFamily="34" charset="-122"/>
                          <a:cs typeface="Meiryo" pitchFamily="34" charset="-120"/>
                        </a:rPr>
                        <a:t>リスク</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1A1A2E"/>
                    </a:solidFill>
                  </a:tcPr>
                </a:tc>
                <a:tc>
                  <a:txBody>
                    <a:bodyPr/>
                    <a:lstStyle/>
                    <a:p>
                      <a:pPr indent="0" marL="0">
                        <a:buNone/>
                      </a:pPr>
                      <a:r>
                        <a:rPr lang="en-US" sz="1150" b="1" dirty="0">
                          <a:solidFill>
                            <a:srgbClr val="FFFFFF"/>
                          </a:solidFill>
                          <a:latin typeface="Meiryo" pitchFamily="34" charset="0"/>
                          <a:ea typeface="Meiryo" pitchFamily="34" charset="-122"/>
                          <a:cs typeface="Meiryo" pitchFamily="34" charset="-120"/>
                        </a:rPr>
                        <a:t>影響</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1A1A2E"/>
                    </a:solidFill>
                  </a:tcPr>
                </a:tc>
                <a:tc>
                  <a:txBody>
                    <a:bodyPr/>
                    <a:lstStyle/>
                    <a:p>
                      <a:pPr indent="0" marL="0">
                        <a:buNone/>
                      </a:pPr>
                      <a:r>
                        <a:rPr lang="en-US" sz="1150" b="1" dirty="0">
                          <a:solidFill>
                            <a:srgbClr val="FFFFFF"/>
                          </a:solidFill>
                          <a:latin typeface="Meiryo" pitchFamily="34" charset="0"/>
                          <a:ea typeface="Meiryo" pitchFamily="34" charset="-122"/>
                          <a:cs typeface="Meiryo" pitchFamily="34" charset="-120"/>
                        </a:rPr>
                        <a:t>可能性</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1A1A2E"/>
                    </a:solidFill>
                  </a:tcPr>
                </a:tc>
                <a:tc>
                  <a:txBody>
                    <a:bodyPr/>
                    <a:lstStyle/>
                    <a:p>
                      <a:pPr indent="0" marL="0">
                        <a:buNone/>
                      </a:pPr>
                      <a:r>
                        <a:rPr lang="en-US" sz="1150" b="1" dirty="0">
                          <a:solidFill>
                            <a:srgbClr val="FFFFFF"/>
                          </a:solidFill>
                          <a:latin typeface="Meiryo" pitchFamily="34" charset="0"/>
                          <a:ea typeface="Meiryo" pitchFamily="34" charset="-122"/>
                          <a:cs typeface="Meiryo" pitchFamily="34" charset="-120"/>
                        </a:rPr>
                        <a:t>対策</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1A1A2E"/>
                    </a:solidFill>
                  </a:tcPr>
                </a:tc>
              </a:tr>
              <a:tr h="548640">
                <a:tc>
                  <a:txBody>
                    <a:bodyPr/>
                    <a:lstStyle/>
                    <a:p>
                      <a:pPr indent="0" marL="0">
                        <a:buNone/>
                      </a:pPr>
                      <a:r>
                        <a:rPr lang="en-US" sz="1150" dirty="0">
                          <a:solidFill>
                            <a:srgbClr val="3C4257"/>
                          </a:solidFill>
                          <a:latin typeface="Meiryo" pitchFamily="34" charset="0"/>
                          <a:ea typeface="Meiryo" pitchFamily="34" charset="-122"/>
                          <a:cs typeface="Meiryo" pitchFamily="34" charset="-120"/>
                        </a:rPr>
                        <a:t>内製アートが有料商品の水準に届かない</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Meiryo" pitchFamily="34" charset="0"/>
                          <a:ea typeface="Meiryo" pitchFamily="34" charset="-122"/>
                          <a:cs typeface="Meiryo" pitchFamily="34" charset="-120"/>
                        </a:rPr>
                        <a:t>大</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Meiryo" pitchFamily="34" charset="0"/>
                          <a:ea typeface="Meiryo" pitchFamily="34" charset="-122"/>
                          <a:cs typeface="Meiryo" pitchFamily="34" charset="-120"/>
                        </a:rPr>
                        <a:t>中</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Meiryo" pitchFamily="34" charset="0"/>
                          <a:ea typeface="Meiryo" pitchFamily="34" charset="-122"/>
                          <a:cs typeface="Meiryo" pitchFamily="34" charset="-120"/>
                        </a:rPr>
                        <a:t>Phase 2 の試作で早期に判定。届かなければアセット購入・部分外注・無料公開の継続へ</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FFFFFF"/>
                    </a:solidFill>
                  </a:tcPr>
                </a:tc>
              </a:tr>
              <a:tr h="420624">
                <a:tc>
                  <a:txBody>
                    <a:bodyPr/>
                    <a:lstStyle/>
                    <a:p>
                      <a:pPr indent="0" marL="0">
                        <a:buNone/>
                      </a:pPr>
                      <a:r>
                        <a:rPr lang="en-US" sz="1150" dirty="0">
                          <a:solidFill>
                            <a:srgbClr val="3C4257"/>
                          </a:solidFill>
                          <a:latin typeface="Meiryo" pitchFamily="34" charset="0"/>
                          <a:ea typeface="Meiryo" pitchFamily="34" charset="-122"/>
                          <a:cs typeface="Meiryo" pitchFamily="34" charset="-120"/>
                        </a:rPr>
                        <a:t>IP の権利帰属が決まらず着手できない</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Meiryo" pitchFamily="34" charset="0"/>
                          <a:ea typeface="Meiryo" pitchFamily="34" charset="-122"/>
                          <a:cs typeface="Meiryo" pitchFamily="34" charset="-120"/>
                        </a:rPr>
                        <a:t>大</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Meiryo" pitchFamily="34" charset="0"/>
                          <a:ea typeface="Meiryo" pitchFamily="34" charset="-122"/>
                          <a:cs typeface="Meiryo" pitchFamily="34" charset="-120"/>
                        </a:rPr>
                        <a:t>中</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Meiryo" pitchFamily="34" charset="0"/>
                          <a:ea typeface="Meiryo" pitchFamily="34" charset="-122"/>
                          <a:cs typeface="Meiryo" pitchFamily="34" charset="-120"/>
                        </a:rPr>
                        <a:t>他の作業に先行して決着させる</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FFFFFF"/>
                    </a:solidFill>
                  </a:tcPr>
                </a:tc>
              </a:tr>
              <a:tr h="420624">
                <a:tc>
                  <a:txBody>
                    <a:bodyPr/>
                    <a:lstStyle/>
                    <a:p>
                      <a:pPr indent="0" marL="0">
                        <a:buNone/>
                      </a:pPr>
                      <a:r>
                        <a:rPr lang="en-US" sz="1150" dirty="0">
                          <a:solidFill>
                            <a:srgbClr val="3C4257"/>
                          </a:solidFill>
                          <a:latin typeface="Meiryo" pitchFamily="34" charset="0"/>
                          <a:ea typeface="Meiryo" pitchFamily="34" charset="-122"/>
                          <a:cs typeface="Meiryo" pitchFamily="34" charset="-120"/>
                        </a:rPr>
                        <a:t>9 か月に収まらずスコープを削ることになる</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Meiryo" pitchFamily="34" charset="0"/>
                          <a:ea typeface="Meiryo" pitchFamily="34" charset="-122"/>
                          <a:cs typeface="Meiryo" pitchFamily="34" charset="-120"/>
                        </a:rPr>
                        <a:t>中</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Meiryo" pitchFamily="34" charset="0"/>
                          <a:ea typeface="Meiryo" pitchFamily="34" charset="-122"/>
                          <a:cs typeface="Meiryo" pitchFamily="34" charset="-120"/>
                        </a:rPr>
                        <a:t>中</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Meiryo" pitchFamily="34" charset="0"/>
                          <a:ea typeface="Meiryo" pitchFamily="34" charset="-122"/>
                          <a:cs typeface="Meiryo" pitchFamily="34" charset="-120"/>
                        </a:rPr>
                        <a:t>削る順番を先に決めてある。Must は削らない</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FFFFFF"/>
                    </a:solidFill>
                  </a:tcPr>
                </a:tc>
              </a:tr>
              <a:tr h="420624">
                <a:tc>
                  <a:txBody>
                    <a:bodyPr/>
                    <a:lstStyle/>
                    <a:p>
                      <a:pPr indent="0" marL="0">
                        <a:buNone/>
                      </a:pPr>
                      <a:r>
                        <a:rPr lang="en-US" sz="1150" dirty="0">
                          <a:solidFill>
                            <a:srgbClr val="3C4257"/>
                          </a:solidFill>
                          <a:latin typeface="Meiryo" pitchFamily="34" charset="0"/>
                          <a:ea typeface="Meiryo" pitchFamily="34" charset="-122"/>
                          <a:cs typeface="Meiryo" pitchFamily="34" charset="-120"/>
                        </a:rPr>
                        <a:t>売上が悲観シナリオを下回る</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Meiryo" pitchFamily="34" charset="0"/>
                          <a:ea typeface="Meiryo" pitchFamily="34" charset="-122"/>
                          <a:cs typeface="Meiryo" pitchFamily="34" charset="-120"/>
                        </a:rPr>
                        <a:t>中</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Meiryo" pitchFamily="34" charset="0"/>
                          <a:ea typeface="Meiryo" pitchFamily="34" charset="-122"/>
                          <a:cs typeface="Meiryo" pitchFamily="34" charset="-120"/>
                        </a:rPr>
                        <a:t>中</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Meiryo" pitchFamily="34" charset="0"/>
                          <a:ea typeface="Meiryo" pitchFamily="34" charset="-122"/>
                          <a:cs typeface="Meiryo" pitchFamily="34" charset="-120"/>
                        </a:rPr>
                        <a:t>金銭的損失は実費のみ。段階ゲートで早期に撤退できる</a:t>
                      </a:r>
                      <a:endParaRPr lang="en-US" sz="1150" dirty="0">
                        <a:latin typeface="Meiryo" charset="0"/>
                        <a:ea typeface="Meiryo" charset="0"/>
                        <a:cs typeface="Meiryo" charset="0"/>
                      </a:endParaRPr>
                    </a:p>
                  </a:txBody>
                  <a:tcPr marL="73152" marR="73152" marT="73152" marB="73152" anchor="ctr">
                    <a:lnL w="12700" cap="flat" cmpd="sng" algn="ctr">
                      <a:solidFill>
                        <a:srgbClr val="DCE0E9"/>
                      </a:solidFill>
                      <a:prstDash val="solid"/>
                      <a:round/>
                      <a:headEnd type="none" w="med" len="med"/>
                      <a:tailEnd type="none" w="med" len="med"/>
                    </a:lnL>
                    <a:lnR w="12700" cap="flat" cmpd="sng" algn="ctr">
                      <a:solidFill>
                        <a:srgbClr val="DCE0E9"/>
                      </a:solidFill>
                      <a:prstDash val="solid"/>
                      <a:round/>
                      <a:headEnd type="none" w="med" len="med"/>
                      <a:tailEnd type="none" w="med" len="med"/>
                    </a:lnR>
                    <a:lnT w="12700" cap="flat" cmpd="sng" algn="ctr">
                      <a:solidFill>
                        <a:srgbClr val="DCE0E9"/>
                      </a:solidFill>
                      <a:prstDash val="solid"/>
                      <a:round/>
                      <a:headEnd type="none" w="med" len="med"/>
                      <a:tailEnd type="none" w="med" len="med"/>
                    </a:lnT>
                    <a:lnB w="12700" cap="flat" cmpd="sng" algn="ctr">
                      <a:solidFill>
                        <a:srgbClr val="DCE0E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640080" y="475488"/>
            <a:ext cx="146304" cy="146304"/>
          </a:xfrm>
          <a:prstGeom prst="rect">
            <a:avLst/>
          </a:prstGeom>
          <a:solidFill>
            <a:srgbClr val="FFD479"/>
          </a:solidFill>
          <a:ln/>
        </p:spPr>
      </p:sp>
      <p:sp>
        <p:nvSpPr>
          <p:cNvPr id="3" name="Text 1"/>
          <p:cNvSpPr txBox="1"/>
          <p:nvPr/>
        </p:nvSpPr>
        <p:spPr>
          <a:xfrm>
            <a:off x="896112" y="402336"/>
            <a:ext cx="5486400" cy="292608"/>
          </a:xfrm>
          <a:prstGeom prst="rect">
            <a:avLst/>
          </a:prstGeom>
          <a:noFill/>
          <a:ln/>
        </p:spPr>
        <p:txBody>
          <a:bodyPr wrap="square" lIns="0" tIns="0" rIns="0" bIns="0" rtlCol="0" anchor="ctr"/>
          <a:lstStyle/>
          <a:p>
            <a:pPr indent="0" marL="0">
              <a:buNone/>
            </a:pPr>
            <a:r>
              <a:rPr lang="en-US" sz="1200" b="1" spc="140" kern="0" dirty="0">
                <a:solidFill>
                  <a:srgbClr val="FFD479"/>
                </a:solidFill>
                <a:latin typeface="Meiryo" pitchFamily="34" charset="0"/>
                <a:ea typeface="Meiryo" pitchFamily="34" charset="-122"/>
                <a:cs typeface="Meiryo" pitchFamily="34" charset="-120"/>
              </a:rPr>
              <a:t>DECISION</a:t>
            </a:r>
            <a:endParaRPr lang="en-US" sz="1200" dirty="0"/>
          </a:p>
        </p:txBody>
      </p:sp>
      <p:sp>
        <p:nvSpPr>
          <p:cNvPr id="4" name="Text 2"/>
          <p:cNvSpPr txBox="1"/>
          <p:nvPr/>
        </p:nvSpPr>
        <p:spPr>
          <a:xfrm>
            <a:off x="640080" y="749808"/>
            <a:ext cx="9144000" cy="640080"/>
          </a:xfrm>
          <a:prstGeom prst="rect">
            <a:avLst/>
          </a:prstGeom>
          <a:noFill/>
          <a:ln/>
        </p:spPr>
        <p:txBody>
          <a:bodyPr wrap="square" lIns="0" tIns="0" rIns="0" bIns="0" rtlCol="0" anchor="ctr"/>
          <a:lstStyle/>
          <a:p>
            <a:pPr indent="0" marL="0">
              <a:buNone/>
            </a:pPr>
            <a:r>
              <a:rPr lang="en-US" sz="3000" b="1" dirty="0">
                <a:solidFill>
                  <a:srgbClr val="FFFFFF"/>
                </a:solidFill>
                <a:latin typeface="Meiryo" pitchFamily="34" charset="0"/>
                <a:ea typeface="Meiryo" pitchFamily="34" charset="-122"/>
                <a:cs typeface="Meiryo" pitchFamily="34" charset="-120"/>
              </a:rPr>
              <a:t>ご判断・ご相談したいこと</a:t>
            </a:r>
            <a:endParaRPr lang="en-US" sz="3000" dirty="0"/>
          </a:p>
        </p:txBody>
      </p:sp>
      <p:sp>
        <p:nvSpPr>
          <p:cNvPr id="5" name="Shape 3"/>
          <p:cNvSpPr/>
          <p:nvPr/>
        </p:nvSpPr>
        <p:spPr>
          <a:xfrm>
            <a:off x="640080" y="1600200"/>
            <a:ext cx="5318608" cy="1024128"/>
          </a:xfrm>
          <a:prstGeom prst="roundRect">
            <a:avLst>
              <a:gd name="adj" fmla="val 5357"/>
            </a:avLst>
          </a:prstGeom>
          <a:solidFill>
            <a:srgbClr val="25253F"/>
          </a:solidFill>
          <a:ln/>
        </p:spPr>
      </p:sp>
      <p:sp>
        <p:nvSpPr>
          <p:cNvPr id="6" name="Text 4"/>
          <p:cNvSpPr txBox="1"/>
          <p:nvPr/>
        </p:nvSpPr>
        <p:spPr>
          <a:xfrm>
            <a:off x="914400" y="1874520"/>
            <a:ext cx="457200" cy="457200"/>
          </a:xfrm>
          <a:prstGeom prst="rect">
            <a:avLst/>
          </a:prstGeom>
          <a:noFill/>
          <a:ln/>
        </p:spPr>
        <p:txBody>
          <a:bodyPr wrap="square" lIns="0" tIns="0" rIns="0" bIns="0" rtlCol="0" anchor="ctr"/>
          <a:lstStyle/>
          <a:p>
            <a:pPr indent="0" marL="0">
              <a:buNone/>
            </a:pPr>
            <a:r>
              <a:rPr lang="en-US" sz="2400" b="1" dirty="0">
                <a:solidFill>
                  <a:srgbClr val="FFD479"/>
                </a:solidFill>
                <a:latin typeface="Meiryo" pitchFamily="34" charset="0"/>
                <a:ea typeface="Meiryo" pitchFamily="34" charset="-122"/>
                <a:cs typeface="Meiryo" pitchFamily="34" charset="-120"/>
              </a:rPr>
              <a:t>1</a:t>
            </a:r>
            <a:endParaRPr lang="en-US" sz="2400" dirty="0"/>
          </a:p>
        </p:txBody>
      </p:sp>
      <p:sp>
        <p:nvSpPr>
          <p:cNvPr id="7" name="Text 5"/>
          <p:cNvSpPr txBox="1"/>
          <p:nvPr/>
        </p:nvSpPr>
        <p:spPr>
          <a:xfrm>
            <a:off x="1508760" y="1783080"/>
            <a:ext cx="4129888" cy="310896"/>
          </a:xfrm>
          <a:prstGeom prst="rect">
            <a:avLst/>
          </a:prstGeom>
          <a:noFill/>
          <a:ln/>
        </p:spPr>
        <p:txBody>
          <a:bodyPr wrap="square" lIns="0" tIns="0" rIns="0" bIns="0" rtlCol="0" anchor="ctr"/>
          <a:lstStyle/>
          <a:p>
            <a:pPr indent="0" marL="0">
              <a:buNone/>
            </a:pPr>
            <a:r>
              <a:rPr lang="en-US" sz="1450" b="1" dirty="0">
                <a:solidFill>
                  <a:srgbClr val="FFFFFF"/>
                </a:solidFill>
                <a:latin typeface="Meiryo" pitchFamily="34" charset="0"/>
                <a:ea typeface="Meiryo" pitchFamily="34" charset="-122"/>
                <a:cs typeface="Meiryo" pitchFamily="34" charset="-120"/>
              </a:rPr>
              <a:t>IP の権利帰属と契約形態</a:t>
            </a:r>
            <a:endParaRPr lang="en-US" sz="1450" dirty="0"/>
          </a:p>
        </p:txBody>
      </p:sp>
      <p:sp>
        <p:nvSpPr>
          <p:cNvPr id="8" name="Text 6"/>
          <p:cNvSpPr txBox="1"/>
          <p:nvPr/>
        </p:nvSpPr>
        <p:spPr>
          <a:xfrm>
            <a:off x="1508760" y="2103120"/>
            <a:ext cx="4129888" cy="274320"/>
          </a:xfrm>
          <a:prstGeom prst="rect">
            <a:avLst/>
          </a:prstGeom>
          <a:noFill/>
          <a:ln/>
        </p:spPr>
        <p:txBody>
          <a:bodyPr wrap="square" lIns="0" tIns="0" rIns="0" bIns="0" rtlCol="0" anchor="ctr"/>
          <a:lstStyle/>
          <a:p>
            <a:pPr indent="0" marL="0">
              <a:buNone/>
            </a:pPr>
            <a:r>
              <a:rPr lang="en-US" sz="1100" dirty="0">
                <a:solidFill>
                  <a:srgbClr val="CADCFC"/>
                </a:solidFill>
                <a:latin typeface="Meiryo" pitchFamily="34" charset="0"/>
                <a:ea typeface="Meiryo" pitchFamily="34" charset="-122"/>
                <a:cs typeface="Meiryo" pitchFamily="34" charset="-120"/>
              </a:rPr>
              <a:t>会社の事業か、個人の資産か</a:t>
            </a:r>
            <a:endParaRPr lang="en-US" sz="1100" dirty="0"/>
          </a:p>
        </p:txBody>
      </p:sp>
      <p:sp>
        <p:nvSpPr>
          <p:cNvPr id="9" name="Text 7"/>
          <p:cNvSpPr txBox="1"/>
          <p:nvPr/>
        </p:nvSpPr>
        <p:spPr>
          <a:xfrm>
            <a:off x="1508760" y="2350008"/>
            <a:ext cx="4129888" cy="237744"/>
          </a:xfrm>
          <a:prstGeom prst="rect">
            <a:avLst/>
          </a:prstGeom>
          <a:noFill/>
          <a:ln/>
        </p:spPr>
        <p:txBody>
          <a:bodyPr wrap="square" lIns="0" tIns="0" rIns="0" bIns="0" rtlCol="0" anchor="ctr"/>
          <a:lstStyle/>
          <a:p>
            <a:pPr indent="0" marL="0">
              <a:buNone/>
            </a:pPr>
            <a:r>
              <a:rPr lang="en-US" sz="1050" b="1" dirty="0">
                <a:solidFill>
                  <a:srgbClr val="FFD479"/>
                </a:solidFill>
                <a:latin typeface="Meiryo" pitchFamily="34" charset="0"/>
                <a:ea typeface="Meiryo" pitchFamily="34" charset="-122"/>
                <a:cs typeface="Meiryo" pitchFamily="34" charset="-120"/>
              </a:rPr>
              <a:t>着手前・必須</a:t>
            </a:r>
            <a:endParaRPr lang="en-US" sz="1050" dirty="0"/>
          </a:p>
        </p:txBody>
      </p:sp>
      <p:sp>
        <p:nvSpPr>
          <p:cNvPr id="10" name="Shape 8"/>
          <p:cNvSpPr/>
          <p:nvPr/>
        </p:nvSpPr>
        <p:spPr>
          <a:xfrm>
            <a:off x="6233008" y="1600200"/>
            <a:ext cx="5318608" cy="1024128"/>
          </a:xfrm>
          <a:prstGeom prst="roundRect">
            <a:avLst>
              <a:gd name="adj" fmla="val 5357"/>
            </a:avLst>
          </a:prstGeom>
          <a:solidFill>
            <a:srgbClr val="25253F"/>
          </a:solidFill>
          <a:ln/>
        </p:spPr>
      </p:sp>
      <p:sp>
        <p:nvSpPr>
          <p:cNvPr id="11" name="Text 9"/>
          <p:cNvSpPr txBox="1"/>
          <p:nvPr/>
        </p:nvSpPr>
        <p:spPr>
          <a:xfrm>
            <a:off x="6507328" y="1874520"/>
            <a:ext cx="457200" cy="457200"/>
          </a:xfrm>
          <a:prstGeom prst="rect">
            <a:avLst/>
          </a:prstGeom>
          <a:noFill/>
          <a:ln/>
        </p:spPr>
        <p:txBody>
          <a:bodyPr wrap="square" lIns="0" tIns="0" rIns="0" bIns="0" rtlCol="0" anchor="ctr"/>
          <a:lstStyle/>
          <a:p>
            <a:pPr indent="0" marL="0">
              <a:buNone/>
            </a:pPr>
            <a:r>
              <a:rPr lang="en-US" sz="2400" b="1" dirty="0">
                <a:solidFill>
                  <a:srgbClr val="FFD479"/>
                </a:solidFill>
                <a:latin typeface="Meiryo" pitchFamily="34" charset="0"/>
                <a:ea typeface="Meiryo" pitchFamily="34" charset="-122"/>
                <a:cs typeface="Meiryo" pitchFamily="34" charset="-120"/>
              </a:rPr>
              <a:t>2</a:t>
            </a:r>
            <a:endParaRPr lang="en-US" sz="2400" dirty="0"/>
          </a:p>
        </p:txBody>
      </p:sp>
      <p:sp>
        <p:nvSpPr>
          <p:cNvPr id="12" name="Text 10"/>
          <p:cNvSpPr txBox="1"/>
          <p:nvPr/>
        </p:nvSpPr>
        <p:spPr>
          <a:xfrm>
            <a:off x="7101688" y="1783080"/>
            <a:ext cx="4129888" cy="310896"/>
          </a:xfrm>
          <a:prstGeom prst="rect">
            <a:avLst/>
          </a:prstGeom>
          <a:noFill/>
          <a:ln/>
        </p:spPr>
        <p:txBody>
          <a:bodyPr wrap="square" lIns="0" tIns="0" rIns="0" bIns="0" rtlCol="0" anchor="ctr"/>
          <a:lstStyle/>
          <a:p>
            <a:pPr indent="0" marL="0">
              <a:buNone/>
            </a:pPr>
            <a:r>
              <a:rPr lang="en-US" sz="1450" b="1" dirty="0">
                <a:solidFill>
                  <a:srgbClr val="FFFFFF"/>
                </a:solidFill>
                <a:latin typeface="Meiryo" pitchFamily="34" charset="0"/>
                <a:ea typeface="Meiryo" pitchFamily="34" charset="-122"/>
                <a:cs typeface="Meiryo" pitchFamily="34" charset="-120"/>
              </a:rPr>
              <a:t>Phase 1(検証)の実施可否</a:t>
            </a:r>
            <a:endParaRPr lang="en-US" sz="1450" dirty="0"/>
          </a:p>
        </p:txBody>
      </p:sp>
      <p:sp>
        <p:nvSpPr>
          <p:cNvPr id="13" name="Text 11"/>
          <p:cNvSpPr txBox="1"/>
          <p:nvPr/>
        </p:nvSpPr>
        <p:spPr>
          <a:xfrm>
            <a:off x="7101688" y="2103120"/>
            <a:ext cx="4129888" cy="274320"/>
          </a:xfrm>
          <a:prstGeom prst="rect">
            <a:avLst/>
          </a:prstGeom>
          <a:noFill/>
          <a:ln/>
        </p:spPr>
        <p:txBody>
          <a:bodyPr wrap="square" lIns="0" tIns="0" rIns="0" bIns="0" rtlCol="0" anchor="ctr"/>
          <a:lstStyle/>
          <a:p>
            <a:pPr indent="0" marL="0">
              <a:buNone/>
            </a:pPr>
            <a:r>
              <a:rPr lang="en-US" sz="1100" dirty="0">
                <a:solidFill>
                  <a:srgbClr val="CADCFC"/>
                </a:solidFill>
                <a:latin typeface="Meiryo" pitchFamily="34" charset="0"/>
                <a:ea typeface="Meiryo" pitchFamily="34" charset="-122"/>
                <a:cs typeface="Meiryo" pitchFamily="34" charset="-120"/>
              </a:rPr>
              <a:t>1 か月・追加費用はほぼ発生しない</a:t>
            </a:r>
            <a:endParaRPr lang="en-US" sz="1100" dirty="0"/>
          </a:p>
        </p:txBody>
      </p:sp>
      <p:sp>
        <p:nvSpPr>
          <p:cNvPr id="14" name="Text 12"/>
          <p:cNvSpPr txBox="1"/>
          <p:nvPr/>
        </p:nvSpPr>
        <p:spPr>
          <a:xfrm>
            <a:off x="7101688" y="2350008"/>
            <a:ext cx="4129888" cy="237744"/>
          </a:xfrm>
          <a:prstGeom prst="rect">
            <a:avLst/>
          </a:prstGeom>
          <a:noFill/>
          <a:ln/>
        </p:spPr>
        <p:txBody>
          <a:bodyPr wrap="square" lIns="0" tIns="0" rIns="0" bIns="0" rtlCol="0" anchor="ctr"/>
          <a:lstStyle/>
          <a:p>
            <a:pPr indent="0" marL="0">
              <a:buNone/>
            </a:pPr>
            <a:r>
              <a:rPr lang="en-US" sz="1050" b="1" dirty="0">
                <a:solidFill>
                  <a:srgbClr val="FFD479"/>
                </a:solidFill>
                <a:latin typeface="Meiryo" pitchFamily="34" charset="0"/>
                <a:ea typeface="Meiryo" pitchFamily="34" charset="-122"/>
                <a:cs typeface="Meiryo" pitchFamily="34" charset="-120"/>
              </a:rPr>
              <a:t>直近</a:t>
            </a:r>
            <a:endParaRPr lang="en-US" sz="1050" dirty="0"/>
          </a:p>
        </p:txBody>
      </p:sp>
      <p:sp>
        <p:nvSpPr>
          <p:cNvPr id="15" name="Shape 13"/>
          <p:cNvSpPr/>
          <p:nvPr/>
        </p:nvSpPr>
        <p:spPr>
          <a:xfrm>
            <a:off x="640080" y="2807208"/>
            <a:ext cx="5318608" cy="1024128"/>
          </a:xfrm>
          <a:prstGeom prst="roundRect">
            <a:avLst>
              <a:gd name="adj" fmla="val 5357"/>
            </a:avLst>
          </a:prstGeom>
          <a:solidFill>
            <a:srgbClr val="25253F"/>
          </a:solidFill>
          <a:ln/>
        </p:spPr>
      </p:sp>
      <p:sp>
        <p:nvSpPr>
          <p:cNvPr id="16" name="Text 14"/>
          <p:cNvSpPr txBox="1"/>
          <p:nvPr/>
        </p:nvSpPr>
        <p:spPr>
          <a:xfrm>
            <a:off x="914400" y="3081528"/>
            <a:ext cx="457200" cy="457200"/>
          </a:xfrm>
          <a:prstGeom prst="rect">
            <a:avLst/>
          </a:prstGeom>
          <a:noFill/>
          <a:ln/>
        </p:spPr>
        <p:txBody>
          <a:bodyPr wrap="square" lIns="0" tIns="0" rIns="0" bIns="0" rtlCol="0" anchor="ctr"/>
          <a:lstStyle/>
          <a:p>
            <a:pPr indent="0" marL="0">
              <a:buNone/>
            </a:pPr>
            <a:r>
              <a:rPr lang="en-US" sz="2400" b="1" dirty="0">
                <a:solidFill>
                  <a:srgbClr val="CADCFC"/>
                </a:solidFill>
                <a:latin typeface="Meiryo" pitchFamily="34" charset="0"/>
                <a:ea typeface="Meiryo" pitchFamily="34" charset="-122"/>
                <a:cs typeface="Meiryo" pitchFamily="34" charset="-120"/>
              </a:rPr>
              <a:t>3</a:t>
            </a:r>
            <a:endParaRPr lang="en-US" sz="2400" dirty="0"/>
          </a:p>
        </p:txBody>
      </p:sp>
      <p:sp>
        <p:nvSpPr>
          <p:cNvPr id="17" name="Text 15"/>
          <p:cNvSpPr txBox="1"/>
          <p:nvPr/>
        </p:nvSpPr>
        <p:spPr>
          <a:xfrm>
            <a:off x="1508760" y="2990088"/>
            <a:ext cx="4129888" cy="310896"/>
          </a:xfrm>
          <a:prstGeom prst="rect">
            <a:avLst/>
          </a:prstGeom>
          <a:noFill/>
          <a:ln/>
        </p:spPr>
        <p:txBody>
          <a:bodyPr wrap="square" lIns="0" tIns="0" rIns="0" bIns="0" rtlCol="0" anchor="ctr"/>
          <a:lstStyle/>
          <a:p>
            <a:pPr indent="0" marL="0">
              <a:buNone/>
            </a:pPr>
            <a:r>
              <a:rPr lang="en-US" sz="1450" b="1" dirty="0">
                <a:solidFill>
                  <a:srgbClr val="FFFFFF"/>
                </a:solidFill>
                <a:latin typeface="Meiryo" pitchFamily="34" charset="0"/>
                <a:ea typeface="Meiryo" pitchFamily="34" charset="-122"/>
                <a:cs typeface="Meiryo" pitchFamily="34" charset="-120"/>
              </a:rPr>
              <a:t>実費の負担元</a:t>
            </a:r>
            <a:endParaRPr lang="en-US" sz="1450" dirty="0"/>
          </a:p>
        </p:txBody>
      </p:sp>
      <p:sp>
        <p:nvSpPr>
          <p:cNvPr id="18" name="Text 16"/>
          <p:cNvSpPr txBox="1"/>
          <p:nvPr/>
        </p:nvSpPr>
        <p:spPr>
          <a:xfrm>
            <a:off x="1508760" y="3310128"/>
            <a:ext cx="4129888" cy="274320"/>
          </a:xfrm>
          <a:prstGeom prst="rect">
            <a:avLst/>
          </a:prstGeom>
          <a:noFill/>
          <a:ln/>
        </p:spPr>
        <p:txBody>
          <a:bodyPr wrap="square" lIns="0" tIns="0" rIns="0" bIns="0" rtlCol="0" anchor="ctr"/>
          <a:lstStyle/>
          <a:p>
            <a:pPr indent="0" marL="0">
              <a:buNone/>
            </a:pPr>
            <a:r>
              <a:rPr lang="en-US" sz="1100" dirty="0">
                <a:solidFill>
                  <a:srgbClr val="CADCFC"/>
                </a:solidFill>
                <a:latin typeface="Meiryo" pitchFamily="34" charset="0"/>
                <a:ea typeface="Meiryo" pitchFamily="34" charset="-122"/>
                <a:cs typeface="Meiryo" pitchFamily="34" charset="-120"/>
              </a:rPr>
              <a:t>数万円〜十数万円を会社負担とするか</a:t>
            </a:r>
            <a:endParaRPr lang="en-US" sz="1100" dirty="0"/>
          </a:p>
        </p:txBody>
      </p:sp>
      <p:sp>
        <p:nvSpPr>
          <p:cNvPr id="19" name="Text 17"/>
          <p:cNvSpPr txBox="1"/>
          <p:nvPr/>
        </p:nvSpPr>
        <p:spPr>
          <a:xfrm>
            <a:off x="1508760" y="3557016"/>
            <a:ext cx="4129888" cy="237744"/>
          </a:xfrm>
          <a:prstGeom prst="rect">
            <a:avLst/>
          </a:prstGeom>
          <a:noFill/>
          <a:ln/>
        </p:spPr>
        <p:txBody>
          <a:bodyPr wrap="square" lIns="0" tIns="0" rIns="0" bIns="0" rtlCol="0" anchor="ctr"/>
          <a:lstStyle/>
          <a:p>
            <a:pPr indent="0" marL="0">
              <a:buNone/>
            </a:pPr>
            <a:r>
              <a:rPr lang="en-US" sz="1050" b="1" dirty="0">
                <a:solidFill>
                  <a:srgbClr val="CADCFC"/>
                </a:solidFill>
                <a:latin typeface="Meiryo" pitchFamily="34" charset="0"/>
                <a:ea typeface="Meiryo" pitchFamily="34" charset="-122"/>
                <a:cs typeface="Meiryo" pitchFamily="34" charset="-120"/>
              </a:rPr>
              <a:t>Phase 2 まで</a:t>
            </a:r>
            <a:endParaRPr lang="en-US" sz="1050" dirty="0"/>
          </a:p>
        </p:txBody>
      </p:sp>
      <p:sp>
        <p:nvSpPr>
          <p:cNvPr id="20" name="Shape 18"/>
          <p:cNvSpPr/>
          <p:nvPr/>
        </p:nvSpPr>
        <p:spPr>
          <a:xfrm>
            <a:off x="6233008" y="2807208"/>
            <a:ext cx="5318608" cy="1024128"/>
          </a:xfrm>
          <a:prstGeom prst="roundRect">
            <a:avLst>
              <a:gd name="adj" fmla="val 5357"/>
            </a:avLst>
          </a:prstGeom>
          <a:solidFill>
            <a:srgbClr val="25253F"/>
          </a:solidFill>
          <a:ln/>
        </p:spPr>
      </p:sp>
      <p:sp>
        <p:nvSpPr>
          <p:cNvPr id="21" name="Text 19"/>
          <p:cNvSpPr txBox="1"/>
          <p:nvPr/>
        </p:nvSpPr>
        <p:spPr>
          <a:xfrm>
            <a:off x="6507328" y="3081528"/>
            <a:ext cx="457200" cy="457200"/>
          </a:xfrm>
          <a:prstGeom prst="rect">
            <a:avLst/>
          </a:prstGeom>
          <a:noFill/>
          <a:ln/>
        </p:spPr>
        <p:txBody>
          <a:bodyPr wrap="square" lIns="0" tIns="0" rIns="0" bIns="0" rtlCol="0" anchor="ctr"/>
          <a:lstStyle/>
          <a:p>
            <a:pPr indent="0" marL="0">
              <a:buNone/>
            </a:pPr>
            <a:r>
              <a:rPr lang="en-US" sz="2400" b="1" dirty="0">
                <a:solidFill>
                  <a:srgbClr val="CADCFC"/>
                </a:solidFill>
                <a:latin typeface="Meiryo" pitchFamily="34" charset="0"/>
                <a:ea typeface="Meiryo" pitchFamily="34" charset="-122"/>
                <a:cs typeface="Meiryo" pitchFamily="34" charset="-120"/>
              </a:rPr>
              <a:t>4</a:t>
            </a:r>
            <a:endParaRPr lang="en-US" sz="2400" dirty="0"/>
          </a:p>
        </p:txBody>
      </p:sp>
      <p:sp>
        <p:nvSpPr>
          <p:cNvPr id="22" name="Text 20"/>
          <p:cNvSpPr txBox="1"/>
          <p:nvPr/>
        </p:nvSpPr>
        <p:spPr>
          <a:xfrm>
            <a:off x="7101688" y="2990088"/>
            <a:ext cx="4129888" cy="310896"/>
          </a:xfrm>
          <a:prstGeom prst="rect">
            <a:avLst/>
          </a:prstGeom>
          <a:noFill/>
          <a:ln/>
        </p:spPr>
        <p:txBody>
          <a:bodyPr wrap="square" lIns="0" tIns="0" rIns="0" bIns="0" rtlCol="0" anchor="ctr"/>
          <a:lstStyle/>
          <a:p>
            <a:pPr indent="0" marL="0">
              <a:buNone/>
            </a:pPr>
            <a:r>
              <a:rPr lang="en-US" sz="1450" b="1" dirty="0">
                <a:solidFill>
                  <a:srgbClr val="FFFFFF"/>
                </a:solidFill>
                <a:latin typeface="Meiryo" pitchFamily="34" charset="0"/>
                <a:ea typeface="Meiryo" pitchFamily="34" charset="-122"/>
                <a:cs typeface="Meiryo" pitchFamily="34" charset="-120"/>
              </a:rPr>
              <a:t>法務支援の窓口</a:t>
            </a:r>
            <a:endParaRPr lang="en-US" sz="1450" dirty="0"/>
          </a:p>
        </p:txBody>
      </p:sp>
      <p:sp>
        <p:nvSpPr>
          <p:cNvPr id="23" name="Text 21"/>
          <p:cNvSpPr txBox="1"/>
          <p:nvPr/>
        </p:nvSpPr>
        <p:spPr>
          <a:xfrm>
            <a:off x="7101688" y="3310128"/>
            <a:ext cx="4129888" cy="274320"/>
          </a:xfrm>
          <a:prstGeom prst="rect">
            <a:avLst/>
          </a:prstGeom>
          <a:noFill/>
          <a:ln/>
        </p:spPr>
        <p:txBody>
          <a:bodyPr wrap="square" lIns="0" tIns="0" rIns="0" bIns="0" rtlCol="0" anchor="ctr"/>
          <a:lstStyle/>
          <a:p>
            <a:pPr indent="0" marL="0">
              <a:buNone/>
            </a:pPr>
            <a:r>
              <a:rPr lang="en-US" sz="1100" dirty="0">
                <a:solidFill>
                  <a:srgbClr val="CADCFC"/>
                </a:solidFill>
                <a:latin typeface="Meiryo" pitchFamily="34" charset="0"/>
                <a:ea typeface="Meiryo" pitchFamily="34" charset="-122"/>
                <a:cs typeface="Meiryo" pitchFamily="34" charset="-120"/>
              </a:rPr>
              <a:t>商標調査・規約整備の相談先</a:t>
            </a:r>
            <a:endParaRPr lang="en-US" sz="1100" dirty="0"/>
          </a:p>
        </p:txBody>
      </p:sp>
      <p:sp>
        <p:nvSpPr>
          <p:cNvPr id="24" name="Text 22"/>
          <p:cNvSpPr txBox="1"/>
          <p:nvPr/>
        </p:nvSpPr>
        <p:spPr>
          <a:xfrm>
            <a:off x="7101688" y="3557016"/>
            <a:ext cx="4129888" cy="237744"/>
          </a:xfrm>
          <a:prstGeom prst="rect">
            <a:avLst/>
          </a:prstGeom>
          <a:noFill/>
          <a:ln/>
        </p:spPr>
        <p:txBody>
          <a:bodyPr wrap="square" lIns="0" tIns="0" rIns="0" bIns="0" rtlCol="0" anchor="ctr"/>
          <a:lstStyle/>
          <a:p>
            <a:pPr indent="0" marL="0">
              <a:buNone/>
            </a:pPr>
            <a:r>
              <a:rPr lang="en-US" sz="1050" b="1" dirty="0">
                <a:solidFill>
                  <a:srgbClr val="CADCFC"/>
                </a:solidFill>
                <a:latin typeface="Meiryo" pitchFamily="34" charset="0"/>
                <a:ea typeface="Meiryo" pitchFamily="34" charset="-122"/>
                <a:cs typeface="Meiryo" pitchFamily="34" charset="-120"/>
              </a:rPr>
              <a:t>Phase 2 まで</a:t>
            </a:r>
            <a:endParaRPr lang="en-US" sz="1050" dirty="0"/>
          </a:p>
        </p:txBody>
      </p:sp>
      <p:sp>
        <p:nvSpPr>
          <p:cNvPr id="25" name="Shape 23"/>
          <p:cNvSpPr/>
          <p:nvPr/>
        </p:nvSpPr>
        <p:spPr>
          <a:xfrm>
            <a:off x="640080" y="4014216"/>
            <a:ext cx="5318608" cy="1024128"/>
          </a:xfrm>
          <a:prstGeom prst="roundRect">
            <a:avLst>
              <a:gd name="adj" fmla="val 5357"/>
            </a:avLst>
          </a:prstGeom>
          <a:solidFill>
            <a:srgbClr val="25253F"/>
          </a:solidFill>
          <a:ln/>
        </p:spPr>
      </p:sp>
      <p:sp>
        <p:nvSpPr>
          <p:cNvPr id="26" name="Text 24"/>
          <p:cNvSpPr txBox="1"/>
          <p:nvPr/>
        </p:nvSpPr>
        <p:spPr>
          <a:xfrm>
            <a:off x="914400" y="4288536"/>
            <a:ext cx="457200" cy="457200"/>
          </a:xfrm>
          <a:prstGeom prst="rect">
            <a:avLst/>
          </a:prstGeom>
          <a:noFill/>
          <a:ln/>
        </p:spPr>
        <p:txBody>
          <a:bodyPr wrap="square" lIns="0" tIns="0" rIns="0" bIns="0" rtlCol="0" anchor="ctr"/>
          <a:lstStyle/>
          <a:p>
            <a:pPr indent="0" marL="0">
              <a:buNone/>
            </a:pPr>
            <a:r>
              <a:rPr lang="en-US" sz="2400" b="1" dirty="0">
                <a:solidFill>
                  <a:srgbClr val="CADCFC"/>
                </a:solidFill>
                <a:latin typeface="Meiryo" pitchFamily="34" charset="0"/>
                <a:ea typeface="Meiryo" pitchFamily="34" charset="-122"/>
                <a:cs typeface="Meiryo" pitchFamily="34" charset="-120"/>
              </a:rPr>
              <a:t>5</a:t>
            </a:r>
            <a:endParaRPr lang="en-US" sz="2400" dirty="0"/>
          </a:p>
        </p:txBody>
      </p:sp>
      <p:sp>
        <p:nvSpPr>
          <p:cNvPr id="27" name="Text 25"/>
          <p:cNvSpPr txBox="1"/>
          <p:nvPr/>
        </p:nvSpPr>
        <p:spPr>
          <a:xfrm>
            <a:off x="1508760" y="4197096"/>
            <a:ext cx="4129888" cy="310896"/>
          </a:xfrm>
          <a:prstGeom prst="rect">
            <a:avLst/>
          </a:prstGeom>
          <a:noFill/>
          <a:ln/>
        </p:spPr>
        <p:txBody>
          <a:bodyPr wrap="square" lIns="0" tIns="0" rIns="0" bIns="0" rtlCol="0" anchor="ctr"/>
          <a:lstStyle/>
          <a:p>
            <a:pPr indent="0" marL="0">
              <a:buNone/>
            </a:pPr>
            <a:r>
              <a:rPr lang="en-US" sz="1450" b="1" dirty="0">
                <a:solidFill>
                  <a:srgbClr val="FFFFFF"/>
                </a:solidFill>
                <a:latin typeface="Meiryo" pitchFamily="34" charset="0"/>
                <a:ea typeface="Meiryo" pitchFamily="34" charset="-122"/>
                <a:cs typeface="Meiryo" pitchFamily="34" charset="-120"/>
              </a:rPr>
              <a:t>プラットフォームの方針</a:t>
            </a:r>
            <a:endParaRPr lang="en-US" sz="1450" dirty="0"/>
          </a:p>
        </p:txBody>
      </p:sp>
      <p:sp>
        <p:nvSpPr>
          <p:cNvPr id="28" name="Text 26"/>
          <p:cNvSpPr txBox="1"/>
          <p:nvPr/>
        </p:nvSpPr>
        <p:spPr>
          <a:xfrm>
            <a:off x="1508760" y="4517136"/>
            <a:ext cx="4129888" cy="274320"/>
          </a:xfrm>
          <a:prstGeom prst="rect">
            <a:avLst/>
          </a:prstGeom>
          <a:noFill/>
          <a:ln/>
        </p:spPr>
        <p:txBody>
          <a:bodyPr wrap="square" lIns="0" tIns="0" rIns="0" bIns="0" rtlCol="0" anchor="ctr"/>
          <a:lstStyle/>
          <a:p>
            <a:pPr indent="0" marL="0">
              <a:buNone/>
            </a:pPr>
            <a:r>
              <a:rPr lang="en-US" sz="1100" dirty="0">
                <a:solidFill>
                  <a:srgbClr val="CADCFC"/>
                </a:solidFill>
                <a:latin typeface="Meiryo" pitchFamily="34" charset="0"/>
                <a:ea typeface="Meiryo" pitchFamily="34" charset="-122"/>
                <a:cs typeface="Meiryo" pitchFamily="34" charset="-120"/>
              </a:rPr>
              <a:t>Steam 買い切りを本命としてよいか</a:t>
            </a:r>
            <a:endParaRPr lang="en-US" sz="1100" dirty="0"/>
          </a:p>
        </p:txBody>
      </p:sp>
      <p:sp>
        <p:nvSpPr>
          <p:cNvPr id="29" name="Text 27"/>
          <p:cNvSpPr txBox="1"/>
          <p:nvPr/>
        </p:nvSpPr>
        <p:spPr>
          <a:xfrm>
            <a:off x="1508760" y="4764024"/>
            <a:ext cx="4129888" cy="237744"/>
          </a:xfrm>
          <a:prstGeom prst="rect">
            <a:avLst/>
          </a:prstGeom>
          <a:noFill/>
          <a:ln/>
        </p:spPr>
        <p:txBody>
          <a:bodyPr wrap="square" lIns="0" tIns="0" rIns="0" bIns="0" rtlCol="0" anchor="ctr"/>
          <a:lstStyle/>
          <a:p>
            <a:pPr indent="0" marL="0">
              <a:buNone/>
            </a:pPr>
            <a:r>
              <a:rPr lang="en-US" sz="1050" b="1" dirty="0">
                <a:solidFill>
                  <a:srgbClr val="CADCFC"/>
                </a:solidFill>
                <a:latin typeface="Meiryo" pitchFamily="34" charset="0"/>
                <a:ea typeface="Meiryo" pitchFamily="34" charset="-122"/>
                <a:cs typeface="Meiryo" pitchFamily="34" charset="-120"/>
              </a:rPr>
              <a:t>Phase 2 まで</a:t>
            </a:r>
            <a:endParaRPr lang="en-US" sz="1050" dirty="0"/>
          </a:p>
        </p:txBody>
      </p:sp>
      <p:sp>
        <p:nvSpPr>
          <p:cNvPr id="30" name="Shape 28"/>
          <p:cNvSpPr/>
          <p:nvPr/>
        </p:nvSpPr>
        <p:spPr>
          <a:xfrm>
            <a:off x="6233008" y="4014216"/>
            <a:ext cx="5318608" cy="1024128"/>
          </a:xfrm>
          <a:prstGeom prst="roundRect">
            <a:avLst>
              <a:gd name="adj" fmla="val 5357"/>
            </a:avLst>
          </a:prstGeom>
          <a:solidFill>
            <a:srgbClr val="25253F"/>
          </a:solidFill>
          <a:ln/>
        </p:spPr>
      </p:sp>
      <p:sp>
        <p:nvSpPr>
          <p:cNvPr id="31" name="Text 29"/>
          <p:cNvSpPr txBox="1"/>
          <p:nvPr/>
        </p:nvSpPr>
        <p:spPr>
          <a:xfrm>
            <a:off x="6507328" y="4288536"/>
            <a:ext cx="457200" cy="457200"/>
          </a:xfrm>
          <a:prstGeom prst="rect">
            <a:avLst/>
          </a:prstGeom>
          <a:noFill/>
          <a:ln/>
        </p:spPr>
        <p:txBody>
          <a:bodyPr wrap="square" lIns="0" tIns="0" rIns="0" bIns="0" rtlCol="0" anchor="ctr"/>
          <a:lstStyle/>
          <a:p>
            <a:pPr indent="0" marL="0">
              <a:buNone/>
            </a:pPr>
            <a:r>
              <a:rPr lang="en-US" sz="2400" b="1" dirty="0">
                <a:solidFill>
                  <a:srgbClr val="CADCFC"/>
                </a:solidFill>
                <a:latin typeface="Meiryo" pitchFamily="34" charset="0"/>
                <a:ea typeface="Meiryo" pitchFamily="34" charset="-122"/>
                <a:cs typeface="Meiryo" pitchFamily="34" charset="-120"/>
              </a:rPr>
              <a:t>6</a:t>
            </a:r>
            <a:endParaRPr lang="en-US" sz="2400" dirty="0"/>
          </a:p>
        </p:txBody>
      </p:sp>
      <p:sp>
        <p:nvSpPr>
          <p:cNvPr id="32" name="Text 30"/>
          <p:cNvSpPr txBox="1"/>
          <p:nvPr/>
        </p:nvSpPr>
        <p:spPr>
          <a:xfrm>
            <a:off x="7101688" y="4197096"/>
            <a:ext cx="4129888" cy="310896"/>
          </a:xfrm>
          <a:prstGeom prst="rect">
            <a:avLst/>
          </a:prstGeom>
          <a:noFill/>
          <a:ln/>
        </p:spPr>
        <p:txBody>
          <a:bodyPr wrap="square" lIns="0" tIns="0" rIns="0" bIns="0" rtlCol="0" anchor="ctr"/>
          <a:lstStyle/>
          <a:p>
            <a:pPr indent="0" marL="0">
              <a:buNone/>
            </a:pPr>
            <a:r>
              <a:rPr lang="en-US" sz="1450" b="1" dirty="0">
                <a:solidFill>
                  <a:srgbClr val="FFFFFF"/>
                </a:solidFill>
                <a:latin typeface="Meiryo" pitchFamily="34" charset="0"/>
                <a:ea typeface="Meiryo" pitchFamily="34" charset="-122"/>
                <a:cs typeface="Meiryo" pitchFamily="34" charset="-120"/>
              </a:rPr>
              <a:t>販促の支援可否</a:t>
            </a:r>
            <a:endParaRPr lang="en-US" sz="1450" dirty="0"/>
          </a:p>
        </p:txBody>
      </p:sp>
      <p:sp>
        <p:nvSpPr>
          <p:cNvPr id="33" name="Text 31"/>
          <p:cNvSpPr txBox="1"/>
          <p:nvPr/>
        </p:nvSpPr>
        <p:spPr>
          <a:xfrm>
            <a:off x="7101688" y="4517136"/>
            <a:ext cx="4129888" cy="274320"/>
          </a:xfrm>
          <a:prstGeom prst="rect">
            <a:avLst/>
          </a:prstGeom>
          <a:noFill/>
          <a:ln/>
        </p:spPr>
        <p:txBody>
          <a:bodyPr wrap="square" lIns="0" tIns="0" rIns="0" bIns="0" rtlCol="0" anchor="ctr"/>
          <a:lstStyle/>
          <a:p>
            <a:pPr indent="0" marL="0">
              <a:buNone/>
            </a:pPr>
            <a:r>
              <a:rPr lang="en-US" sz="1100" dirty="0">
                <a:solidFill>
                  <a:srgbClr val="CADCFC"/>
                </a:solidFill>
                <a:latin typeface="Meiryo" pitchFamily="34" charset="0"/>
                <a:ea typeface="Meiryo" pitchFamily="34" charset="-122"/>
                <a:cs typeface="Meiryo" pitchFamily="34" charset="-120"/>
              </a:rPr>
              <a:t>会社の広報チャネルを使えるか</a:t>
            </a:r>
            <a:endParaRPr lang="en-US" sz="1100" dirty="0"/>
          </a:p>
        </p:txBody>
      </p:sp>
      <p:sp>
        <p:nvSpPr>
          <p:cNvPr id="34" name="Text 32"/>
          <p:cNvSpPr txBox="1"/>
          <p:nvPr/>
        </p:nvSpPr>
        <p:spPr>
          <a:xfrm>
            <a:off x="7101688" y="4764024"/>
            <a:ext cx="4129888" cy="237744"/>
          </a:xfrm>
          <a:prstGeom prst="rect">
            <a:avLst/>
          </a:prstGeom>
          <a:noFill/>
          <a:ln/>
        </p:spPr>
        <p:txBody>
          <a:bodyPr wrap="square" lIns="0" tIns="0" rIns="0" bIns="0" rtlCol="0" anchor="ctr"/>
          <a:lstStyle/>
          <a:p>
            <a:pPr indent="0" marL="0">
              <a:buNone/>
            </a:pPr>
            <a:r>
              <a:rPr lang="en-US" sz="1050" b="1" dirty="0">
                <a:solidFill>
                  <a:srgbClr val="CADCFC"/>
                </a:solidFill>
                <a:latin typeface="Meiryo" pitchFamily="34" charset="0"/>
                <a:ea typeface="Meiryo" pitchFamily="34" charset="-122"/>
                <a:cs typeface="Meiryo" pitchFamily="34" charset="-120"/>
              </a:rPr>
              <a:t>Phase 4 まで</a:t>
            </a:r>
            <a:endParaRPr lang="en-US" sz="1050" dirty="0"/>
          </a:p>
        </p:txBody>
      </p:sp>
      <p:sp>
        <p:nvSpPr>
          <p:cNvPr id="35" name="Text 33"/>
          <p:cNvSpPr txBox="1"/>
          <p:nvPr/>
        </p:nvSpPr>
        <p:spPr>
          <a:xfrm>
            <a:off x="640080" y="5394960"/>
            <a:ext cx="10911535" cy="457200"/>
          </a:xfrm>
          <a:prstGeom prst="rect">
            <a:avLst/>
          </a:prstGeom>
          <a:noFill/>
          <a:ln/>
        </p:spPr>
        <p:txBody>
          <a:bodyPr wrap="square" lIns="0" tIns="0" rIns="0" bIns="0" rtlCol="0" anchor="ctr"/>
          <a:lstStyle/>
          <a:p>
            <a:pPr indent="0" marL="0">
              <a:lnSpc>
                <a:spcPts val="1600"/>
              </a:lnSpc>
              <a:buNone/>
            </a:pPr>
            <a:r>
              <a:rPr lang="en-US" sz="1100" dirty="0">
                <a:solidFill>
                  <a:srgbClr val="CADCFC"/>
                </a:solidFill>
                <a:latin typeface="Meiryo" pitchFamily="34" charset="0"/>
                <a:ea typeface="Meiryo" pitchFamily="34" charset="-122"/>
                <a:cs typeface="Meiryo" pitchFamily="34" charset="-120"/>
              </a:rPr>
              <a:t>※ アート/サウンドの外注は行わず内製で進めること、開発体制は現行の個人体制を継続することは決定済みのため、判断事項には含めていません。</a:t>
            </a:r>
            <a:endParaRPr lang="en-US" sz="1100" dirty="0"/>
          </a:p>
        </p:txBody>
      </p:sp>
      <p:sp>
        <p:nvSpPr>
          <p:cNvPr id="36" name="Shape 34"/>
          <p:cNvSpPr/>
          <p:nvPr/>
        </p:nvSpPr>
        <p:spPr>
          <a:xfrm>
            <a:off x="640080" y="5989320"/>
            <a:ext cx="2926080" cy="0"/>
          </a:xfrm>
          <a:prstGeom prst="line">
            <a:avLst/>
          </a:prstGeom>
          <a:noFill/>
          <a:ln w="25400">
            <a:solidFill>
              <a:srgbClr val="FFD479"/>
            </a:solidFill>
            <a:prstDash val="solid"/>
          </a:ln>
        </p:spPr>
      </p:sp>
      <p:sp>
        <p:nvSpPr>
          <p:cNvPr id="37" name="Text 35"/>
          <p:cNvSpPr txBox="1"/>
          <p:nvPr/>
        </p:nvSpPr>
        <p:spPr>
          <a:xfrm>
            <a:off x="640080" y="6144768"/>
            <a:ext cx="7315200" cy="292608"/>
          </a:xfrm>
          <a:prstGeom prst="rect">
            <a:avLst/>
          </a:prstGeom>
          <a:noFill/>
          <a:ln/>
        </p:spPr>
        <p:txBody>
          <a:bodyPr wrap="square" lIns="0" tIns="0" rIns="0" bIns="0" rtlCol="0" anchor="ctr"/>
          <a:lstStyle/>
          <a:p>
            <a:pPr indent="0" marL="0">
              <a:buNone/>
            </a:pPr>
            <a:r>
              <a:rPr lang="en-US" sz="1150" dirty="0">
                <a:solidFill>
                  <a:srgbClr val="CADCFC"/>
                </a:solidFill>
                <a:latin typeface="Meiryo" pitchFamily="34" charset="0"/>
                <a:ea typeface="Meiryo" pitchFamily="34" charset="-122"/>
                <a:cs typeface="Meiryo" pitchFamily="34" charset="-120"/>
              </a:rPr>
              <a:t>詳細は docs/CommercialProposal.md に記載</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商用化企画書: グリッドウォーズ(仮題)</dc:title>
  <dc:subject>PptxGenJS Presentation</dc:subject>
  <dc:creator>グリッドウォーズ開発</dc:creator>
  <cp:lastModifiedBy>グリッドウォーズ開発</cp:lastModifiedBy>
  <cp:revision>1</cp:revision>
  <dcterms:created xsi:type="dcterms:W3CDTF">2026-09-10T04:41:42Z</dcterms:created>
  <dcterms:modified xsi:type="dcterms:W3CDTF">2026-09-10T04:41:42Z</dcterms:modified>
</cp:coreProperties>
</file>